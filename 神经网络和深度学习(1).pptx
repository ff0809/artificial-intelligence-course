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257" r:id="rId3"/>
    <p:sldId id="263" r:id="rId4"/>
    <p:sldId id="264" r:id="rId5"/>
    <p:sldId id="265" r:id="rId6"/>
    <p:sldId id="266" r:id="rId7"/>
    <p:sldId id="267" r:id="rId8"/>
    <p:sldId id="268" r:id="rId9"/>
    <p:sldId id="269" r:id="rId10"/>
    <p:sldId id="270" r:id="rId11"/>
    <p:sldId id="276" r:id="rId12"/>
    <p:sldId id="271" r:id="rId13"/>
    <p:sldId id="277" r:id="rId14"/>
    <p:sldId id="278" r:id="rId15"/>
    <p:sldId id="279" r:id="rId16"/>
    <p:sldId id="280" r:id="rId17"/>
    <p:sldId id="274" r:id="rId18"/>
    <p:sldId id="281" r:id="rId19"/>
    <p:sldId id="282" r:id="rId20"/>
    <p:sldId id="283" r:id="rId21"/>
    <p:sldId id="284" r:id="rId22"/>
    <p:sldId id="285" r:id="rId23"/>
    <p:sldId id="333" r:id="rId24"/>
    <p:sldId id="334" r:id="rId25"/>
    <p:sldId id="33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3" r:id="rId43"/>
    <p:sldId id="307" r:id="rId44"/>
    <p:sldId id="308" r:id="rId45"/>
    <p:sldId id="304" r:id="rId46"/>
    <p:sldId id="305" r:id="rId47"/>
    <p:sldId id="306" r:id="rId48"/>
    <p:sldId id="309" r:id="rId49"/>
    <p:sldId id="310" r:id="rId50"/>
    <p:sldId id="312" r:id="rId51"/>
    <p:sldId id="313" r:id="rId52"/>
    <p:sldId id="314" r:id="rId53"/>
    <p:sldId id="320" r:id="rId54"/>
    <p:sldId id="316" r:id="rId55"/>
    <p:sldId id="317" r:id="rId56"/>
    <p:sldId id="318" r:id="rId57"/>
    <p:sldId id="319" r:id="rId58"/>
    <p:sldId id="321" r:id="rId59"/>
    <p:sldId id="322" r:id="rId60"/>
    <p:sldId id="323" r:id="rId61"/>
    <p:sldId id="324" r:id="rId62"/>
    <p:sldId id="325" r:id="rId63"/>
    <p:sldId id="326" r:id="rId64"/>
    <p:sldId id="327" r:id="rId65"/>
    <p:sldId id="328" r:id="rId66"/>
    <p:sldId id="329" r:id="rId67"/>
    <p:sldId id="330" r:id="rId68"/>
    <p:sldId id="331" r:id="rId69"/>
    <p:sldId id="332" r:id="rId70"/>
    <p:sldId id="336" r:id="rId71"/>
    <p:sldId id="337"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1" r:id="rId85"/>
    <p:sldId id="352" r:id="rId86"/>
    <p:sldId id="353" r:id="rId87"/>
    <p:sldId id="350" r:id="rId8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F8A"/>
    <a:srgbClr val="9EC4E6"/>
    <a:srgbClr val="12AE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1" autoAdjust="0"/>
    <p:restoredTop sz="94660"/>
  </p:normalViewPr>
  <p:slideViewPr>
    <p:cSldViewPr snapToGrid="0">
      <p:cViewPr varScale="1">
        <p:scale>
          <a:sx n="94" d="100"/>
          <a:sy n="94" d="100"/>
        </p:scale>
        <p:origin x="69"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2382F1-A9D4-4525-8890-36D35B8A38B3}" type="datetimeFigureOut">
              <a:rPr lang="zh-CN" altLang="en-US" smtClean="0"/>
              <a:t>2024/11/13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C5B927-5C33-4D4B-AF56-747014F33053}" type="slidenum">
              <a:rPr lang="zh-CN" altLang="en-US" smtClean="0"/>
              <a:t>‹#›</a:t>
            </a:fld>
            <a:endParaRPr lang="zh-CN" altLang="en-US"/>
          </a:p>
        </p:txBody>
      </p:sp>
    </p:spTree>
    <p:extLst>
      <p:ext uri="{BB962C8B-B14F-4D97-AF65-F5344CB8AC3E}">
        <p14:creationId xmlns:p14="http://schemas.microsoft.com/office/powerpoint/2010/main" val="1591002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zhida.zhihu.com/search?content_id=172430449&amp;content_type=Article&amp;match_order=1&amp;q=%E7%A5%9E%E7%BB%8F%E7%BD%91%E7%BB%9C&amp;zhida_source=entity"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zhida.zhihu.com/search?content_id=172430449&amp;content_type=Article&amp;match_order=1&amp;q=%E9%BA%A6%E5%8D%A1%E6%B4%9B%E5%85%8B&amp;zhida_source=entity"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extLst>
      <p:ext uri="{BB962C8B-B14F-4D97-AF65-F5344CB8AC3E}">
        <p14:creationId xmlns:p14="http://schemas.microsoft.com/office/powerpoint/2010/main" val="913248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追溯</a:t>
            </a:r>
            <a:r>
              <a:rPr lang="zh-CN" altLang="en-US" b="0" i="0" u="none" strike="noStrike" dirty="0">
                <a:solidFill>
                  <a:srgbClr val="09408E"/>
                </a:solidFill>
                <a:effectLst/>
                <a:latin typeface="-apple-system"/>
                <a:hlinkClick r:id="rId3"/>
              </a:rPr>
              <a:t>神经网络</a:t>
            </a:r>
            <a:r>
              <a:rPr lang="zh-CN" altLang="en-US" b="0" i="0" dirty="0">
                <a:solidFill>
                  <a:srgbClr val="191B1F"/>
                </a:solidFill>
                <a:effectLst/>
                <a:latin typeface="-apple-system"/>
              </a:rPr>
              <a:t>的发展历史，其起源于上个世纪四十年代。</a:t>
            </a:r>
            <a:r>
              <a:rPr lang="en-US" altLang="zh-CN" b="0" i="0" dirty="0">
                <a:solidFill>
                  <a:srgbClr val="191B1F"/>
                </a:solidFill>
                <a:effectLst/>
                <a:latin typeface="-apple-system"/>
              </a:rPr>
              <a:t>1943</a:t>
            </a:r>
            <a:r>
              <a:rPr lang="zh-CN" altLang="en-US" b="0" i="0" dirty="0">
                <a:solidFill>
                  <a:srgbClr val="191B1F"/>
                </a:solidFill>
                <a:effectLst/>
                <a:latin typeface="-apple-system"/>
              </a:rPr>
              <a:t>年时神经科学家</a:t>
            </a:r>
            <a:r>
              <a:rPr lang="zh-CN" altLang="en-US" b="0" i="0" u="none" strike="noStrike" dirty="0">
                <a:solidFill>
                  <a:srgbClr val="09408E"/>
                </a:solidFill>
                <a:effectLst/>
                <a:latin typeface="-apple-system"/>
                <a:hlinkClick r:id="rId4"/>
              </a:rPr>
              <a:t>麦卡洛克</a:t>
            </a:r>
            <a:r>
              <a:rPr lang="zh-CN" altLang="en-US" b="0" i="0" dirty="0">
                <a:solidFill>
                  <a:srgbClr val="191B1F"/>
                </a:solidFill>
                <a:effectLst/>
                <a:latin typeface="-apple-system"/>
              </a:rPr>
              <a:t>和数学家皮兹发表论文</a:t>
            </a:r>
            <a:r>
              <a:rPr lang="en-US" altLang="zh-CN" b="0" i="0" dirty="0">
                <a:solidFill>
                  <a:srgbClr val="191B1F"/>
                </a:solidFill>
                <a:effectLst/>
                <a:latin typeface="-apple-system"/>
              </a:rPr>
              <a:t>《</a:t>
            </a:r>
            <a:r>
              <a:rPr lang="en" altLang="zh-CN" b="1" dirty="0">
                <a:solidFill>
                  <a:schemeClr val="bg1"/>
                </a:solidFill>
                <a:effectLst/>
                <a:latin typeface="Helvetica" pitchFamily="2" charset="0"/>
              </a:rPr>
              <a:t>A Logical Calculus of Ideas</a:t>
            </a:r>
            <a:endParaRPr lang="en" altLang="zh-CN" dirty="0">
              <a:solidFill>
                <a:schemeClr val="bg1"/>
              </a:solidFill>
              <a:effectLst/>
              <a:latin typeface="Helvetica" pitchFamily="2" charset="0"/>
            </a:endParaRPr>
          </a:p>
          <a:p>
            <a:r>
              <a:rPr lang="en" altLang="zh-CN" b="1" dirty="0">
                <a:solidFill>
                  <a:schemeClr val="bg1"/>
                </a:solidFill>
                <a:effectLst/>
                <a:latin typeface="Helvetica" pitchFamily="2" charset="0"/>
              </a:rPr>
              <a:t>Immanent in Nervous Activity</a:t>
            </a:r>
            <a:r>
              <a:rPr lang="en-US" altLang="zh-CN" b="0" i="0" dirty="0">
                <a:solidFill>
                  <a:srgbClr val="191B1F"/>
                </a:solidFill>
                <a:effectLst/>
                <a:latin typeface="-apple-system"/>
              </a:rPr>
              <a:t>》</a:t>
            </a:r>
            <a:r>
              <a:rPr lang="zh-CN" altLang="en-US" b="0" i="0" dirty="0">
                <a:solidFill>
                  <a:srgbClr val="191B1F"/>
                </a:solidFill>
                <a:effectLst/>
                <a:latin typeface="-apple-system"/>
              </a:rPr>
              <a:t>，文中提出了</a:t>
            </a:r>
            <a:r>
              <a:rPr lang="en" altLang="zh-CN" b="1" i="0" dirty="0">
                <a:solidFill>
                  <a:srgbClr val="191B1F"/>
                </a:solidFill>
                <a:effectLst/>
                <a:latin typeface="-apple-system"/>
              </a:rPr>
              <a:t>MCP</a:t>
            </a:r>
            <a:r>
              <a:rPr lang="zh-CN" altLang="en-US" b="0" i="0" dirty="0">
                <a:solidFill>
                  <a:srgbClr val="191B1F"/>
                </a:solidFill>
                <a:effectLst/>
                <a:latin typeface="-apple-system"/>
              </a:rPr>
              <a:t>模型。</a:t>
            </a:r>
            <a:r>
              <a:rPr lang="zh-CN" altLang="en-US" b="0" i="0" dirty="0">
                <a:solidFill>
                  <a:srgbClr val="4D4D4D"/>
                </a:solidFill>
                <a:effectLst/>
                <a:latin typeface="-apple-system"/>
              </a:rPr>
              <a:t>该模型借鉴了已知的神经细胞生物过程原理，是第一个神经元数学模型，是人类历史上第一次对大脑工作原理描述的尝试。</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BECAD24E-5C70-4824-866B-1ABE088C7297}" type="slidenum">
              <a:rPr lang="zh-CN" altLang="en-US" smtClean="0"/>
              <a:t>3</a:t>
            </a:fld>
            <a:endParaRPr lang="zh-CN" altLang="en-US"/>
          </a:p>
        </p:txBody>
      </p:sp>
    </p:spTree>
    <p:extLst>
      <p:ext uri="{BB962C8B-B14F-4D97-AF65-F5344CB8AC3E}">
        <p14:creationId xmlns:p14="http://schemas.microsoft.com/office/powerpoint/2010/main" val="2501141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感知机也被称为第一代神经网络，人工神经网络发展第一阶段至此结束。</a:t>
            </a:r>
          </a:p>
          <a:p>
            <a:endParaRPr kumimoji="1" lang="zh-CN" altLang="en-US" dirty="0"/>
          </a:p>
        </p:txBody>
      </p:sp>
      <p:sp>
        <p:nvSpPr>
          <p:cNvPr id="4" name="灯片编号占位符 3"/>
          <p:cNvSpPr>
            <a:spLocks noGrp="1"/>
          </p:cNvSpPr>
          <p:nvPr>
            <p:ph type="sldNum" sz="quarter" idx="5"/>
          </p:nvPr>
        </p:nvSpPr>
        <p:spPr/>
        <p:txBody>
          <a:bodyPr/>
          <a:lstStyle/>
          <a:p>
            <a:fld id="{BECAD24E-5C70-4824-866B-1ABE088C7297}" type="slidenum">
              <a:rPr lang="zh-CN" altLang="en-US" smtClean="0"/>
              <a:t>5</a:t>
            </a:fld>
            <a:endParaRPr lang="zh-CN" altLang="en-US"/>
          </a:p>
        </p:txBody>
      </p:sp>
    </p:spTree>
    <p:extLst>
      <p:ext uri="{BB962C8B-B14F-4D97-AF65-F5344CB8AC3E}">
        <p14:creationId xmlns:p14="http://schemas.microsoft.com/office/powerpoint/2010/main" val="1646922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多层感知机也被称为第二代神经网络。</a:t>
            </a:r>
            <a:r>
              <a:rPr lang="zh-CN" altLang="en-US" b="0" i="0" dirty="0">
                <a:solidFill>
                  <a:srgbClr val="191B1F"/>
                </a:solidFill>
                <a:effectLst/>
                <a:latin typeface="-apple-system"/>
              </a:rPr>
              <a:t>至此，神经网络度过了第二阶段。并一直沉寂下去直到</a:t>
            </a:r>
            <a:r>
              <a:rPr lang="en-US" altLang="zh-CN" b="0" i="0" dirty="0">
                <a:solidFill>
                  <a:srgbClr val="191B1F"/>
                </a:solidFill>
                <a:effectLst/>
                <a:latin typeface="-apple-system"/>
              </a:rPr>
              <a:t>21</a:t>
            </a:r>
            <a:r>
              <a:rPr lang="zh-CN" altLang="en-US" b="0" i="0" dirty="0">
                <a:solidFill>
                  <a:srgbClr val="191B1F"/>
                </a:solidFill>
                <a:effectLst/>
                <a:latin typeface="-apple-system"/>
              </a:rPr>
              <a:t>世纪第一个十年才逐渐再崭露头角。</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BECAD24E-5C70-4824-866B-1ABE088C7297}" type="slidenum">
              <a:rPr lang="zh-CN" altLang="en-US" smtClean="0"/>
              <a:t>7</a:t>
            </a:fld>
            <a:endParaRPr lang="zh-CN" altLang="en-US"/>
          </a:p>
        </p:txBody>
      </p:sp>
    </p:spTree>
    <p:extLst>
      <p:ext uri="{BB962C8B-B14F-4D97-AF65-F5344CB8AC3E}">
        <p14:creationId xmlns:p14="http://schemas.microsoft.com/office/powerpoint/2010/main" val="4166840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从次，我们进入了神经网络的第三个发展阶段，也就来到了第三代神经网络。</a:t>
            </a:r>
          </a:p>
          <a:p>
            <a:endParaRPr kumimoji="1" lang="zh-CN" altLang="en-US" dirty="0"/>
          </a:p>
        </p:txBody>
      </p:sp>
      <p:sp>
        <p:nvSpPr>
          <p:cNvPr id="4" name="灯片编号占位符 3"/>
          <p:cNvSpPr>
            <a:spLocks noGrp="1"/>
          </p:cNvSpPr>
          <p:nvPr>
            <p:ph type="sldNum" sz="quarter" idx="5"/>
          </p:nvPr>
        </p:nvSpPr>
        <p:spPr/>
        <p:txBody>
          <a:bodyPr/>
          <a:lstStyle/>
          <a:p>
            <a:fld id="{BECAD24E-5C70-4824-866B-1ABE088C7297}" type="slidenum">
              <a:rPr lang="zh-CN" altLang="en-US" smtClean="0"/>
              <a:t>8</a:t>
            </a:fld>
            <a:endParaRPr lang="zh-CN" altLang="en-US"/>
          </a:p>
        </p:txBody>
      </p:sp>
    </p:spTree>
    <p:extLst>
      <p:ext uri="{BB962C8B-B14F-4D97-AF65-F5344CB8AC3E}">
        <p14:creationId xmlns:p14="http://schemas.microsoft.com/office/powerpoint/2010/main" val="192398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代表性的第三代神经网络。</a:t>
            </a:r>
            <a:r>
              <a:rPr lang="zh-CN" altLang="en-US" b="0" i="0" dirty="0">
                <a:solidFill>
                  <a:srgbClr val="191B1F"/>
                </a:solidFill>
                <a:effectLst/>
                <a:latin typeface="-apple-system"/>
              </a:rPr>
              <a:t>深度学习在其第三阶段中蓬勃发展，并且这一阶段正在继续。</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BECAD24E-5C70-4824-866B-1ABE088C7297}" type="slidenum">
              <a:rPr lang="zh-CN" altLang="en-US" smtClean="0"/>
              <a:t>9</a:t>
            </a:fld>
            <a:endParaRPr lang="zh-CN" altLang="en-US"/>
          </a:p>
        </p:txBody>
      </p:sp>
    </p:spTree>
    <p:extLst>
      <p:ext uri="{BB962C8B-B14F-4D97-AF65-F5344CB8AC3E}">
        <p14:creationId xmlns:p14="http://schemas.microsoft.com/office/powerpoint/2010/main" val="458547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宋体" pitchFamily="2" charset="-122"/>
                <a:sym typeface="Arial" pitchFamily="34" charset="0"/>
              </a:rPr>
              <a:t>通过迭代地处理一组训练样本，将每个样本的网络预测与实际指导的类标号比较，进行学习。对于每个训练样本，修改权，使得网络预测和实际类之间的均方误差最小。这种修改“后向”进行。即由输出层，经由每个隐藏层，到第一个隐藏层。一般地，权将最终收敛，学习过程停止</a:t>
            </a:r>
            <a:r>
              <a:rPr lang="zh-CN" altLang="en-US" sz="1000" b="1" dirty="0">
                <a:latin typeface="宋体" pitchFamily="2" charset="-122"/>
                <a:sym typeface="Arial" pitchFamily="34" charset="0"/>
              </a:rPr>
              <a:t>。</a:t>
            </a:r>
          </a:p>
          <a:p>
            <a:endParaRPr lang="zh-CN" altLang="en-US" dirty="0"/>
          </a:p>
        </p:txBody>
      </p:sp>
      <p:sp>
        <p:nvSpPr>
          <p:cNvPr id="4" name="灯片编号占位符 3"/>
          <p:cNvSpPr>
            <a:spLocks noGrp="1"/>
          </p:cNvSpPr>
          <p:nvPr>
            <p:ph type="sldNum" sz="quarter" idx="10"/>
          </p:nvPr>
        </p:nvSpPr>
        <p:spPr/>
        <p:txBody>
          <a:bodyPr/>
          <a:lstStyle/>
          <a:p>
            <a:fld id="{561C9D13-1015-4291-8D2E-5B16E647CA25}" type="slidenum">
              <a:rPr lang="zh-CN" altLang="en-US" smtClean="0"/>
              <a:pPr/>
              <a:t>27</a:t>
            </a:fld>
            <a:endParaRPr lang="zh-CN" altLang="en-US"/>
          </a:p>
        </p:txBody>
      </p:sp>
    </p:spTree>
    <p:extLst>
      <p:ext uri="{BB962C8B-B14F-4D97-AF65-F5344CB8AC3E}">
        <p14:creationId xmlns:p14="http://schemas.microsoft.com/office/powerpoint/2010/main" val="4061854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321163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2383316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889311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3892195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411475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3568117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1003488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152361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244164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3867361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A397191-EB80-4371-BC18-215071B9ECDA}" type="datetimeFigureOut">
              <a:rPr lang="zh-CN" altLang="en-US" smtClean="0"/>
              <a:t>2024/11/13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2547031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1F4E79"/>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42596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1F4E79"/>
                </a:solidFill>
                <a:latin typeface="微软雅黑"/>
                <a:cs typeface="微软雅黑"/>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0314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397191-EB80-4371-BC18-215071B9ECDA}" type="datetimeFigureOut">
              <a:rPr lang="zh-CN" altLang="en-US" smtClean="0"/>
              <a:t>2024/11/13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99F8C8-B7C2-4862-A8E7-2DBA9681BBF7}" type="slidenum">
              <a:rPr lang="zh-CN" altLang="en-US" smtClean="0"/>
              <a:t>‹#›</a:t>
            </a:fld>
            <a:endParaRPr lang="zh-CN" altLang="en-US"/>
          </a:p>
        </p:txBody>
      </p:sp>
    </p:spTree>
    <p:extLst>
      <p:ext uri="{BB962C8B-B14F-4D97-AF65-F5344CB8AC3E}">
        <p14:creationId xmlns:p14="http://schemas.microsoft.com/office/powerpoint/2010/main" val="502979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21.pn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34.png"/><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50.jpg"/><Relationship Id="rId1" Type="http://schemas.openxmlformats.org/officeDocument/2006/relationships/slideLayout" Target="../slideLayouts/slideLayout2.xml"/><Relationship Id="rId4" Type="http://schemas.openxmlformats.org/officeDocument/2006/relationships/image" Target="../media/image52.jpg"/></Relationships>
</file>

<file path=ppt/slides/_rels/slide38.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image" Target="../media/image68.jp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72.jp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90.png"/><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6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81.png"/><Relationship Id="rId1" Type="http://schemas.openxmlformats.org/officeDocument/2006/relationships/slideLayout" Target="../slideLayouts/slideLayout12.xml"/><Relationship Id="rId4" Type="http://schemas.openxmlformats.org/officeDocument/2006/relationships/image" Target="../media/image98.png"/></Relationships>
</file>

<file path=ppt/slides/_rels/slide6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82.jp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jpg"/><Relationship Id="rId1" Type="http://schemas.openxmlformats.org/officeDocument/2006/relationships/slideLayout" Target="../slideLayouts/slideLayout12.xml"/><Relationship Id="rId5" Type="http://schemas.openxmlformats.org/officeDocument/2006/relationships/image" Target="../media/image86.png"/><Relationship Id="rId4" Type="http://schemas.openxmlformats.org/officeDocument/2006/relationships/image" Target="../media/image85.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90.jpg"/><Relationship Id="rId2" Type="http://schemas.openxmlformats.org/officeDocument/2006/relationships/image" Target="../media/image89.jp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2.jp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 Id="rId5" Type="http://schemas.openxmlformats.org/officeDocument/2006/relationships/image" Target="../media/image97.jpg"/><Relationship Id="rId4" Type="http://schemas.openxmlformats.org/officeDocument/2006/relationships/image" Target="../media/image96.jpg"/></Relationships>
</file>

<file path=ppt/slides/_rels/slide78.xml.rels><?xml version="1.0" encoding="UTF-8" standalone="yes"?>
<Relationships xmlns="http://schemas.openxmlformats.org/package/2006/relationships"><Relationship Id="rId3" Type="http://schemas.openxmlformats.org/officeDocument/2006/relationships/image" Target="../media/image99.jpg"/><Relationship Id="rId2" Type="http://schemas.openxmlformats.org/officeDocument/2006/relationships/image" Target="../media/image98.jpg"/><Relationship Id="rId1" Type="http://schemas.openxmlformats.org/officeDocument/2006/relationships/slideLayout" Target="../slideLayouts/slideLayout12.xml"/><Relationship Id="rId5" Type="http://schemas.openxmlformats.org/officeDocument/2006/relationships/image" Target="../media/image103.png"/><Relationship Id="rId4" Type="http://schemas.openxmlformats.org/officeDocument/2006/relationships/image" Target="../media/image102.png"/></Relationships>
</file>

<file path=ppt/slides/_rels/slide7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0.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image" Target="../media/image107.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09.png"/><Relationship Id="rId1" Type="http://schemas.openxmlformats.org/officeDocument/2006/relationships/slideLayout" Target="../slideLayouts/slideLayout12.xml"/><Relationship Id="rId4" Type="http://schemas.openxmlformats.org/officeDocument/2006/relationships/image" Target="../media/image113.png"/></Relationships>
</file>

<file path=ppt/slides/_rels/slide8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0.png"/><Relationship Id="rId1" Type="http://schemas.openxmlformats.org/officeDocument/2006/relationships/slideLayout" Target="../slideLayouts/slideLayout12.xml"/><Relationship Id="rId4" Type="http://schemas.openxmlformats.org/officeDocument/2006/relationships/image" Target="../media/image113.png"/></Relationships>
</file>

<file path=ppt/slides/_rels/slide8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1.jp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221671" y="2179434"/>
            <a:ext cx="7748658" cy="2397279"/>
            <a:chOff x="2221671" y="2179434"/>
            <a:chExt cx="7748658" cy="2397279"/>
          </a:xfrm>
        </p:grpSpPr>
        <p:sp>
          <p:nvSpPr>
            <p:cNvPr id="5"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6"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7" name="直接连接符 6"/>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sp>
        <p:nvSpPr>
          <p:cNvPr id="11" name="矩形 10"/>
          <p:cNvSpPr/>
          <p:nvPr/>
        </p:nvSpPr>
        <p:spPr>
          <a:xfrm>
            <a:off x="3234370" y="2298811"/>
            <a:ext cx="5262979" cy="2123658"/>
          </a:xfrm>
          <a:prstGeom prst="rect">
            <a:avLst/>
          </a:prstGeom>
        </p:spPr>
        <p:txBody>
          <a:bodyPr wrap="none">
            <a:spAutoFit/>
          </a:bodyPr>
          <a:lstStyle/>
          <a:p>
            <a:pPr algn="ctr">
              <a:lnSpc>
                <a:spcPct val="150000"/>
              </a:lnSpc>
            </a:pPr>
            <a:r>
              <a:rPr lang="zh-CN" altLang="en-US" sz="4400" b="1" dirty="0" smtClean="0">
                <a:latin typeface="华文中宋" panose="02010600040101010101" pitchFamily="2" charset="-122"/>
                <a:ea typeface="华文中宋" panose="02010600040101010101" pitchFamily="2" charset="-122"/>
              </a:rPr>
              <a:t>模式识别</a:t>
            </a:r>
            <a:endParaRPr lang="en-US" altLang="zh-CN" sz="4400" b="1" dirty="0" smtClean="0">
              <a:latin typeface="华文中宋" panose="02010600040101010101" pitchFamily="2" charset="-122"/>
              <a:ea typeface="华文中宋" panose="02010600040101010101" pitchFamily="2" charset="-122"/>
            </a:endParaRPr>
          </a:p>
          <a:p>
            <a:pPr algn="ctr">
              <a:lnSpc>
                <a:spcPct val="150000"/>
              </a:lnSpc>
            </a:pPr>
            <a:r>
              <a:rPr lang="zh-CN" altLang="en-US" sz="4400" dirty="0" smtClean="0">
                <a:latin typeface="华文中宋" panose="02010600040101010101" pitchFamily="2" charset="-122"/>
                <a:ea typeface="华文中宋" panose="02010600040101010101" pitchFamily="2" charset="-122"/>
              </a:rPr>
              <a:t>神经网络</a:t>
            </a:r>
            <a:r>
              <a:rPr lang="zh-CN" altLang="en-US" sz="4400" dirty="0">
                <a:latin typeface="华文中宋" panose="02010600040101010101" pitchFamily="2" charset="-122"/>
                <a:ea typeface="华文中宋" panose="02010600040101010101" pitchFamily="2" charset="-122"/>
              </a:rPr>
              <a:t>与深度学习</a:t>
            </a:r>
            <a:endParaRPr lang="zh-CN" altLang="zh-CN" sz="44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667492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006680" y="1638547"/>
            <a:ext cx="6533560" cy="4093428"/>
          </a:xfrm>
          <a:prstGeom prst="rect">
            <a:avLst/>
          </a:prstGeom>
          <a:noFill/>
        </p:spPr>
        <p:txBody>
          <a:bodyPr wrap="square" rtlCol="0">
            <a:spAutoFit/>
          </a:bodyPr>
          <a:lstStyle/>
          <a:p>
            <a:pPr>
              <a:lnSpc>
                <a:spcPct val="200000"/>
              </a:lnSpc>
            </a:pPr>
            <a:r>
              <a:rPr lang="zh-CN" altLang="en-US" sz="2600" b="1" dirty="0" smtClean="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一、神经网络和深度学习</a:t>
            </a:r>
            <a:endParaRPr lang="en-US" altLang="zh-CN" sz="2600" b="1" dirty="0" smtClean="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200000"/>
              </a:lnSpc>
            </a:pPr>
            <a:r>
              <a:rPr lang="zh-CN" altLang="en-US" sz="2600" b="1" dirty="0" smtClean="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、卷积神经网络</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三、循环神经网络</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四、注意力机制与正则化</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五、自然语言和计算机视觉应用</a:t>
            </a:r>
          </a:p>
        </p:txBody>
      </p:sp>
    </p:spTree>
    <p:extLst>
      <p:ext uri="{BB962C8B-B14F-4D97-AF65-F5344CB8AC3E}">
        <p14:creationId xmlns:p14="http://schemas.microsoft.com/office/powerpoint/2010/main" val="31318544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15AE79-B9C2-8C55-E45F-5EE62173C22B}"/>
              </a:ext>
            </a:extLst>
          </p:cNvPr>
          <p:cNvSpPr>
            <a:spLocks noGrp="1"/>
          </p:cNvSpPr>
          <p:nvPr>
            <p:ph type="title"/>
          </p:nvPr>
        </p:nvSpPr>
        <p:spPr>
          <a:xfrm>
            <a:off x="1191343" y="116498"/>
            <a:ext cx="6551888" cy="1052229"/>
          </a:xfrm>
        </p:spPr>
        <p:txBody>
          <a:bodyPr>
            <a:normAutofit/>
          </a:bodyPr>
          <a:lstStyle/>
          <a:p>
            <a:r>
              <a:rPr lang="zh-CN" altLang="en-US" sz="3200" b="1" dirty="0" smtClean="0">
                <a:latin typeface="+mn-lt"/>
              </a:rPr>
              <a:t>人工神经网络和深度学习</a:t>
            </a:r>
            <a:r>
              <a:rPr lang="en-US" altLang="zh-CN" sz="3200" b="1" dirty="0" smtClean="0">
                <a:latin typeface="+mn-lt"/>
              </a:rPr>
              <a:t>---</a:t>
            </a:r>
            <a:r>
              <a:rPr lang="zh-CN" altLang="en-US" sz="3200" b="1" dirty="0" smtClean="0">
                <a:latin typeface="+mn-lt"/>
              </a:rPr>
              <a:t>发展</a:t>
            </a:r>
            <a:endParaRPr lang="zh-CN" altLang="en-US" sz="3200" b="1" dirty="0">
              <a:latin typeface="+mn-lt"/>
            </a:endParaRPr>
          </a:p>
        </p:txBody>
      </p:sp>
      <p:sp>
        <p:nvSpPr>
          <p:cNvPr id="6" name="矩形: 圆角 6">
            <a:extLst>
              <a:ext uri="{FF2B5EF4-FFF2-40B4-BE49-F238E27FC236}">
                <a16:creationId xmlns:a16="http://schemas.microsoft.com/office/drawing/2014/main" id="{683941F7-3477-969E-2494-E2C69D3ED4A0}"/>
              </a:ext>
            </a:extLst>
          </p:cNvPr>
          <p:cNvSpPr/>
          <p:nvPr/>
        </p:nvSpPr>
        <p:spPr>
          <a:xfrm>
            <a:off x="1324298" y="1014912"/>
            <a:ext cx="9517547" cy="3413398"/>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B9B2CF75-6BBA-968B-9662-C4539DAB052E}"/>
              </a:ext>
            </a:extLst>
          </p:cNvPr>
          <p:cNvSpPr/>
          <p:nvPr/>
        </p:nvSpPr>
        <p:spPr>
          <a:xfrm>
            <a:off x="1654764" y="1032905"/>
            <a:ext cx="4983480" cy="344709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1943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 神经科学家瓦伦</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麦卡洛克（</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Warren McCulloch</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和逻辑学家沃尔特</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皮茨（</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Walter Pitts</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）合作在</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数学生物物理期刊</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上发表了</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神经网络的开山之作</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 Logical Calculus of Ideas</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Immanent in Nervous Activity”,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提出了第一个神经元数学模型“</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McCulloch–Pitts</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MCP</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neuron</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，是人类历史上第一次对大脑工作原理描述的尝试。</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我们在科学史上第一次知道了我们是怎么知道的</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for the first time in the history of science, we know how we know)”</a:t>
            </a:r>
            <a:endPar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652E03E8-DA9F-A454-2E08-8A41A9C8DA0C}"/>
              </a:ext>
            </a:extLst>
          </p:cNvPr>
          <p:cNvSpPr/>
          <p:nvPr/>
        </p:nvSpPr>
        <p:spPr>
          <a:xfrm>
            <a:off x="7413054" y="5420145"/>
            <a:ext cx="1826141" cy="58477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神经网络基本单元</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MCP</a:t>
            </a: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神经元</a:t>
            </a:r>
            <a:endParaRPr lang="zh-CN" altLang="en-US" sz="1600" b="1" dirty="0">
              <a:solidFill>
                <a:srgbClr val="C00000"/>
              </a:solidFill>
            </a:endParaRPr>
          </a:p>
        </p:txBody>
      </p:sp>
      <p:pic>
        <p:nvPicPr>
          <p:cNvPr id="15" name="Picture 2">
            <a:extLst>
              <a:ext uri="{FF2B5EF4-FFF2-40B4-BE49-F238E27FC236}">
                <a16:creationId xmlns:a16="http://schemas.microsoft.com/office/drawing/2014/main" id="{95101B0E-08E4-DA7C-8F2F-CB179B57D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218" y="4700185"/>
            <a:ext cx="4806892" cy="2024696"/>
          </a:xfrm>
          <a:prstGeom prst="rect">
            <a:avLst/>
          </a:prstGeom>
          <a:solidFill>
            <a:schemeClr val="accent6"/>
          </a:solidFill>
        </p:spPr>
      </p:pic>
      <p:pic>
        <p:nvPicPr>
          <p:cNvPr id="16" name="图片 15">
            <a:extLst>
              <a:ext uri="{FF2B5EF4-FFF2-40B4-BE49-F238E27FC236}">
                <a16:creationId xmlns:a16="http://schemas.microsoft.com/office/drawing/2014/main" id="{27656E91-525F-E2FB-C021-DF15C23DD022}"/>
              </a:ext>
            </a:extLst>
          </p:cNvPr>
          <p:cNvPicPr>
            <a:picLocks noChangeAspect="1"/>
          </p:cNvPicPr>
          <p:nvPr/>
        </p:nvPicPr>
        <p:blipFill>
          <a:blip r:embed="rId4"/>
          <a:stretch>
            <a:fillRect/>
          </a:stretch>
        </p:blipFill>
        <p:spPr>
          <a:xfrm>
            <a:off x="7045962" y="1158236"/>
            <a:ext cx="3385193" cy="2746266"/>
          </a:xfrm>
          <a:prstGeom prst="rect">
            <a:avLst/>
          </a:prstGeom>
          <a:effectLst>
            <a:softEdge rad="241300"/>
          </a:effectLst>
        </p:spPr>
      </p:pic>
      <p:sp>
        <p:nvSpPr>
          <p:cNvPr id="17" name="文本框 14">
            <a:extLst>
              <a:ext uri="{FF2B5EF4-FFF2-40B4-BE49-F238E27FC236}">
                <a16:creationId xmlns:a16="http://schemas.microsoft.com/office/drawing/2014/main" id="{D08EC4EC-3557-97D1-03F9-1B46D4333144}"/>
              </a:ext>
            </a:extLst>
          </p:cNvPr>
          <p:cNvSpPr txBox="1"/>
          <p:nvPr/>
        </p:nvSpPr>
        <p:spPr>
          <a:xfrm>
            <a:off x="8205392" y="3786216"/>
            <a:ext cx="1658112"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麦卡洛克（</a:t>
            </a:r>
            <a:r>
              <a:rPr lang="en-US" altLang="zh-CN"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1898-1969</a:t>
            </a:r>
            <a:r>
              <a:rPr lang="zh-CN" altLang="en-US"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25577507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15AE79-B9C2-8C55-E45F-5EE62173C22B}"/>
              </a:ext>
            </a:extLst>
          </p:cNvPr>
          <p:cNvSpPr>
            <a:spLocks noGrp="1"/>
          </p:cNvSpPr>
          <p:nvPr>
            <p:ph type="title"/>
          </p:nvPr>
        </p:nvSpPr>
        <p:spPr>
          <a:xfrm>
            <a:off x="695960" y="365125"/>
            <a:ext cx="5953760" cy="899795"/>
          </a:xfrm>
        </p:spPr>
        <p:txBody>
          <a:bodyPr>
            <a:normAutofit fontScale="90000"/>
          </a:bodyPr>
          <a:lstStyle/>
          <a:p>
            <a:r>
              <a:rPr lang="zh-CN" altLang="en-US" sz="3200" b="1" dirty="0" smtClean="0">
                <a:latin typeface="+mn-lt"/>
              </a:rPr>
              <a:t>人工神经网络和深度学习</a:t>
            </a:r>
            <a:r>
              <a:rPr lang="en-US" altLang="zh-CN" sz="3200" b="1" dirty="0" smtClean="0">
                <a:latin typeface="+mn-lt"/>
              </a:rPr>
              <a:t>---</a:t>
            </a:r>
            <a:r>
              <a:rPr lang="zh-CN" altLang="en-US" sz="3200" b="1" dirty="0" smtClean="0">
                <a:latin typeface="+mn-lt"/>
              </a:rPr>
              <a:t>发展</a:t>
            </a:r>
            <a:endParaRPr lang="zh-CN" altLang="en-US" sz="3200" b="1" dirty="0">
              <a:latin typeface="+mn-lt"/>
            </a:endParaRPr>
          </a:p>
        </p:txBody>
      </p:sp>
      <p:sp>
        <p:nvSpPr>
          <p:cNvPr id="6" name="矩形: 圆角 6">
            <a:extLst>
              <a:ext uri="{FF2B5EF4-FFF2-40B4-BE49-F238E27FC236}">
                <a16:creationId xmlns:a16="http://schemas.microsoft.com/office/drawing/2014/main" id="{683941F7-3477-969E-2494-E2C69D3ED4A0}"/>
              </a:ext>
            </a:extLst>
          </p:cNvPr>
          <p:cNvSpPr/>
          <p:nvPr/>
        </p:nvSpPr>
        <p:spPr>
          <a:xfrm>
            <a:off x="612567" y="1335979"/>
            <a:ext cx="5071871" cy="4062104"/>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2A7EEE69-69C5-3C40-0CA4-1D972501D966}"/>
              </a:ext>
            </a:extLst>
          </p:cNvPr>
          <p:cNvSpPr/>
          <p:nvPr/>
        </p:nvSpPr>
        <p:spPr>
          <a:xfrm>
            <a:off x="986714" y="1490148"/>
            <a:ext cx="4078225" cy="4031873"/>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1949</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年，心理学家唐纳德</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赫布（</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Donald Hebb</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《The Organization of Behavior》</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中对神经元之间连接强度的变化进行了分析，</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提出了赫布理论</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(Hebbian theory</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神经元之间持续</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重复经验刺激</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可导致突触传递效能增加</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(Neurons that fire together, wire together)”</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。其主要思想是根据两个</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神经元的激发状态来调整连接关系</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，以此实现对简单神经活动的模拟。</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神经元之间突触的强弱变化是学习与记忆的生理学基础</a:t>
            </a:r>
            <a:endPar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37DD0F4F-DEB2-0908-7387-6D76690CAE64}"/>
              </a:ext>
            </a:extLst>
          </p:cNvPr>
          <p:cNvPicPr>
            <a:picLocks noChangeAspect="1"/>
          </p:cNvPicPr>
          <p:nvPr/>
        </p:nvPicPr>
        <p:blipFill>
          <a:blip r:embed="rId2"/>
          <a:stretch>
            <a:fillRect/>
          </a:stretch>
        </p:blipFill>
        <p:spPr>
          <a:xfrm>
            <a:off x="5913036" y="1543374"/>
            <a:ext cx="5666397" cy="3840349"/>
          </a:xfrm>
          <a:prstGeom prst="rect">
            <a:avLst/>
          </a:prstGeom>
        </p:spPr>
      </p:pic>
    </p:spTree>
    <p:extLst>
      <p:ext uri="{BB962C8B-B14F-4D97-AF65-F5344CB8AC3E}">
        <p14:creationId xmlns:p14="http://schemas.microsoft.com/office/powerpoint/2010/main" val="712074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6">
            <a:extLst>
              <a:ext uri="{FF2B5EF4-FFF2-40B4-BE49-F238E27FC236}">
                <a16:creationId xmlns:a16="http://schemas.microsoft.com/office/drawing/2014/main" id="{EF3B5706-527F-5F8F-DBDB-63C590241BDE}"/>
              </a:ext>
            </a:extLst>
          </p:cNvPr>
          <p:cNvSpPr/>
          <p:nvPr/>
        </p:nvSpPr>
        <p:spPr>
          <a:xfrm>
            <a:off x="575598" y="1163003"/>
            <a:ext cx="5965465" cy="3834263"/>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BB8259FB-88C4-A040-1FBE-072089D820FA}"/>
              </a:ext>
            </a:extLst>
          </p:cNvPr>
          <p:cNvSpPr/>
          <p:nvPr/>
        </p:nvSpPr>
        <p:spPr>
          <a:xfrm>
            <a:off x="804930" y="1187308"/>
            <a:ext cx="5627076" cy="378565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年代就职于</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Cornell</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航空实验室的弗朗克</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罗森布拉特（</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Frank Rosenblatt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感知机</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perceptron</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模型</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，其</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是一个仅包含输入层和输出层的两层神经网络</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，可完成</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两类</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问题的线性分类。</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感知机是人工神经网络的第一个实际应用，标志着神经网络进入了新的发展阶段</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1960</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年，斯坦福大学教授维德罗（</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Bernard Widrow</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）提出了</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Adaline</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可适应性算法。</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Adaline</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和感知机很相似，也是机器学习的鼻祖模型之一。</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Adaline</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网络和感知机的区别就是</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将感知机的</a:t>
            </a:r>
            <a:r>
              <a:rPr lang="e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Step</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函数换为</a:t>
            </a:r>
            <a:r>
              <a:rPr lang="e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Linear</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线性函数</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：感知机模型被誉为 </a:t>
            </a:r>
            <a:r>
              <a:rPr lang="en-US"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“Electronic 'Brain' Teaches Itself</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（能自学的电脑）”</a:t>
            </a:r>
          </a:p>
        </p:txBody>
      </p:sp>
      <p:pic>
        <p:nvPicPr>
          <p:cNvPr id="14" name="图片 13">
            <a:extLst>
              <a:ext uri="{FF2B5EF4-FFF2-40B4-BE49-F238E27FC236}">
                <a16:creationId xmlns:a16="http://schemas.microsoft.com/office/drawing/2014/main" id="{9DD8F7C1-7F01-17DF-32C5-96C55B7A93E6}"/>
              </a:ext>
            </a:extLst>
          </p:cNvPr>
          <p:cNvPicPr>
            <a:picLocks noChangeAspect="1"/>
          </p:cNvPicPr>
          <p:nvPr/>
        </p:nvPicPr>
        <p:blipFill>
          <a:blip r:embed="rId3"/>
          <a:stretch>
            <a:fillRect/>
          </a:stretch>
        </p:blipFill>
        <p:spPr>
          <a:xfrm>
            <a:off x="6857945" y="1163003"/>
            <a:ext cx="4758458" cy="3782875"/>
          </a:xfrm>
          <a:prstGeom prst="rect">
            <a:avLst/>
          </a:prstGeom>
        </p:spPr>
      </p:pic>
      <p:sp>
        <p:nvSpPr>
          <p:cNvPr id="15" name="矩形: 圆角 6">
            <a:extLst>
              <a:ext uri="{FF2B5EF4-FFF2-40B4-BE49-F238E27FC236}">
                <a16:creationId xmlns:a16="http://schemas.microsoft.com/office/drawing/2014/main" id="{49E60855-196E-59DC-0093-D15E0446C9DB}"/>
              </a:ext>
            </a:extLst>
          </p:cNvPr>
          <p:cNvSpPr/>
          <p:nvPr/>
        </p:nvSpPr>
        <p:spPr>
          <a:xfrm>
            <a:off x="771804" y="5301983"/>
            <a:ext cx="10316093" cy="947956"/>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文本框 16">
            <a:extLst>
              <a:ext uri="{FF2B5EF4-FFF2-40B4-BE49-F238E27FC236}">
                <a16:creationId xmlns:a16="http://schemas.microsoft.com/office/drawing/2014/main" id="{AEAFF906-DCC3-0E49-B398-0D935B9C0ECD}"/>
              </a:ext>
            </a:extLst>
          </p:cNvPr>
          <p:cNvSpPr txBox="1"/>
          <p:nvPr/>
        </p:nvSpPr>
        <p:spPr>
          <a:xfrm>
            <a:off x="771804" y="5479416"/>
            <a:ext cx="10399982" cy="61555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1969</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a:t>
            </a:r>
            <a:r>
              <a:rPr lang="e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Marvin Minsky </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 </a:t>
            </a:r>
            <a:r>
              <a:rPr lang="e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Seymour Papert </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从数学的角度证明了单层神经网络具有有限的功能，甚至在面对简单的“异或”逻辑问题时也显得无能为力。此后，</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神经网络的研究陷入了很长一段时间的低迷期</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 name="标题 1">
            <a:extLst>
              <a:ext uri="{FF2B5EF4-FFF2-40B4-BE49-F238E27FC236}">
                <a16:creationId xmlns:a16="http://schemas.microsoft.com/office/drawing/2014/main" id="{1815AE79-B9C2-8C55-E45F-5EE62173C22B}"/>
              </a:ext>
            </a:extLst>
          </p:cNvPr>
          <p:cNvSpPr>
            <a:spLocks noGrp="1"/>
          </p:cNvSpPr>
          <p:nvPr>
            <p:ph type="title"/>
          </p:nvPr>
        </p:nvSpPr>
        <p:spPr>
          <a:xfrm>
            <a:off x="695960" y="365125"/>
            <a:ext cx="5953760" cy="899795"/>
          </a:xfrm>
        </p:spPr>
        <p:txBody>
          <a:bodyPr>
            <a:normAutofit fontScale="90000"/>
          </a:bodyPr>
          <a:lstStyle/>
          <a:p>
            <a:r>
              <a:rPr lang="zh-CN" altLang="en-US" sz="3200" b="1" dirty="0" smtClean="0">
                <a:latin typeface="+mn-lt"/>
              </a:rPr>
              <a:t>人工神经网络和深度学习</a:t>
            </a:r>
            <a:r>
              <a:rPr lang="en-US" altLang="zh-CN" sz="3200" b="1" dirty="0" smtClean="0">
                <a:latin typeface="+mn-lt"/>
              </a:rPr>
              <a:t>---</a:t>
            </a:r>
            <a:r>
              <a:rPr lang="zh-CN" altLang="en-US" sz="3200" b="1" dirty="0" smtClean="0">
                <a:latin typeface="+mn-lt"/>
              </a:rPr>
              <a:t>发展</a:t>
            </a:r>
            <a:endParaRPr lang="zh-CN" altLang="en-US" sz="3200" b="1" dirty="0">
              <a:latin typeface="+mn-lt"/>
            </a:endParaRPr>
          </a:p>
        </p:txBody>
      </p:sp>
    </p:spTree>
    <p:extLst>
      <p:ext uri="{BB962C8B-B14F-4D97-AF65-F5344CB8AC3E}">
        <p14:creationId xmlns:p14="http://schemas.microsoft.com/office/powerpoint/2010/main" val="3526617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6">
            <a:extLst>
              <a:ext uri="{FF2B5EF4-FFF2-40B4-BE49-F238E27FC236}">
                <a16:creationId xmlns:a16="http://schemas.microsoft.com/office/drawing/2014/main" id="{683941F7-3477-969E-2494-E2C69D3ED4A0}"/>
              </a:ext>
            </a:extLst>
          </p:cNvPr>
          <p:cNvSpPr/>
          <p:nvPr/>
        </p:nvSpPr>
        <p:spPr>
          <a:xfrm>
            <a:off x="1068003" y="1301343"/>
            <a:ext cx="10055994" cy="4122756"/>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2A7EEE69-69C5-3C40-0CA4-1D972501D966}"/>
              </a:ext>
            </a:extLst>
          </p:cNvPr>
          <p:cNvSpPr/>
          <p:nvPr/>
        </p:nvSpPr>
        <p:spPr>
          <a:xfrm>
            <a:off x="1068003" y="1485623"/>
            <a:ext cx="6668576" cy="286232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1974</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年，哈佛大学的一篇博士论文证明了在神经网络多加一层，并且利用“后向传播”（</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back-propagation</a:t>
            </a:r>
            <a:r>
              <a:rPr lang="zh-CN" altLang="e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学习方法，</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可以解决</a:t>
            </a:r>
            <a:r>
              <a:rPr lang="zh-CN" altLang="e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异或</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问题</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。这篇论文的作者是沃波斯（</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Paul Werbos</a:t>
            </a:r>
            <a:r>
              <a:rPr lang="zh-CN" altLang="e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他后来得到了</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IEEE</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神经网络学会的先驱奖。</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神经网络在</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80</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年代的复兴</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归功于物理学家霍普菲尔德（</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John Hopfield</a:t>
            </a:r>
            <a:r>
              <a:rPr lang="zh-CN" altLang="e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1982</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年，那时在加州理工学院担任生物物理教授的霍普菲尔德，提出了一种新的神经网络，</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可以解决一大类模式识别问题，还可以给出一类组合优化问题的近似解</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。这种神经网络模型后来被称为霍普菲尔德网络。</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D6F09ADB-3E2B-66A8-E144-79D244120D0B}"/>
              </a:ext>
            </a:extLst>
          </p:cNvPr>
          <p:cNvPicPr>
            <a:picLocks noChangeAspect="1"/>
          </p:cNvPicPr>
          <p:nvPr/>
        </p:nvPicPr>
        <p:blipFill>
          <a:blip r:embed="rId2"/>
          <a:stretch>
            <a:fillRect/>
          </a:stretch>
        </p:blipFill>
        <p:spPr>
          <a:xfrm>
            <a:off x="7736579" y="1901027"/>
            <a:ext cx="3158792" cy="2268640"/>
          </a:xfrm>
          <a:prstGeom prst="rect">
            <a:avLst/>
          </a:prstGeom>
          <a:effectLst>
            <a:softEdge rad="215900"/>
          </a:effectLst>
        </p:spPr>
      </p:pic>
      <p:sp>
        <p:nvSpPr>
          <p:cNvPr id="15" name="文本框 4">
            <a:extLst>
              <a:ext uri="{FF2B5EF4-FFF2-40B4-BE49-F238E27FC236}">
                <a16:creationId xmlns:a16="http://schemas.microsoft.com/office/drawing/2014/main" id="{298081B8-AED1-5730-7A81-AE75CB2BD5A6}"/>
              </a:ext>
            </a:extLst>
          </p:cNvPr>
          <p:cNvSpPr txBox="1"/>
          <p:nvPr/>
        </p:nvSpPr>
        <p:spPr>
          <a:xfrm>
            <a:off x="8535799" y="4215739"/>
            <a:ext cx="1560352"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霍普菲尔德（</a:t>
            </a:r>
            <a:r>
              <a:rPr lang="en-US" altLang="zh-CN"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1933-</a:t>
            </a:r>
            <a:r>
              <a:rPr lang="zh-CN" altLang="en-US"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100" dirty="0"/>
          </a:p>
        </p:txBody>
      </p:sp>
      <p:sp>
        <p:nvSpPr>
          <p:cNvPr id="16" name="文本框 7">
            <a:extLst>
              <a:ext uri="{FF2B5EF4-FFF2-40B4-BE49-F238E27FC236}">
                <a16:creationId xmlns:a16="http://schemas.microsoft.com/office/drawing/2014/main" id="{91F29133-5674-3097-9092-833A298AE68D}"/>
              </a:ext>
            </a:extLst>
          </p:cNvPr>
          <p:cNvSpPr txBox="1"/>
          <p:nvPr/>
        </p:nvSpPr>
        <p:spPr>
          <a:xfrm>
            <a:off x="1346014" y="4633327"/>
            <a:ext cx="8951976"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：霍普菲尔德模型的提出振奋了神经网络领域，使得神经网络的发展从低迷期转入繁荣期</a:t>
            </a:r>
          </a:p>
          <a:p>
            <a:endParaRPr kumimoji="1" lang="zh-CN" altLang="en-US" dirty="0"/>
          </a:p>
        </p:txBody>
      </p:sp>
      <p:sp>
        <p:nvSpPr>
          <p:cNvPr id="10" name="标题 1">
            <a:extLst>
              <a:ext uri="{FF2B5EF4-FFF2-40B4-BE49-F238E27FC236}">
                <a16:creationId xmlns:a16="http://schemas.microsoft.com/office/drawing/2014/main" id="{1815AE79-B9C2-8C55-E45F-5EE62173C22B}"/>
              </a:ext>
            </a:extLst>
          </p:cNvPr>
          <p:cNvSpPr>
            <a:spLocks noGrp="1"/>
          </p:cNvSpPr>
          <p:nvPr>
            <p:ph type="title"/>
          </p:nvPr>
        </p:nvSpPr>
        <p:spPr>
          <a:xfrm>
            <a:off x="1198880" y="353998"/>
            <a:ext cx="5953760" cy="899795"/>
          </a:xfrm>
        </p:spPr>
        <p:txBody>
          <a:bodyPr>
            <a:normAutofit fontScale="90000"/>
          </a:bodyPr>
          <a:lstStyle/>
          <a:p>
            <a:r>
              <a:rPr lang="zh-CN" altLang="en-US" sz="3200" b="1" dirty="0" smtClean="0">
                <a:latin typeface="+mn-lt"/>
              </a:rPr>
              <a:t>人工神经网络和深度学习</a:t>
            </a:r>
            <a:r>
              <a:rPr lang="en-US" altLang="zh-CN" sz="3200" b="1" dirty="0" smtClean="0">
                <a:latin typeface="+mn-lt"/>
              </a:rPr>
              <a:t>---</a:t>
            </a:r>
            <a:r>
              <a:rPr lang="zh-CN" altLang="en-US" sz="3200" b="1" dirty="0" smtClean="0">
                <a:latin typeface="+mn-lt"/>
              </a:rPr>
              <a:t>发展</a:t>
            </a:r>
            <a:endParaRPr lang="zh-CN" altLang="en-US" sz="3200" b="1" dirty="0">
              <a:latin typeface="+mn-lt"/>
            </a:endParaRPr>
          </a:p>
        </p:txBody>
      </p:sp>
    </p:spTree>
    <p:extLst>
      <p:ext uri="{BB962C8B-B14F-4D97-AF65-F5344CB8AC3E}">
        <p14:creationId xmlns:p14="http://schemas.microsoft.com/office/powerpoint/2010/main" val="9525549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6">
            <a:extLst>
              <a:ext uri="{FF2B5EF4-FFF2-40B4-BE49-F238E27FC236}">
                <a16:creationId xmlns:a16="http://schemas.microsoft.com/office/drawing/2014/main" id="{683941F7-3477-969E-2494-E2C69D3ED4A0}"/>
              </a:ext>
            </a:extLst>
          </p:cNvPr>
          <p:cNvSpPr/>
          <p:nvPr/>
        </p:nvSpPr>
        <p:spPr>
          <a:xfrm>
            <a:off x="295931" y="1111791"/>
            <a:ext cx="6665469" cy="4634419"/>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2A7EEE69-69C5-3C40-0CA4-1D972501D966}"/>
              </a:ext>
            </a:extLst>
          </p:cNvPr>
          <p:cNvSpPr/>
          <p:nvPr/>
        </p:nvSpPr>
        <p:spPr>
          <a:xfrm>
            <a:off x="419374" y="1166842"/>
            <a:ext cx="6418581" cy="452431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a:p>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1986</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年神经网络之父</a:t>
            </a:r>
            <a:r>
              <a:rPr lang="zh-CN" altLang="en-US" dirty="0">
                <a:solidFill>
                  <a:prstClr val="white"/>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辛</a:t>
            </a:r>
            <a:r>
              <a:rPr kumimoji="0" lang="zh-CN" altLang="en-US" sz="18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顿（</a:t>
            </a:r>
            <a:r>
              <a:rPr kumimoji="0" lang="en-US" altLang="zh-CN" sz="18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Hinton</a:t>
            </a:r>
            <a:r>
              <a:rPr kumimoji="0" lang="zh-CN" altLang="en-US" sz="18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提出了适用于多层感知机</a:t>
            </a:r>
            <a:r>
              <a:rPr lang="e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MLP</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a:t>
            </a:r>
            <a:r>
              <a:rPr lang="e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，并在层与层之间的传播过程中引入了 </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Sigmoid</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函数，为神经网络引入了非线性，改良了单层感知机无法解决异或问题的缺陷。</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e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算法包括前向传播的计算与反向传播的计算</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。如果是已经训练好的神经网络模型，仅使用前向传播即可预测出结果。神经网络的训练还需要反向传播的参与。当前向传播预测值与真实值有出入的时候，利用</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梯度下降</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的方法，在反向传播中使模型权重改变，让模型权重更加贴合真实值。常见的梯度更新优化器有如下四种，它们分别是：</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SGD</a:t>
            </a:r>
            <a:r>
              <a:rPr lang="zh-CN" altLang="e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Momentum</a:t>
            </a:r>
            <a:r>
              <a:rPr lang="zh-CN" altLang="e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AdaGrad</a:t>
            </a:r>
            <a:r>
              <a:rPr lang="zh-CN" altLang="e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Adam</a:t>
            </a:r>
            <a:r>
              <a:rPr lang="zh-CN" altLang="e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：克服了第一代神经网络的弱点，为多层神经网络的学习训练与实现提供了一种切实可行的解决途径。</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76FC1033-55A5-B37D-3131-32DA9CE8B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398" y="1715234"/>
            <a:ext cx="4934671" cy="3427530"/>
          </a:xfrm>
          <a:prstGeom prst="rect">
            <a:avLst/>
          </a:prstGeom>
        </p:spPr>
      </p:pic>
      <p:sp>
        <p:nvSpPr>
          <p:cNvPr id="15" name="文本框 11">
            <a:extLst>
              <a:ext uri="{FF2B5EF4-FFF2-40B4-BE49-F238E27FC236}">
                <a16:creationId xmlns:a16="http://schemas.microsoft.com/office/drawing/2014/main" id="{E0EB63BE-4730-A2C1-6457-56A7F4F1B17A}"/>
              </a:ext>
            </a:extLst>
          </p:cNvPr>
          <p:cNvSpPr txBox="1"/>
          <p:nvPr/>
        </p:nvSpPr>
        <p:spPr>
          <a:xfrm>
            <a:off x="8541765" y="5142764"/>
            <a:ext cx="1773936" cy="2769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zh-CN" sz="1200" dirty="0"/>
              <a:t>BP</a:t>
            </a:r>
            <a:r>
              <a:rPr kumimoji="1" lang="zh-CN" altLang="en-US" sz="1200" dirty="0"/>
              <a:t>神经网络</a:t>
            </a:r>
          </a:p>
        </p:txBody>
      </p:sp>
      <p:sp>
        <p:nvSpPr>
          <p:cNvPr id="8" name="标题 1">
            <a:extLst>
              <a:ext uri="{FF2B5EF4-FFF2-40B4-BE49-F238E27FC236}">
                <a16:creationId xmlns:a16="http://schemas.microsoft.com/office/drawing/2014/main" id="{1815AE79-B9C2-8C55-E45F-5EE62173C22B}"/>
              </a:ext>
            </a:extLst>
          </p:cNvPr>
          <p:cNvSpPr>
            <a:spLocks noGrp="1"/>
          </p:cNvSpPr>
          <p:nvPr>
            <p:ph type="title"/>
          </p:nvPr>
        </p:nvSpPr>
        <p:spPr>
          <a:xfrm>
            <a:off x="498095" y="365125"/>
            <a:ext cx="5953760" cy="899795"/>
          </a:xfrm>
        </p:spPr>
        <p:txBody>
          <a:bodyPr>
            <a:normAutofit fontScale="90000"/>
          </a:bodyPr>
          <a:lstStyle/>
          <a:p>
            <a:r>
              <a:rPr lang="zh-CN" altLang="en-US" sz="3200" b="1" dirty="0" smtClean="0">
                <a:latin typeface="+mn-lt"/>
              </a:rPr>
              <a:t>人工神经网络和深度学习</a:t>
            </a:r>
            <a:r>
              <a:rPr lang="en-US" altLang="zh-CN" sz="3200" b="1" dirty="0" smtClean="0">
                <a:latin typeface="+mn-lt"/>
              </a:rPr>
              <a:t>---</a:t>
            </a:r>
            <a:r>
              <a:rPr lang="zh-CN" altLang="en-US" sz="3200" b="1" dirty="0" smtClean="0">
                <a:latin typeface="+mn-lt"/>
              </a:rPr>
              <a:t>发展</a:t>
            </a:r>
            <a:endParaRPr lang="zh-CN" altLang="en-US" sz="3200" b="1" dirty="0">
              <a:latin typeface="+mn-lt"/>
            </a:endParaRPr>
          </a:p>
        </p:txBody>
      </p:sp>
    </p:spTree>
    <p:extLst>
      <p:ext uri="{BB962C8B-B14F-4D97-AF65-F5344CB8AC3E}">
        <p14:creationId xmlns:p14="http://schemas.microsoft.com/office/powerpoint/2010/main" val="13188434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6">
            <a:extLst>
              <a:ext uri="{FF2B5EF4-FFF2-40B4-BE49-F238E27FC236}">
                <a16:creationId xmlns:a16="http://schemas.microsoft.com/office/drawing/2014/main" id="{683941F7-3477-969E-2494-E2C69D3ED4A0}"/>
              </a:ext>
            </a:extLst>
          </p:cNvPr>
          <p:cNvSpPr/>
          <p:nvPr/>
        </p:nvSpPr>
        <p:spPr>
          <a:xfrm>
            <a:off x="582169" y="1289304"/>
            <a:ext cx="11027663" cy="4279392"/>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2A7EEE69-69C5-3C40-0CA4-1D972501D966}"/>
              </a:ext>
            </a:extLst>
          </p:cNvPr>
          <p:cNvSpPr/>
          <p:nvPr/>
        </p:nvSpPr>
        <p:spPr>
          <a:xfrm>
            <a:off x="842773" y="1289304"/>
            <a:ext cx="6560642" cy="360098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2006</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年，辛顿在</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Science</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等期刊上发表题为</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Reducing the Dimensionality of Data with Neural Networks》</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的文章，并</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首次提出“深度信念网络（</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deep belief network</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）”模型</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（在相关分类任务中可取得性能超过传统浅层学习模型（</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神经网络）的结果。</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这篇文章是一个分水岭，拉开了深度学习大幕，标志着深度学习的诞生。</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从此，历史这样写就：从感知机提出，到</a:t>
            </a:r>
            <a:r>
              <a:rPr lang="e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算法应用以及</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2006</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年以前的历史被称为浅层学习，以后的历史被称为深度学习。</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Picture 2">
            <a:extLst>
              <a:ext uri="{FF2B5EF4-FFF2-40B4-BE49-F238E27FC236}">
                <a16:creationId xmlns:a16="http://schemas.microsoft.com/office/drawing/2014/main" id="{2309EBFC-A8EE-835E-B4F3-0925F711F4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3415" y="1746504"/>
            <a:ext cx="3926002" cy="2611882"/>
          </a:xfrm>
          <a:prstGeom prst="rect">
            <a:avLst/>
          </a:prstGeom>
          <a:noFill/>
          <a:effectLst>
            <a:softEdge rad="203200"/>
          </a:effectLst>
          <a:extLst>
            <a:ext uri="{909E8E84-426E-40DD-AFC4-6F175D3DCCD1}">
              <a14:hiddenFill xmlns:a14="http://schemas.microsoft.com/office/drawing/2010/main">
                <a:solidFill>
                  <a:srgbClr val="FFFFFF"/>
                </a:solidFill>
              </a14:hiddenFill>
            </a:ext>
          </a:extLst>
        </p:spPr>
      </p:pic>
      <p:sp>
        <p:nvSpPr>
          <p:cNvPr id="15" name="文本框 7">
            <a:extLst>
              <a:ext uri="{FF2B5EF4-FFF2-40B4-BE49-F238E27FC236}">
                <a16:creationId xmlns:a16="http://schemas.microsoft.com/office/drawing/2014/main" id="{3EA16C6B-B57F-5F12-7AAC-9B8471296F54}"/>
              </a:ext>
            </a:extLst>
          </p:cNvPr>
          <p:cNvSpPr txBox="1"/>
          <p:nvPr/>
        </p:nvSpPr>
        <p:spPr>
          <a:xfrm>
            <a:off x="1065277" y="4768348"/>
            <a:ext cx="8714232" cy="64922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：有别于分段式学习，端到端</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(end to end)</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的深度学习框架建立</a:t>
            </a:r>
          </a:p>
          <a:p>
            <a:endParaRPr kumimoji="1" lang="zh-CN" altLang="en-US" dirty="0"/>
          </a:p>
        </p:txBody>
      </p:sp>
      <p:sp>
        <p:nvSpPr>
          <p:cNvPr id="16" name="文本框 8">
            <a:extLst>
              <a:ext uri="{FF2B5EF4-FFF2-40B4-BE49-F238E27FC236}">
                <a16:creationId xmlns:a16="http://schemas.microsoft.com/office/drawing/2014/main" id="{A977E680-4888-DC96-8E39-648D21A7E82D}"/>
              </a:ext>
            </a:extLst>
          </p:cNvPr>
          <p:cNvSpPr txBox="1"/>
          <p:nvPr/>
        </p:nvSpPr>
        <p:spPr>
          <a:xfrm>
            <a:off x="8999333" y="4449596"/>
            <a:ext cx="1560352"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辛顿（</a:t>
            </a:r>
            <a:r>
              <a:rPr lang="en-US" altLang="zh-CN"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1947-</a:t>
            </a:r>
            <a:r>
              <a:rPr lang="zh-CN" altLang="en-US" sz="11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100" dirty="0"/>
          </a:p>
        </p:txBody>
      </p:sp>
      <p:sp>
        <p:nvSpPr>
          <p:cNvPr id="10" name="标题 1">
            <a:extLst>
              <a:ext uri="{FF2B5EF4-FFF2-40B4-BE49-F238E27FC236}">
                <a16:creationId xmlns:a16="http://schemas.microsoft.com/office/drawing/2014/main" id="{1815AE79-B9C2-8C55-E45F-5EE62173C22B}"/>
              </a:ext>
            </a:extLst>
          </p:cNvPr>
          <p:cNvSpPr>
            <a:spLocks noGrp="1"/>
          </p:cNvSpPr>
          <p:nvPr>
            <p:ph type="title"/>
          </p:nvPr>
        </p:nvSpPr>
        <p:spPr>
          <a:xfrm>
            <a:off x="498095" y="365125"/>
            <a:ext cx="5953760" cy="899795"/>
          </a:xfrm>
        </p:spPr>
        <p:txBody>
          <a:bodyPr>
            <a:normAutofit fontScale="90000"/>
          </a:bodyPr>
          <a:lstStyle/>
          <a:p>
            <a:r>
              <a:rPr lang="zh-CN" altLang="en-US" sz="3200" b="1" dirty="0" smtClean="0">
                <a:latin typeface="+mn-lt"/>
              </a:rPr>
              <a:t>人工神经网络和深度学习</a:t>
            </a:r>
            <a:r>
              <a:rPr lang="en-US" altLang="zh-CN" sz="3200" b="1" dirty="0" smtClean="0">
                <a:latin typeface="+mn-lt"/>
              </a:rPr>
              <a:t>---</a:t>
            </a:r>
            <a:r>
              <a:rPr lang="zh-CN" altLang="en-US" sz="3200" b="1" dirty="0" smtClean="0">
                <a:latin typeface="+mn-lt"/>
              </a:rPr>
              <a:t>发展</a:t>
            </a:r>
            <a:endParaRPr lang="zh-CN" altLang="en-US" sz="3200" b="1" dirty="0">
              <a:latin typeface="+mn-lt"/>
            </a:endParaRPr>
          </a:p>
        </p:txBody>
      </p:sp>
    </p:spTree>
    <p:extLst>
      <p:ext uri="{BB962C8B-B14F-4D97-AF65-F5344CB8AC3E}">
        <p14:creationId xmlns:p14="http://schemas.microsoft.com/office/powerpoint/2010/main" val="16509879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6">
            <a:extLst>
              <a:ext uri="{FF2B5EF4-FFF2-40B4-BE49-F238E27FC236}">
                <a16:creationId xmlns:a16="http://schemas.microsoft.com/office/drawing/2014/main" id="{683941F7-3477-969E-2494-E2C69D3ED4A0}"/>
              </a:ext>
            </a:extLst>
          </p:cNvPr>
          <p:cNvSpPr/>
          <p:nvPr/>
        </p:nvSpPr>
        <p:spPr>
          <a:xfrm>
            <a:off x="615962" y="1609345"/>
            <a:ext cx="4462272" cy="3364992"/>
          </a:xfrm>
          <a:prstGeom prst="roundRect">
            <a:avLst>
              <a:gd name="adj" fmla="val 6947"/>
            </a:avLst>
          </a:prstGeom>
          <a:gradFill>
            <a:gsLst>
              <a:gs pos="22000">
                <a:srgbClr val="974947"/>
              </a:gs>
              <a:gs pos="100000">
                <a:schemeClr val="accent6">
                  <a:lumMod val="75000"/>
                </a:schemeClr>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C1C9D8F0-D302-6E75-651F-6AF63AD47558}"/>
              </a:ext>
            </a:extLst>
          </p:cNvPr>
          <p:cNvPicPr>
            <a:picLocks noChangeAspect="1"/>
          </p:cNvPicPr>
          <p:nvPr/>
        </p:nvPicPr>
        <p:blipFill>
          <a:blip r:embed="rId3"/>
          <a:stretch>
            <a:fillRect/>
          </a:stretch>
        </p:blipFill>
        <p:spPr>
          <a:xfrm>
            <a:off x="5501840" y="1778545"/>
            <a:ext cx="6074199" cy="3026591"/>
          </a:xfrm>
          <a:prstGeom prst="rect">
            <a:avLst/>
          </a:prstGeom>
        </p:spPr>
      </p:pic>
      <p:sp>
        <p:nvSpPr>
          <p:cNvPr id="14" name="文本框 4">
            <a:extLst>
              <a:ext uri="{FF2B5EF4-FFF2-40B4-BE49-F238E27FC236}">
                <a16:creationId xmlns:a16="http://schemas.microsoft.com/office/drawing/2014/main" id="{1978CEEA-0756-B51C-8E52-A609CF5CC7BE}"/>
              </a:ext>
            </a:extLst>
          </p:cNvPr>
          <p:cNvSpPr txBox="1"/>
          <p:nvPr/>
        </p:nvSpPr>
        <p:spPr>
          <a:xfrm>
            <a:off x="7984479" y="4971657"/>
            <a:ext cx="1773936" cy="2769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200" dirty="0"/>
              <a:t>深度神经网络（</a:t>
            </a:r>
            <a:r>
              <a:rPr kumimoji="1" lang="en-US" altLang="zh-CN" sz="1200" dirty="0"/>
              <a:t> DNN</a:t>
            </a:r>
            <a:r>
              <a:rPr kumimoji="1" lang="zh-CN" altLang="en-US" sz="1200" dirty="0"/>
              <a:t>）</a:t>
            </a:r>
          </a:p>
        </p:txBody>
      </p:sp>
      <p:sp>
        <p:nvSpPr>
          <p:cNvPr id="15" name="矩形 14">
            <a:extLst>
              <a:ext uri="{FF2B5EF4-FFF2-40B4-BE49-F238E27FC236}">
                <a16:creationId xmlns:a16="http://schemas.microsoft.com/office/drawing/2014/main" id="{6C0FB1CE-A0AD-358E-4840-EB106C4E8A0B}"/>
              </a:ext>
            </a:extLst>
          </p:cNvPr>
          <p:cNvSpPr/>
          <p:nvPr/>
        </p:nvSpPr>
        <p:spPr>
          <a:xfrm>
            <a:off x="1039568" y="1975178"/>
            <a:ext cx="3615060" cy="267765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第三代神经网络代表：</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RNN</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LSTM</a:t>
            </a:r>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CNN</a:t>
            </a:r>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Word2vec</a:t>
            </a:r>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BERT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Transformer</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LLM</a:t>
            </a:r>
          </a:p>
          <a:p>
            <a:pPr algn="just"/>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：从造人和造脑到更通用人工智能</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标题 1">
            <a:extLst>
              <a:ext uri="{FF2B5EF4-FFF2-40B4-BE49-F238E27FC236}">
                <a16:creationId xmlns:a16="http://schemas.microsoft.com/office/drawing/2014/main" id="{1815AE79-B9C2-8C55-E45F-5EE62173C22B}"/>
              </a:ext>
            </a:extLst>
          </p:cNvPr>
          <p:cNvSpPr>
            <a:spLocks noGrp="1"/>
          </p:cNvSpPr>
          <p:nvPr>
            <p:ph type="title"/>
          </p:nvPr>
        </p:nvSpPr>
        <p:spPr>
          <a:xfrm>
            <a:off x="498095" y="365125"/>
            <a:ext cx="5953760" cy="899795"/>
          </a:xfrm>
        </p:spPr>
        <p:txBody>
          <a:bodyPr>
            <a:normAutofit fontScale="90000"/>
          </a:bodyPr>
          <a:lstStyle/>
          <a:p>
            <a:r>
              <a:rPr lang="zh-CN" altLang="en-US" sz="3200" b="1" dirty="0" smtClean="0">
                <a:latin typeface="+mn-lt"/>
              </a:rPr>
              <a:t>人工神经网络和深度学习</a:t>
            </a:r>
            <a:r>
              <a:rPr lang="en-US" altLang="zh-CN" sz="3200" b="1" dirty="0" smtClean="0">
                <a:latin typeface="+mn-lt"/>
              </a:rPr>
              <a:t>---</a:t>
            </a:r>
            <a:r>
              <a:rPr lang="zh-CN" altLang="en-US" sz="3200" b="1" dirty="0" smtClean="0">
                <a:latin typeface="+mn-lt"/>
              </a:rPr>
              <a:t>发展</a:t>
            </a:r>
            <a:endParaRPr lang="zh-CN" altLang="en-US" sz="3200" b="1" dirty="0">
              <a:latin typeface="+mn-lt"/>
            </a:endParaRPr>
          </a:p>
        </p:txBody>
      </p:sp>
      <p:sp>
        <p:nvSpPr>
          <p:cNvPr id="4" name="矩形 3"/>
          <p:cNvSpPr/>
          <p:nvPr/>
        </p:nvSpPr>
        <p:spPr>
          <a:xfrm>
            <a:off x="1330960" y="5248656"/>
            <a:ext cx="2387600" cy="646331"/>
          </a:xfrm>
          <a:prstGeom prst="rect">
            <a:avLst/>
          </a:prstGeom>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引发</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第三次崛起</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语言大模型</a:t>
            </a:r>
          </a:p>
        </p:txBody>
      </p:sp>
    </p:spTree>
    <p:extLst>
      <p:ext uri="{BB962C8B-B14F-4D97-AF65-F5344CB8AC3E}">
        <p14:creationId xmlns:p14="http://schemas.microsoft.com/office/powerpoint/2010/main" val="3340200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C6738-B098-4136-FB9E-95ED0EE69CC1}"/>
              </a:ext>
            </a:extLst>
          </p:cNvPr>
          <p:cNvSpPr>
            <a:spLocks noGrp="1"/>
          </p:cNvSpPr>
          <p:nvPr>
            <p:ph type="title"/>
          </p:nvPr>
        </p:nvSpPr>
        <p:spPr>
          <a:xfrm>
            <a:off x="785051" y="190179"/>
            <a:ext cx="9560560" cy="737235"/>
          </a:xfrm>
        </p:spPr>
        <p:txBody>
          <a:bodyPr>
            <a:normAutofit/>
          </a:bodyPr>
          <a:lstStyle/>
          <a:p>
            <a:r>
              <a:rPr lang="zh-CN" altLang="en-US" sz="3200" b="1" dirty="0"/>
              <a:t>人工神经网络和深度学习</a:t>
            </a:r>
            <a:r>
              <a:rPr lang="en-US" altLang="zh-CN" sz="3200" b="1" dirty="0" smtClean="0"/>
              <a:t>---</a:t>
            </a:r>
            <a:r>
              <a:rPr lang="zh-CN" altLang="en-US" sz="3200" b="1" dirty="0" smtClean="0"/>
              <a:t>感知机</a:t>
            </a:r>
            <a:endParaRPr lang="zh-CN" altLang="en-US" sz="3200" b="1" dirty="0"/>
          </a:p>
        </p:txBody>
      </p:sp>
      <p:pic>
        <p:nvPicPr>
          <p:cNvPr id="7" name="图片 6">
            <a:extLst>
              <a:ext uri="{FF2B5EF4-FFF2-40B4-BE49-F238E27FC236}">
                <a16:creationId xmlns:a16="http://schemas.microsoft.com/office/drawing/2014/main" id="{3BDF598C-6675-1439-E667-D77E7896D66D}"/>
              </a:ext>
            </a:extLst>
          </p:cNvPr>
          <p:cNvPicPr>
            <a:picLocks noChangeAspect="1"/>
          </p:cNvPicPr>
          <p:nvPr/>
        </p:nvPicPr>
        <p:blipFill rotWithShape="1">
          <a:blip r:embed="rId2"/>
          <a:srcRect b="14401"/>
          <a:stretch/>
        </p:blipFill>
        <p:spPr>
          <a:xfrm>
            <a:off x="3663116" y="2025947"/>
            <a:ext cx="4873875" cy="1751103"/>
          </a:xfrm>
          <a:prstGeom prst="rect">
            <a:avLst/>
          </a:prstGeom>
        </p:spPr>
      </p:pic>
      <p:sp>
        <p:nvSpPr>
          <p:cNvPr id="8" name="矩形 7">
            <a:extLst>
              <a:ext uri="{FF2B5EF4-FFF2-40B4-BE49-F238E27FC236}">
                <a16:creationId xmlns:a16="http://schemas.microsoft.com/office/drawing/2014/main" id="{E77981C0-7A1F-C5E1-E11F-D31DDEC6BED2}"/>
              </a:ext>
            </a:extLst>
          </p:cNvPr>
          <p:cNvSpPr/>
          <p:nvPr/>
        </p:nvSpPr>
        <p:spPr>
          <a:xfrm>
            <a:off x="2834912" y="4590435"/>
            <a:ext cx="6530284" cy="584775"/>
          </a:xfrm>
          <a:prstGeom prst="rect">
            <a:avLst/>
          </a:prstGeom>
        </p:spPr>
        <p:txBody>
          <a:bodyPr wrap="squar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感知机可模拟</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逻辑与</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(AND)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、逻辑与非</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(NAND)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和逻辑或</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(OR)</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等</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线性可分函数，但是</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无法完成</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逻辑异或（</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XOR</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这一</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非线性可分逻辑函数</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任务</a:t>
            </a:r>
          </a:p>
        </p:txBody>
      </p:sp>
      <p:sp>
        <p:nvSpPr>
          <p:cNvPr id="10" name="文本框 9">
            <a:extLst>
              <a:ext uri="{FF2B5EF4-FFF2-40B4-BE49-F238E27FC236}">
                <a16:creationId xmlns:a16="http://schemas.microsoft.com/office/drawing/2014/main" id="{71B25289-D4D6-A10E-B907-8BE202EB3154}"/>
              </a:ext>
            </a:extLst>
          </p:cNvPr>
          <p:cNvSpPr txBox="1"/>
          <p:nvPr/>
        </p:nvSpPr>
        <p:spPr>
          <a:xfrm>
            <a:off x="3920740" y="3777050"/>
            <a:ext cx="1037088" cy="646331"/>
          </a:xfrm>
          <a:prstGeom prst="rect">
            <a:avLst/>
          </a:prstGeom>
          <a:noFill/>
        </p:spPr>
        <p:txBody>
          <a:bodyPr wrap="square">
            <a:spAutoFit/>
          </a:bodyPr>
          <a:lstStyle/>
          <a:p>
            <a:pPr algn="ct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逻辑与</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sp>
        <p:nvSpPr>
          <p:cNvPr id="11" name="文本框 10">
            <a:extLst>
              <a:ext uri="{FF2B5EF4-FFF2-40B4-BE49-F238E27FC236}">
                <a16:creationId xmlns:a16="http://schemas.microsoft.com/office/drawing/2014/main" id="{A59F5E60-5D4B-B3C9-E4ED-CEED429950C7}"/>
              </a:ext>
            </a:extLst>
          </p:cNvPr>
          <p:cNvSpPr txBox="1"/>
          <p:nvPr/>
        </p:nvSpPr>
        <p:spPr>
          <a:xfrm>
            <a:off x="4957828" y="3777050"/>
            <a:ext cx="1215006" cy="646331"/>
          </a:xfrm>
          <a:prstGeom prst="rect">
            <a:avLst/>
          </a:prstGeom>
          <a:noFill/>
        </p:spPr>
        <p:txBody>
          <a:bodyPr wrap="square">
            <a:spAutoFit/>
          </a:bodyPr>
          <a:lstStyle/>
          <a:p>
            <a:pPr algn="ct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逻辑与非😀</a:t>
            </a:r>
            <a:endParaRPr lang="zh-CN" altLang="en-US" dirty="0"/>
          </a:p>
        </p:txBody>
      </p:sp>
      <p:sp>
        <p:nvSpPr>
          <p:cNvPr id="12" name="文本框 11">
            <a:extLst>
              <a:ext uri="{FF2B5EF4-FFF2-40B4-BE49-F238E27FC236}">
                <a16:creationId xmlns:a16="http://schemas.microsoft.com/office/drawing/2014/main" id="{4D4C9AEB-1B8B-759B-BB5A-5644E9E0E503}"/>
              </a:ext>
            </a:extLst>
          </p:cNvPr>
          <p:cNvSpPr txBox="1"/>
          <p:nvPr/>
        </p:nvSpPr>
        <p:spPr>
          <a:xfrm>
            <a:off x="6053990" y="3777050"/>
            <a:ext cx="1215006" cy="646331"/>
          </a:xfrm>
          <a:prstGeom prst="rect">
            <a:avLst/>
          </a:prstGeom>
          <a:noFill/>
        </p:spPr>
        <p:txBody>
          <a:bodyPr wrap="square">
            <a:spAutoFit/>
          </a:bodyPr>
          <a:lstStyle/>
          <a:p>
            <a:pPr algn="ct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逻辑或</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p:sp>
        <p:nvSpPr>
          <p:cNvPr id="13" name="文本框 12">
            <a:extLst>
              <a:ext uri="{FF2B5EF4-FFF2-40B4-BE49-F238E27FC236}">
                <a16:creationId xmlns:a16="http://schemas.microsoft.com/office/drawing/2014/main" id="{3704B1EB-21A4-FC95-2EDC-FE5A7C9E9452}"/>
              </a:ext>
            </a:extLst>
          </p:cNvPr>
          <p:cNvSpPr txBox="1"/>
          <p:nvPr/>
        </p:nvSpPr>
        <p:spPr>
          <a:xfrm>
            <a:off x="7150152" y="3777050"/>
            <a:ext cx="1215006" cy="646331"/>
          </a:xfrm>
          <a:prstGeom prst="rect">
            <a:avLst/>
          </a:prstGeom>
          <a:noFill/>
        </p:spPr>
        <p:txBody>
          <a:bodyPr wrap="square">
            <a:spAutoFit/>
          </a:bodyPr>
          <a:lstStyle/>
          <a:p>
            <a:pPr algn="ct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逻辑或非</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dirty="0"/>
              <a:t>🤨</a:t>
            </a:r>
          </a:p>
        </p:txBody>
      </p:sp>
      <p:sp>
        <p:nvSpPr>
          <p:cNvPr id="3" name="矩形 2">
            <a:extLst>
              <a:ext uri="{FF2B5EF4-FFF2-40B4-BE49-F238E27FC236}">
                <a16:creationId xmlns:a16="http://schemas.microsoft.com/office/drawing/2014/main" id="{C04EFF45-62C7-DAEA-6D78-6760E05A7A52}"/>
              </a:ext>
            </a:extLst>
          </p:cNvPr>
          <p:cNvSpPr/>
          <p:nvPr/>
        </p:nvSpPr>
        <p:spPr>
          <a:xfrm>
            <a:off x="479152" y="927414"/>
            <a:ext cx="11233695" cy="923330"/>
          </a:xfrm>
          <a:prstGeom prst="rect">
            <a:avLst/>
          </a:prstGeom>
        </p:spPr>
        <p:txBody>
          <a:bodyPr wrap="square">
            <a:spAutoFit/>
          </a:bodyPr>
          <a:lstStyle/>
          <a:p>
            <a:pPr algn="ctr">
              <a:lnSpc>
                <a:spcPct val="150000"/>
              </a:lnSpc>
              <a:spcAft>
                <a:spcPts val="0"/>
              </a:spcAft>
            </a:pPr>
            <a:r>
              <a:rPr lang="zh-CN" altLang="en-US" sz="3600" b="1" dirty="0">
                <a:solidFill>
                  <a:srgbClr val="C00000"/>
                </a:solidFill>
                <a:latin typeface="+mn-ea"/>
                <a:cs typeface="Times New Roman" panose="02020603050405020304" pitchFamily="18" charset="0"/>
              </a:rPr>
              <a:t>课堂提问</a:t>
            </a:r>
            <a:r>
              <a:rPr lang="zh-CN" altLang="en-US" sz="3600" b="1" dirty="0" smtClean="0">
                <a:solidFill>
                  <a:srgbClr val="C00000"/>
                </a:solidFill>
                <a:latin typeface="+mn-ea"/>
                <a:cs typeface="Times New Roman" panose="02020603050405020304" pitchFamily="18" charset="0"/>
              </a:rPr>
              <a:t>：上节课讲的感知机</a:t>
            </a:r>
            <a:r>
              <a:rPr lang="zh-CN" altLang="en-US" sz="3600" b="1" dirty="0">
                <a:solidFill>
                  <a:srgbClr val="C00000"/>
                </a:solidFill>
                <a:latin typeface="+mn-ea"/>
                <a:cs typeface="Times New Roman" panose="02020603050405020304" pitchFamily="18" charset="0"/>
              </a:rPr>
              <a:t>有什么问题？</a:t>
            </a:r>
            <a:endParaRPr lang="en-US" altLang="zh-CN" sz="3600" b="1" dirty="0">
              <a:solidFill>
                <a:srgbClr val="C00000"/>
              </a:solidFill>
              <a:latin typeface="+mn-ea"/>
              <a:cs typeface="Times New Roman" panose="02020603050405020304" pitchFamily="18" charset="0"/>
            </a:endParaRPr>
          </a:p>
        </p:txBody>
      </p:sp>
    </p:spTree>
    <p:extLst>
      <p:ext uri="{BB962C8B-B14F-4D97-AF65-F5344CB8AC3E}">
        <p14:creationId xmlns:p14="http://schemas.microsoft.com/office/powerpoint/2010/main" val="1751961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C6738-B098-4136-FB9E-95ED0EE69CC1}"/>
              </a:ext>
            </a:extLst>
          </p:cNvPr>
          <p:cNvSpPr>
            <a:spLocks noGrp="1"/>
          </p:cNvSpPr>
          <p:nvPr>
            <p:ph type="title"/>
          </p:nvPr>
        </p:nvSpPr>
        <p:spPr>
          <a:xfrm>
            <a:off x="785050" y="190179"/>
            <a:ext cx="10101389" cy="947741"/>
          </a:xfrm>
        </p:spPr>
        <p:txBody>
          <a:bodyPr>
            <a:normAutofit/>
          </a:bodyPr>
          <a:lstStyle/>
          <a:p>
            <a:r>
              <a:rPr lang="zh-CN" altLang="en-US" sz="3200" b="1" dirty="0"/>
              <a:t>人工神经网络和深度学习</a:t>
            </a:r>
            <a:r>
              <a:rPr lang="en-US" altLang="zh-CN" sz="3200" b="1" dirty="0" smtClean="0"/>
              <a:t>---</a:t>
            </a:r>
            <a:r>
              <a:rPr lang="zh-CN" altLang="en-US" sz="3200" b="1" dirty="0"/>
              <a:t>前馈</a:t>
            </a:r>
            <a:r>
              <a:rPr lang="zh-CN" altLang="en-US" sz="3200" b="1" dirty="0" smtClean="0"/>
              <a:t>神经网络</a:t>
            </a:r>
            <a:endParaRPr lang="zh-CN" altLang="en-US" sz="3200" b="1" dirty="0"/>
          </a:p>
        </p:txBody>
      </p:sp>
      <p:pic>
        <p:nvPicPr>
          <p:cNvPr id="14" name="图片 13">
            <a:extLst>
              <a:ext uri="{FF2B5EF4-FFF2-40B4-BE49-F238E27FC236}">
                <a16:creationId xmlns:a16="http://schemas.microsoft.com/office/drawing/2014/main" id="{2F9EB5A4-D5A1-43FD-8D13-88A81F02C38F}"/>
              </a:ext>
            </a:extLst>
          </p:cNvPr>
          <p:cNvPicPr>
            <a:picLocks noChangeAspect="1"/>
          </p:cNvPicPr>
          <p:nvPr/>
        </p:nvPicPr>
        <p:blipFill>
          <a:blip r:embed="rId2"/>
          <a:stretch>
            <a:fillRect/>
          </a:stretch>
        </p:blipFill>
        <p:spPr>
          <a:xfrm>
            <a:off x="976189" y="1397000"/>
            <a:ext cx="9185666" cy="4759960"/>
          </a:xfrm>
          <a:prstGeom prst="rect">
            <a:avLst/>
          </a:prstGeom>
        </p:spPr>
      </p:pic>
    </p:spTree>
    <p:extLst>
      <p:ext uri="{BB962C8B-B14F-4D97-AF65-F5344CB8AC3E}">
        <p14:creationId xmlns:p14="http://schemas.microsoft.com/office/powerpoint/2010/main" val="4126009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BABAE5-CE23-E738-5B71-C2169A05176B}"/>
              </a:ext>
            </a:extLst>
          </p:cNvPr>
          <p:cNvSpPr>
            <a:spLocks noGrp="1"/>
          </p:cNvSpPr>
          <p:nvPr>
            <p:ph type="title"/>
          </p:nvPr>
        </p:nvSpPr>
        <p:spPr>
          <a:xfrm>
            <a:off x="162560" y="365125"/>
            <a:ext cx="11191240" cy="701675"/>
          </a:xfrm>
        </p:spPr>
        <p:txBody>
          <a:bodyPr>
            <a:normAutofit/>
          </a:bodyPr>
          <a:lstStyle/>
          <a:p>
            <a:r>
              <a:rPr lang="zh-CN" altLang="en-US" sz="3200" b="1" dirty="0"/>
              <a:t>人工神经网络和深度学习</a:t>
            </a:r>
            <a:r>
              <a:rPr lang="en-US" altLang="zh-CN" sz="3200" b="1" dirty="0"/>
              <a:t>---</a:t>
            </a:r>
            <a:r>
              <a:rPr lang="zh-CN" altLang="en-US" sz="3200" b="1" dirty="0"/>
              <a:t>常见激活函数</a:t>
            </a:r>
          </a:p>
        </p:txBody>
      </p:sp>
      <p:pic>
        <p:nvPicPr>
          <p:cNvPr id="7" name="Picture 2" descr="Activation Function - AI Wiki">
            <a:extLst>
              <a:ext uri="{FF2B5EF4-FFF2-40B4-BE49-F238E27FC236}">
                <a16:creationId xmlns:a16="http://schemas.microsoft.com/office/drawing/2014/main" id="{104A955F-E656-73E7-69CD-2AEC5B2E50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6805" r="53359"/>
          <a:stretch/>
        </p:blipFill>
        <p:spPr bwMode="auto">
          <a:xfrm>
            <a:off x="2577353" y="1497148"/>
            <a:ext cx="2838246" cy="176233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Activation Function - AI Wiki">
            <a:extLst>
              <a:ext uri="{FF2B5EF4-FFF2-40B4-BE49-F238E27FC236}">
                <a16:creationId xmlns:a16="http://schemas.microsoft.com/office/drawing/2014/main" id="{776F0E9D-C122-2650-C9E9-046FE28ABD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303" b="48721"/>
          <a:stretch/>
        </p:blipFill>
        <p:spPr bwMode="auto">
          <a:xfrm>
            <a:off x="6234953" y="1266226"/>
            <a:ext cx="3048000" cy="206703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ctivation Function - AI Wiki">
            <a:extLst>
              <a:ext uri="{FF2B5EF4-FFF2-40B4-BE49-F238E27FC236}">
                <a16:creationId xmlns:a16="http://schemas.microsoft.com/office/drawing/2014/main" id="{CC45B005-B203-CA93-5EF6-7F5FC4A62D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303" b="48721"/>
          <a:stretch/>
        </p:blipFill>
        <p:spPr bwMode="auto">
          <a:xfrm>
            <a:off x="2577353" y="3648389"/>
            <a:ext cx="3199796" cy="216998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preview">
            <a:extLst>
              <a:ext uri="{FF2B5EF4-FFF2-40B4-BE49-F238E27FC236}">
                <a16:creationId xmlns:a16="http://schemas.microsoft.com/office/drawing/2014/main" id="{5E07D0E0-4E78-FF6F-103F-0157E1A5C0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457" y="3608677"/>
            <a:ext cx="2667000" cy="2330958"/>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a:extLst>
              <a:ext uri="{FF2B5EF4-FFF2-40B4-BE49-F238E27FC236}">
                <a16:creationId xmlns:a16="http://schemas.microsoft.com/office/drawing/2014/main" id="{D47DBB88-DBB3-2CB3-343A-697172E29DED}"/>
              </a:ext>
            </a:extLst>
          </p:cNvPr>
          <p:cNvSpPr txBox="1">
            <a:spLocks/>
          </p:cNvSpPr>
          <p:nvPr/>
        </p:nvSpPr>
        <p:spPr bwMode="auto">
          <a:xfrm>
            <a:off x="7038034" y="3422141"/>
            <a:ext cx="155984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8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57150" indent="0">
              <a:buNone/>
            </a:pPr>
            <a:r>
              <a:rPr lang="en-US" sz="1600" b="1" kern="0" dirty="0"/>
              <a:t>Leaky </a:t>
            </a:r>
            <a:r>
              <a:rPr lang="en-US" sz="1600" b="1" kern="0" dirty="0" err="1"/>
              <a:t>ReLU</a:t>
            </a:r>
            <a:endParaRPr lang="en-US" sz="1600" b="1" kern="0" dirty="0"/>
          </a:p>
        </p:txBody>
      </p:sp>
    </p:spTree>
    <p:extLst>
      <p:ext uri="{BB962C8B-B14F-4D97-AF65-F5344CB8AC3E}">
        <p14:creationId xmlns:p14="http://schemas.microsoft.com/office/powerpoint/2010/main" val="2724163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2E184CE-95CF-4F20-98AA-D518FE8EEEF6}"/>
                  </a:ext>
                </a:extLst>
              </p:cNvPr>
              <p:cNvSpPr/>
              <p:nvPr/>
            </p:nvSpPr>
            <p:spPr>
              <a:xfrm>
                <a:off x="615668" y="2788451"/>
                <a:ext cx="10610144" cy="2293705"/>
              </a:xfrm>
              <a:prstGeom prst="rect">
                <a:avLst/>
              </a:prstGeom>
            </p:spPr>
            <p:txBody>
              <a:bodyPr wrap="square">
                <a:spAutoFit/>
              </a:bodyPr>
              <a:lstStyle/>
              <a:p>
                <a:pPr indent="266700" algn="just">
                  <a:lnSpc>
                    <a:spcPct val="150000"/>
                  </a:lnSpc>
                  <a:spcAft>
                    <a:spcPts val="0"/>
                  </a:spcAft>
                </a:pP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优点</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）概率形式</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输出；</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2</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）单调递增</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a:t>
                </a:r>
                <a:r>
                  <a:rPr lang="en-US" altLang="zh-CN" sz="2000" dirty="0" smtClean="0">
                    <a:solidFill>
                      <a:srgbClr val="000000"/>
                    </a:solidFill>
                    <a:latin typeface="Times New Roman" panose="02020603050405020304" pitchFamily="18" charset="0"/>
                    <a:ea typeface="楷体_GB2312"/>
                    <a:cs typeface="Times New Roman" panose="02020603050405020304" pitchFamily="18" charset="0"/>
                  </a:rPr>
                  <a:t>3</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）非线性变化</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a:t>
                </a:r>
                <a:endParaRPr lang="zh-CN" altLang="zh-CN" sz="20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en-US" sz="2000" dirty="0" smtClean="0">
                    <a:solidFill>
                      <a:srgbClr val="000000"/>
                    </a:solidFill>
                    <a:latin typeface="Times New Roman" panose="02020603050405020304" pitchFamily="18" charset="0"/>
                    <a:ea typeface="楷体_GB2312"/>
                    <a:cs typeface="Times New Roman" panose="02020603050405020304" pitchFamily="18" charset="0"/>
                  </a:rPr>
                  <a:t>缺点：</a:t>
                </a:r>
                <a14:m>
                  <m:oMath xmlns:m="http://schemas.openxmlformats.org/officeDocument/2006/math">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𝑓</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up>
                    </m:sSup>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sup>
                            </m:sSup>
                          </m:den>
                        </m:f>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sup>
                        </m:sSup>
                      </m:num>
                      <m:den>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sup>
                            </m:s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2</m:t>
                            </m:r>
                          </m:sup>
                        </m:sSup>
                      </m:den>
                    </m:f>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sup>
                        </m:s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num>
                      <m:den>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sup>
                            </m:s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2</m:t>
                            </m:r>
                          </m:sup>
                        </m:sSup>
                      </m:den>
                    </m:f>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num>
                      <m:den>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sup>
                            </m:sSup>
                          </m:e>
                        </m:d>
                      </m:den>
                    </m:f>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num>
                          <m:den>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sup>
                                </m:sSup>
                              </m:e>
                            </m:d>
                          </m:den>
                        </m:f>
                      </m:e>
                    </m:d>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oMath>
                </a14:m>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en-US" altLang="zh-CN" sz="2000" dirty="0" smtClean="0">
                    <a:solidFill>
                      <a:srgbClr val="000000"/>
                    </a:solidFill>
                    <a:latin typeface="Times New Roman" panose="02020603050405020304" pitchFamily="18" charset="0"/>
                    <a:ea typeface="楷体_GB2312"/>
                    <a:cs typeface="Times New Roman" panose="02020603050405020304" pitchFamily="18" charset="0"/>
                  </a:rPr>
                  <a:t> 1</a:t>
                </a:r>
                <a:r>
                  <a:rPr lang="zh-CN" altLang="en-US" sz="2000"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反向传播</a:t>
                </a:r>
                <a:r>
                  <a:rPr lang="zh-CN" altLang="en-US" sz="2000" dirty="0" smtClean="0">
                    <a:solidFill>
                      <a:srgbClr val="000000"/>
                    </a:solidFill>
                    <a:latin typeface="Times New Roman" panose="02020603050405020304" pitchFamily="18" charset="0"/>
                    <a:ea typeface="楷体_GB2312"/>
                    <a:cs typeface="Times New Roman" panose="02020603050405020304" pitchFamily="18" charset="0"/>
                  </a:rPr>
                  <a:t>时，</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易出现</a:t>
                </a:r>
                <a:r>
                  <a:rPr lang="zh-CN" altLang="en-US" sz="2000" dirty="0" smtClean="0">
                    <a:solidFill>
                      <a:srgbClr val="000000"/>
                    </a:solidFill>
                    <a:latin typeface="Times New Roman" panose="02020603050405020304" pitchFamily="18" charset="0"/>
                    <a:ea typeface="楷体_GB2312"/>
                    <a:cs typeface="Times New Roman" panose="02020603050405020304" pitchFamily="18" charset="0"/>
                  </a:rPr>
                  <a:t>梯度</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接近</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于</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的情况，即梯度消失（</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vanishing gradient</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）的</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问题</a:t>
                </a:r>
                <a:endParaRPr lang="en-US" altLang="zh-CN" sz="2000" dirty="0" smtClean="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en-US" altLang="zh-CN" sz="2000" dirty="0" smtClean="0">
                    <a:solidFill>
                      <a:srgbClr val="000000"/>
                    </a:solidFill>
                    <a:latin typeface="Times New Roman" panose="02020603050405020304" pitchFamily="18" charset="0"/>
                    <a:ea typeface="楷体_GB2312"/>
                    <a:cs typeface="Times New Roman" panose="02020603050405020304" pitchFamily="18" charset="0"/>
                  </a:rPr>
                  <a:t>2</a:t>
                </a:r>
                <a:r>
                  <a:rPr lang="zh-CN" altLang="en-US" sz="2000" dirty="0" smtClean="0">
                    <a:solidFill>
                      <a:srgbClr val="000000"/>
                    </a:solidFill>
                    <a:latin typeface="Times New Roman" panose="02020603050405020304" pitchFamily="18" charset="0"/>
                    <a:ea typeface="楷体_GB2312"/>
                    <a:cs typeface="Times New Roman" panose="02020603050405020304" pitchFamily="18" charset="0"/>
                  </a:rPr>
                  <a:t>）函数指数形式，计算复杂度高</a:t>
                </a:r>
                <a:endParaRPr lang="zh-CN" altLang="zh-CN" sz="20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C2E184CE-95CF-4F20-98AA-D518FE8EEEF6}"/>
                  </a:ext>
                </a:extLst>
              </p:cNvPr>
              <p:cNvSpPr>
                <a:spLocks noRot="1" noChangeAspect="1" noMove="1" noResize="1" noEditPoints="1" noAdjustHandles="1" noChangeArrowheads="1" noChangeShapeType="1" noTextEdit="1"/>
              </p:cNvSpPr>
              <p:nvPr/>
            </p:nvSpPr>
            <p:spPr>
              <a:xfrm>
                <a:off x="615668" y="2788451"/>
                <a:ext cx="10610144" cy="2293705"/>
              </a:xfrm>
              <a:prstGeom prst="rect">
                <a:avLst/>
              </a:prstGeom>
              <a:blipFill>
                <a:blip r:embed="rId2"/>
                <a:stretch>
                  <a:fillRect b="-1326"/>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A1BABAE5-CE23-E738-5B71-C2169A05176B}"/>
              </a:ext>
            </a:extLst>
          </p:cNvPr>
          <p:cNvSpPr>
            <a:spLocks noGrp="1"/>
          </p:cNvSpPr>
          <p:nvPr>
            <p:ph type="title"/>
          </p:nvPr>
        </p:nvSpPr>
        <p:spPr>
          <a:xfrm>
            <a:off x="162560" y="365125"/>
            <a:ext cx="11191240" cy="701675"/>
          </a:xfrm>
        </p:spPr>
        <p:txBody>
          <a:bodyPr>
            <a:normAutofit/>
          </a:bodyPr>
          <a:lstStyle/>
          <a:p>
            <a:r>
              <a:rPr lang="zh-CN" altLang="en-US" sz="3200" b="1" dirty="0"/>
              <a:t>人工神经网络和深度学习</a:t>
            </a:r>
            <a:r>
              <a:rPr lang="en-US" altLang="zh-CN" sz="3200" b="1" dirty="0"/>
              <a:t>---</a:t>
            </a:r>
            <a:r>
              <a:rPr lang="zh-CN" altLang="en-US" sz="3200" b="1" dirty="0"/>
              <a:t>常见激活函数</a:t>
            </a:r>
          </a:p>
        </p:txBody>
      </p:sp>
      <p:sp>
        <p:nvSpPr>
          <p:cNvPr id="5" name="矩形 4">
            <a:extLst>
              <a:ext uri="{FF2B5EF4-FFF2-40B4-BE49-F238E27FC236}">
                <a16:creationId xmlns:a16="http://schemas.microsoft.com/office/drawing/2014/main" id="{07AA08C2-64DA-46C3-8D52-03A7B0581850}"/>
              </a:ext>
            </a:extLst>
          </p:cNvPr>
          <p:cNvSpPr/>
          <p:nvPr/>
        </p:nvSpPr>
        <p:spPr>
          <a:xfrm>
            <a:off x="2570900" y="1412240"/>
            <a:ext cx="1843619" cy="892552"/>
          </a:xfrm>
          <a:prstGeom prst="rect">
            <a:avLst/>
          </a:prstGeom>
        </p:spPr>
        <p:txBody>
          <a:bodyPr wrap="square">
            <a:spAutoFit/>
          </a:bodyPr>
          <a:lstStyle/>
          <a:p>
            <a:endParaRPr lang="zh-CN" altLang="en-US" sz="2800" dirty="0">
              <a:solidFill>
                <a:srgbClr val="000000"/>
              </a:solidFill>
              <a:latin typeface="Helvetica Light"/>
            </a:endParaRPr>
          </a:p>
          <a:p>
            <a:pPr algn="just"/>
            <a:r>
              <a:rPr lang="en-US" altLang="zh-CN" sz="2400" b="1" dirty="0">
                <a:solidFill>
                  <a:srgbClr val="C00000"/>
                </a:solidFill>
                <a:latin typeface="Times New Roman" panose="02020603050405020304" pitchFamily="18" charset="0"/>
                <a:cs typeface="Times New Roman" panose="02020603050405020304" pitchFamily="18" charset="0"/>
              </a:rPr>
              <a:t>sigmoid</a:t>
            </a:r>
            <a:r>
              <a:rPr lang="zh-CN" altLang="en-US" sz="2400" b="1" dirty="0">
                <a:solidFill>
                  <a:srgbClr val="C00000"/>
                </a:solidFill>
                <a:latin typeface="Times New Roman" panose="02020603050405020304" pitchFamily="18" charset="0"/>
                <a:cs typeface="Times New Roman" panose="02020603050405020304" pitchFamily="18" charset="0"/>
              </a:rPr>
              <a:t>函数</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9BCBB10-E3AB-4833-973E-1D77A2C29E20}"/>
                  </a:ext>
                </a:extLst>
              </p:cNvPr>
              <p:cNvSpPr/>
              <p:nvPr/>
            </p:nvSpPr>
            <p:spPr>
              <a:xfrm>
                <a:off x="5116718" y="1550459"/>
                <a:ext cx="2909682" cy="79239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400" i="1" kern="100">
                                  <a:latin typeface="Cambria Math" panose="02040503050406030204" pitchFamily="18" charset="0"/>
                                  <a:ea typeface="华文楷体" panose="02010600040101010101" pitchFamily="2" charset="-122"/>
                                  <a:cs typeface="Times New Roman" panose="02020603050405020304" pitchFamily="18" charset="0"/>
                                </a:rPr>
                                <m:t>𝑥</m:t>
                              </m:r>
                            </m:sup>
                          </m:sSup>
                        </m:den>
                      </m:f>
                    </m:oMath>
                  </m:oMathPara>
                </a14:m>
                <a:endParaRPr lang="zh-CN" altLang="en-US" sz="2400" dirty="0"/>
              </a:p>
            </p:txBody>
          </p:sp>
        </mc:Choice>
        <mc:Fallback xmlns="">
          <p:sp>
            <p:nvSpPr>
              <p:cNvPr id="6" name="矩形 5">
                <a:extLst>
                  <a:ext uri="{FF2B5EF4-FFF2-40B4-BE49-F238E27FC236}">
                    <a16:creationId xmlns:a16="http://schemas.microsoft.com/office/drawing/2014/main" id="{09BCBB10-E3AB-4833-973E-1D77A2C29E20}"/>
                  </a:ext>
                </a:extLst>
              </p:cNvPr>
              <p:cNvSpPr>
                <a:spLocks noRot="1" noChangeAspect="1" noMove="1" noResize="1" noEditPoints="1" noAdjustHandles="1" noChangeArrowheads="1" noChangeShapeType="1" noTextEdit="1"/>
              </p:cNvSpPr>
              <p:nvPr/>
            </p:nvSpPr>
            <p:spPr>
              <a:xfrm>
                <a:off x="5116718" y="1550459"/>
                <a:ext cx="2909682" cy="79239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1919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1BABAE5-CE23-E738-5B71-C2169A05176B}"/>
              </a:ext>
            </a:extLst>
          </p:cNvPr>
          <p:cNvSpPr>
            <a:spLocks noGrp="1"/>
          </p:cNvSpPr>
          <p:nvPr>
            <p:ph type="title"/>
          </p:nvPr>
        </p:nvSpPr>
        <p:spPr>
          <a:xfrm>
            <a:off x="162560" y="365125"/>
            <a:ext cx="11191240" cy="701675"/>
          </a:xfrm>
        </p:spPr>
        <p:txBody>
          <a:bodyPr>
            <a:normAutofit/>
          </a:bodyPr>
          <a:lstStyle/>
          <a:p>
            <a:r>
              <a:rPr lang="zh-CN" altLang="en-US" sz="3200" b="1" dirty="0"/>
              <a:t>人工神经网络和深度学习</a:t>
            </a:r>
            <a:r>
              <a:rPr lang="en-US" altLang="zh-CN" sz="3200" b="1" dirty="0"/>
              <a:t>---</a:t>
            </a:r>
            <a:r>
              <a:rPr lang="zh-CN" altLang="en-US" sz="3200" b="1" dirty="0"/>
              <a:t>常见激活函数</a:t>
            </a:r>
          </a:p>
        </p:txBody>
      </p:sp>
      <p:sp>
        <p:nvSpPr>
          <p:cNvPr id="7" name="矩形 6">
            <a:extLst>
              <a:ext uri="{FF2B5EF4-FFF2-40B4-BE49-F238E27FC236}">
                <a16:creationId xmlns:a16="http://schemas.microsoft.com/office/drawing/2014/main" id="{07AA08C2-64DA-46C3-8D52-03A7B0581850}"/>
              </a:ext>
            </a:extLst>
          </p:cNvPr>
          <p:cNvSpPr/>
          <p:nvPr/>
        </p:nvSpPr>
        <p:spPr>
          <a:xfrm>
            <a:off x="2012101" y="1219256"/>
            <a:ext cx="1707962" cy="800219"/>
          </a:xfrm>
          <a:prstGeom prst="rect">
            <a:avLst/>
          </a:prstGeom>
        </p:spPr>
        <p:txBody>
          <a:bodyPr wrap="square">
            <a:spAutoFit/>
          </a:bodyPr>
          <a:lstStyle/>
          <a:p>
            <a:endParaRPr lang="zh-CN" altLang="en-US" sz="2800" dirty="0">
              <a:solidFill>
                <a:srgbClr val="000000"/>
              </a:solidFill>
              <a:latin typeface="Helvetica Light"/>
            </a:endParaRPr>
          </a:p>
          <a:p>
            <a:pPr algn="just"/>
            <a:r>
              <a:rPr lang="en-US" altLang="zh-CN" b="1" dirty="0" err="1">
                <a:solidFill>
                  <a:srgbClr val="C00000"/>
                </a:solidFill>
                <a:latin typeface="Times New Roman" panose="02020603050405020304" pitchFamily="18" charset="0"/>
                <a:cs typeface="Times New Roman" panose="02020603050405020304" pitchFamily="18" charset="0"/>
              </a:rPr>
              <a:t>ReLU</a:t>
            </a:r>
            <a:r>
              <a:rPr lang="zh-CN" altLang="zh-CN" b="1" dirty="0">
                <a:solidFill>
                  <a:srgbClr val="C00000"/>
                </a:solidFill>
                <a:latin typeface="Times New Roman" panose="02020603050405020304" pitchFamily="18" charset="0"/>
                <a:cs typeface="Times New Roman" panose="02020603050405020304" pitchFamily="18" charset="0"/>
              </a:rPr>
              <a:t>函数</a:t>
            </a:r>
            <a:endParaRPr lang="zh-CN" altLang="en-US"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1C07977-F466-4E62-94A5-0DED93C63908}"/>
                  </a:ext>
                </a:extLst>
              </p:cNvPr>
              <p:cNvSpPr/>
              <p:nvPr/>
            </p:nvSpPr>
            <p:spPr>
              <a:xfrm>
                <a:off x="4002862" y="1060423"/>
                <a:ext cx="4575483" cy="941925"/>
              </a:xfrm>
              <a:prstGeom prst="rect">
                <a:avLst/>
              </a:prstGeom>
            </p:spPr>
            <p:txBody>
              <a:bodyPr wrap="none">
                <a:spAutoFit/>
              </a:bodyPr>
              <a:lstStyle/>
              <a:p>
                <a:pPr algn="ctr">
                  <a:lnSpc>
                    <a:spcPct val="150000"/>
                  </a:lnSpc>
                  <a:spcAft>
                    <a:spcPts val="600"/>
                  </a:spcAft>
                </a:pP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&lt;0</m:t>
                            </m:r>
                          </m:e>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m:t>
                            </m:r>
                          </m:e>
                        </m:eqArr>
                      </m:e>
                    </m:d>
                  </m:oMath>
                </a14:m>
                <a:r>
                  <a:rPr lang="en-US" altLang="zh-CN" sz="2400" kern="100" dirty="0">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或者</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kern="100">
                        <a:latin typeface="Cambria Math" panose="02040503050406030204" pitchFamily="18" charset="0"/>
                        <a:ea typeface="华文楷体" panose="02010600040101010101" pitchFamily="2" charset="-122"/>
                        <a:cs typeface="Times New Roman" panose="02020603050405020304" pitchFamily="18" charset="0"/>
                      </a:rPr>
                      <m:t>max</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F1C07977-F466-4E62-94A5-0DED93C63908}"/>
                  </a:ext>
                </a:extLst>
              </p:cNvPr>
              <p:cNvSpPr>
                <a:spLocks noRot="1" noChangeAspect="1" noMove="1" noResize="1" noEditPoints="1" noAdjustHandles="1" noChangeArrowheads="1" noChangeShapeType="1" noTextEdit="1"/>
              </p:cNvSpPr>
              <p:nvPr/>
            </p:nvSpPr>
            <p:spPr>
              <a:xfrm>
                <a:off x="4002862" y="1060423"/>
                <a:ext cx="4575483" cy="94192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1848110" y="2276343"/>
                <a:ext cx="4502899" cy="710194"/>
              </a:xfrm>
              <a:prstGeom prst="rect">
                <a:avLst/>
              </a:prstGeom>
            </p:spPr>
            <p:txBody>
              <a:bodyPr wrap="none">
                <a:spAutoFit/>
              </a:bodyPr>
              <a:lstStyle/>
              <a:p>
                <a:r>
                  <a:rPr lang="en-US" altLang="zh-CN" kern="100" dirty="0" smtClean="0">
                    <a:latin typeface="Times New Roman" panose="02020603050405020304" pitchFamily="18" charset="0"/>
                    <a:ea typeface="华文楷体" panose="02010600040101010101" pitchFamily="2" charset="-122"/>
                    <a:cs typeface="Times New Roman" panose="02020603050405020304" pitchFamily="18" charset="0"/>
                  </a:rPr>
                  <a:t>ReLU</a:t>
                </a:r>
                <a:r>
                  <a:rPr lang="zh-CN" altLang="zh-CN" kern="100" dirty="0">
                    <a:latin typeface="Times New Roman" panose="02020603050405020304" pitchFamily="18" charset="0"/>
                    <a:ea typeface="楷体_GB2312"/>
                    <a:cs typeface="Times New Roman" panose="02020603050405020304" pitchFamily="18" charset="0"/>
                  </a:rPr>
                  <a:t>函数的导数为：</a:t>
                </a:r>
                <a14:m>
                  <m:oMath xmlns:m="http://schemas.openxmlformats.org/officeDocument/2006/math">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m:t>
                        </m:r>
                      </m:e>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up>
                    </m:sSup>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&lt;0</m:t>
                            </m:r>
                          </m:e>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m:t>
                            </m:r>
                          </m:e>
                        </m:eqArr>
                      </m:e>
                    </m:d>
                  </m:oMath>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848110" y="2276343"/>
                <a:ext cx="4502899" cy="710194"/>
              </a:xfrm>
              <a:prstGeom prst="rect">
                <a:avLst/>
              </a:prstGeom>
              <a:blipFill>
                <a:blip r:embed="rId3"/>
                <a:stretch>
                  <a:fillRect l="-1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830580" y="3404931"/>
                <a:ext cx="10213340" cy="3000821"/>
              </a:xfrm>
              <a:prstGeom prst="rect">
                <a:avLst/>
              </a:prstGeom>
            </p:spPr>
            <p:txBody>
              <a:bodyPr wrap="square">
                <a:spAutoFit/>
              </a:bodyPr>
              <a:lstStyle/>
              <a:p>
                <a:pPr indent="266700" algn="just">
                  <a:lnSpc>
                    <a:spcPct val="150000"/>
                  </a:lnSpc>
                  <a:spcAft>
                    <a:spcPts val="0"/>
                  </a:spcAft>
                </a:pP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优点：</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1</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当输入</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zh-CN" altLang="zh-CN" dirty="0">
                    <a:solidFill>
                      <a:srgbClr val="000000"/>
                    </a:solidFill>
                    <a:latin typeface="Times New Roman" panose="02020603050405020304" pitchFamily="18" charset="0"/>
                    <a:ea typeface="楷体_GB2312"/>
                    <a:cs typeface="Times New Roman" panose="02020603050405020304" pitchFamily="18" charset="0"/>
                  </a:rPr>
                  <a:t>的导数为常数</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不会出现</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梯度消失</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、梯度饱和问题</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a:t>
                </a:r>
                <a:endParaRPr lang="en-US" altLang="zh-CN" dirty="0" smtClean="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          2</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）训练神经网络能加速收敛，计算简单，复杂度低，不需要进行指数运算。</a:t>
                </a:r>
                <a:endParaRPr lang="en-US" altLang="zh-CN" dirty="0" smtClean="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           3</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当</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&lt;0</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zh-CN" altLang="zh-CN" dirty="0">
                    <a:solidFill>
                      <a:srgbClr val="000000"/>
                    </a:solidFill>
                    <a:latin typeface="Times New Roman" panose="02020603050405020304" pitchFamily="18" charset="0"/>
                    <a:ea typeface="楷体_GB2312"/>
                    <a:cs typeface="Times New Roman" panose="02020603050405020304" pitchFamily="18" charset="0"/>
                  </a:rPr>
                  <a:t>的梯度总是</a:t>
                </a:r>
                <a:r>
                  <a:rPr lang="en-US" altLang="zh-CN" dirty="0">
                    <a:solidFill>
                      <a:srgbClr val="000000"/>
                    </a:solidFill>
                    <a:latin typeface="Times New Roman" panose="02020603050405020304" pitchFamily="18" charset="0"/>
                    <a:ea typeface="楷体_GB2312"/>
                    <a:cs typeface="Times New Roman" panose="02020603050405020304" pitchFamily="18" charset="0"/>
                  </a:rPr>
                  <a:t>0</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，神经元</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死亡</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 </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参与</a:t>
                </a:r>
                <a:r>
                  <a:rPr lang="zh-CN" altLang="zh-CN" dirty="0">
                    <a:solidFill>
                      <a:srgbClr val="000000"/>
                    </a:solidFill>
                    <a:latin typeface="Times New Roman" panose="02020603050405020304" pitchFamily="18" charset="0"/>
                    <a:ea typeface="楷体_GB2312"/>
                    <a:cs typeface="Times New Roman" panose="02020603050405020304" pitchFamily="18" charset="0"/>
                  </a:rPr>
                  <a:t>分类等任务神经元数目稀缺，</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这</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  </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种</a:t>
                </a:r>
                <a:r>
                  <a:rPr lang="zh-CN" altLang="zh-CN" dirty="0">
                    <a:solidFill>
                      <a:srgbClr val="000000"/>
                    </a:solidFill>
                    <a:latin typeface="Times New Roman" panose="02020603050405020304" pitchFamily="18" charset="0"/>
                    <a:ea typeface="楷体_GB2312"/>
                    <a:cs typeface="Times New Roman" panose="02020603050405020304" pitchFamily="18" charset="0"/>
                  </a:rPr>
                  <a:t>稀疏性可以在一定程度上</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克服过</a:t>
                </a:r>
                <a:r>
                  <a:rPr lang="zh-CN" altLang="zh-CN" dirty="0">
                    <a:solidFill>
                      <a:srgbClr val="000000"/>
                    </a:solidFill>
                    <a:latin typeface="Times New Roman" panose="02020603050405020304" pitchFamily="18" charset="0"/>
                    <a:ea typeface="楷体_GB2312"/>
                    <a:cs typeface="Times New Roman" panose="02020603050405020304" pitchFamily="18" charset="0"/>
                  </a:rPr>
                  <a:t>拟合现象</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a:t>
                </a:r>
                <a:endParaRPr lang="en-US" altLang="zh-CN" dirty="0" smtClean="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缺点：极端情况会出现大量</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 </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死亡</a:t>
                </a: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神经元。</a:t>
                </a:r>
                <a:endParaRPr lang="en-US" altLang="zh-CN" dirty="0" smtClean="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使用</a:t>
                </a:r>
                <a:r>
                  <a:rPr lang="zh-CN" altLang="zh-CN" dirty="0">
                    <a:solidFill>
                      <a:srgbClr val="000000"/>
                    </a:solidFill>
                    <a:latin typeface="Times New Roman" panose="02020603050405020304" pitchFamily="18" charset="0"/>
                    <a:ea typeface="楷体_GB2312"/>
                    <a:cs typeface="Times New Roman" panose="02020603050405020304" pitchFamily="18" charset="0"/>
                  </a:rPr>
                  <a:t>其他</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激活函数解决这个问题，</a:t>
                </a:r>
                <a:r>
                  <a:rPr lang="zh-CN" altLang="zh-CN" dirty="0">
                    <a:solidFill>
                      <a:srgbClr val="000000"/>
                    </a:solidFill>
                    <a:latin typeface="Times New Roman" panose="02020603050405020304" pitchFamily="18" charset="0"/>
                    <a:ea typeface="楷体_GB2312"/>
                    <a:cs typeface="Times New Roman" panose="02020603050405020304" pitchFamily="18" charset="0"/>
                  </a:rPr>
                  <a:t>如</a:t>
                </a:r>
                <a:r>
                  <a:rPr lang="en-US" altLang="zh-CN" dirty="0">
                    <a:solidFill>
                      <a:srgbClr val="000000"/>
                    </a:solidFill>
                    <a:latin typeface="Times New Roman" panose="02020603050405020304" pitchFamily="18" charset="0"/>
                    <a:ea typeface="楷体_GB2312"/>
                    <a:cs typeface="Times New Roman" panose="02020603050405020304" pitchFamily="18" charset="0"/>
                  </a:rPr>
                  <a:t> Leaky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或</a:t>
                </a:r>
                <a:r>
                  <a:rPr lang="en-US" altLang="zh-CN" dirty="0">
                    <a:solidFill>
                      <a:srgbClr val="000000"/>
                    </a:solidFill>
                    <a:latin typeface="Times New Roman" panose="02020603050405020304" pitchFamily="18" charset="0"/>
                    <a:ea typeface="楷体_GB2312"/>
                    <a:cs typeface="Times New Roman" panose="02020603050405020304" pitchFamily="18" charset="0"/>
                  </a:rPr>
                  <a:t>Parametric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zh-CN" altLang="zh-CN" dirty="0">
                    <a:solidFill>
                      <a:srgbClr val="000000"/>
                    </a:solidFill>
                    <a:latin typeface="Times New Roman" panose="02020603050405020304" pitchFamily="18" charset="0"/>
                    <a:ea typeface="楷体_GB2312"/>
                    <a:cs typeface="Times New Roman" panose="02020603050405020304" pitchFamily="18" charset="0"/>
                  </a:rPr>
                  <a:t>，它们在</a:t>
                </a:r>
                <a:r>
                  <a:rPr lang="en-US" altLang="zh-CN" dirty="0">
                    <a:solidFill>
                      <a:srgbClr val="000000"/>
                    </a:solidFill>
                    <a:latin typeface="Times New Roman" panose="02020603050405020304" pitchFamily="18" charset="0"/>
                    <a:ea typeface="楷体_GB2312"/>
                    <a:cs typeface="Times New Roman" panose="02020603050405020304" pitchFamily="18" charset="0"/>
                  </a:rPr>
                  <a:t>x &lt; 0</a:t>
                </a:r>
                <a:r>
                  <a:rPr lang="zh-CN" altLang="zh-CN" dirty="0">
                    <a:solidFill>
                      <a:srgbClr val="000000"/>
                    </a:solidFill>
                    <a:latin typeface="Times New Roman" panose="02020603050405020304" pitchFamily="18" charset="0"/>
                    <a:ea typeface="楷体_GB2312"/>
                    <a:cs typeface="Times New Roman" panose="02020603050405020304" pitchFamily="18" charset="0"/>
                  </a:rPr>
                  <a:t>时梯度取值非零。</a:t>
                </a:r>
              </a:p>
            </p:txBody>
          </p:sp>
        </mc:Choice>
        <mc:Fallback xmlns="">
          <p:sp>
            <p:nvSpPr>
              <p:cNvPr id="9" name="矩形 8"/>
              <p:cNvSpPr>
                <a:spLocks noRot="1" noChangeAspect="1" noMove="1" noResize="1" noEditPoints="1" noAdjustHandles="1" noChangeArrowheads="1" noChangeShapeType="1" noTextEdit="1"/>
              </p:cNvSpPr>
              <p:nvPr/>
            </p:nvSpPr>
            <p:spPr>
              <a:xfrm>
                <a:off x="830580" y="3404931"/>
                <a:ext cx="10213340" cy="3000821"/>
              </a:xfrm>
              <a:prstGeom prst="rect">
                <a:avLst/>
              </a:prstGeom>
              <a:blipFill>
                <a:blip r:embed="rId4"/>
                <a:stretch>
                  <a:fillRect l="-477" r="-477" b="-203"/>
                </a:stretch>
              </a:blipFill>
            </p:spPr>
            <p:txBody>
              <a:bodyPr/>
              <a:lstStyle/>
              <a:p>
                <a:r>
                  <a:rPr lang="zh-CN" altLang="en-US">
                    <a:noFill/>
                  </a:rPr>
                  <a:t> </a:t>
                </a:r>
              </a:p>
            </p:txBody>
          </p:sp>
        </mc:Fallback>
      </mc:AlternateContent>
      <p:sp>
        <p:nvSpPr>
          <p:cNvPr id="10" name="矩形 9"/>
          <p:cNvSpPr/>
          <p:nvPr/>
        </p:nvSpPr>
        <p:spPr>
          <a:xfrm>
            <a:off x="1622587" y="6217076"/>
            <a:ext cx="3775393" cy="369332"/>
          </a:xfrm>
          <a:prstGeom prst="rect">
            <a:avLst/>
          </a:prstGeom>
        </p:spPr>
        <p:txBody>
          <a:bodyPr wrap="none">
            <a:spAutoFit/>
          </a:bodyPr>
          <a:lstStyle/>
          <a:p>
            <a:pPr algn="just"/>
            <a:r>
              <a:rPr lang="en-US" altLang="zh-CN" b="1" dirty="0" err="1" smtClean="0">
                <a:solidFill>
                  <a:srgbClr val="C00000"/>
                </a:solidFill>
                <a:latin typeface="Times New Roman" panose="02020603050405020304" pitchFamily="18" charset="0"/>
                <a:cs typeface="Times New Roman" panose="02020603050405020304" pitchFamily="18" charset="0"/>
              </a:rPr>
              <a:t>ReLU</a:t>
            </a:r>
            <a:r>
              <a:rPr lang="zh-CN" altLang="zh-CN" b="1" dirty="0" smtClean="0">
                <a:solidFill>
                  <a:srgbClr val="C00000"/>
                </a:solidFill>
                <a:latin typeface="Times New Roman" panose="02020603050405020304" pitchFamily="18" charset="0"/>
                <a:cs typeface="Times New Roman" panose="02020603050405020304" pitchFamily="18" charset="0"/>
              </a:rPr>
              <a:t>函数</a:t>
            </a:r>
            <a:r>
              <a:rPr lang="en-US" altLang="zh-CN" b="1" dirty="0" smtClean="0">
                <a:solidFill>
                  <a:srgbClr val="C00000"/>
                </a:solidFill>
                <a:latin typeface="Times New Roman" panose="02020603050405020304" pitchFamily="18" charset="0"/>
                <a:cs typeface="Times New Roman" panose="02020603050405020304" pitchFamily="18" charset="0"/>
              </a:rPr>
              <a:t>---</a:t>
            </a:r>
            <a:r>
              <a:rPr lang="zh-CN" altLang="en-US" b="1" dirty="0" smtClean="0">
                <a:solidFill>
                  <a:srgbClr val="C00000"/>
                </a:solidFill>
                <a:latin typeface="Times New Roman" panose="02020603050405020304" pitchFamily="18" charset="0"/>
                <a:cs typeface="Times New Roman" panose="02020603050405020304" pitchFamily="18" charset="0"/>
              </a:rPr>
              <a:t>隐藏层常用的默认选择</a:t>
            </a:r>
            <a:endParaRPr lang="zh-CN" altLang="en-US"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66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76271" y="1662478"/>
            <a:ext cx="2036600" cy="1103178"/>
          </a:xfrm>
          <a:prstGeom prst="rect">
            <a:avLst/>
          </a:prstGeom>
        </p:spPr>
      </p:pic>
      <p:pic>
        <p:nvPicPr>
          <p:cNvPr id="4" name="object 4"/>
          <p:cNvPicPr/>
          <p:nvPr/>
        </p:nvPicPr>
        <p:blipFill>
          <a:blip r:embed="rId3" cstate="print"/>
          <a:stretch>
            <a:fillRect/>
          </a:stretch>
        </p:blipFill>
        <p:spPr>
          <a:xfrm>
            <a:off x="731448" y="3529912"/>
            <a:ext cx="3636733" cy="1106564"/>
          </a:xfrm>
          <a:prstGeom prst="rect">
            <a:avLst/>
          </a:prstGeom>
        </p:spPr>
      </p:pic>
      <p:pic>
        <p:nvPicPr>
          <p:cNvPr id="5" name="object 5"/>
          <p:cNvPicPr/>
          <p:nvPr/>
        </p:nvPicPr>
        <p:blipFill>
          <a:blip r:embed="rId4" cstate="print"/>
          <a:stretch>
            <a:fillRect/>
          </a:stretch>
        </p:blipFill>
        <p:spPr>
          <a:xfrm>
            <a:off x="698379" y="5585492"/>
            <a:ext cx="2570979" cy="847648"/>
          </a:xfrm>
          <a:prstGeom prst="rect">
            <a:avLst/>
          </a:prstGeom>
        </p:spPr>
      </p:pic>
      <p:pic>
        <p:nvPicPr>
          <p:cNvPr id="6" name="object 6"/>
          <p:cNvPicPr/>
          <p:nvPr/>
        </p:nvPicPr>
        <p:blipFill>
          <a:blip r:embed="rId5" cstate="print"/>
          <a:stretch>
            <a:fillRect/>
          </a:stretch>
        </p:blipFill>
        <p:spPr>
          <a:xfrm>
            <a:off x="3605577" y="5598128"/>
            <a:ext cx="2940755" cy="819755"/>
          </a:xfrm>
          <a:prstGeom prst="rect">
            <a:avLst/>
          </a:prstGeom>
        </p:spPr>
      </p:pic>
      <p:pic>
        <p:nvPicPr>
          <p:cNvPr id="7" name="object 7"/>
          <p:cNvPicPr/>
          <p:nvPr/>
        </p:nvPicPr>
        <p:blipFill>
          <a:blip r:embed="rId6" cstate="print"/>
          <a:stretch>
            <a:fillRect/>
          </a:stretch>
        </p:blipFill>
        <p:spPr>
          <a:xfrm>
            <a:off x="5387340" y="1251203"/>
            <a:ext cx="5332475" cy="3685031"/>
          </a:xfrm>
          <a:prstGeom prst="rect">
            <a:avLst/>
          </a:prstGeom>
        </p:spPr>
      </p:pic>
      <p:pic>
        <p:nvPicPr>
          <p:cNvPr id="8" name="object 8"/>
          <p:cNvPicPr/>
          <p:nvPr/>
        </p:nvPicPr>
        <p:blipFill>
          <a:blip r:embed="rId7" cstate="print"/>
          <a:stretch>
            <a:fillRect/>
          </a:stretch>
        </p:blipFill>
        <p:spPr>
          <a:xfrm>
            <a:off x="6984062" y="5730005"/>
            <a:ext cx="2705601" cy="218518"/>
          </a:xfrm>
          <a:prstGeom prst="rect">
            <a:avLst/>
          </a:prstGeom>
        </p:spPr>
      </p:pic>
      <p:sp>
        <p:nvSpPr>
          <p:cNvPr id="9" name="object 9"/>
          <p:cNvSpPr txBox="1"/>
          <p:nvPr/>
        </p:nvSpPr>
        <p:spPr>
          <a:xfrm>
            <a:off x="6671820" y="5121957"/>
            <a:ext cx="36830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Microsoft YaHei"/>
                <a:cs typeface="Microsoft YaHei"/>
              </a:rPr>
              <a:t>当前的大模型中用的什么激活函数？</a:t>
            </a:r>
            <a:endParaRPr sz="1800">
              <a:latin typeface="Microsoft YaHei"/>
              <a:cs typeface="Microsoft YaHei"/>
            </a:endParaRPr>
          </a:p>
        </p:txBody>
      </p:sp>
      <p:sp>
        <p:nvSpPr>
          <p:cNvPr id="12" name="标题 1">
            <a:extLst>
              <a:ext uri="{FF2B5EF4-FFF2-40B4-BE49-F238E27FC236}">
                <a16:creationId xmlns:a16="http://schemas.microsoft.com/office/drawing/2014/main" id="{A1BABAE5-CE23-E738-5B71-C2169A05176B}"/>
              </a:ext>
            </a:extLst>
          </p:cNvPr>
          <p:cNvSpPr>
            <a:spLocks noGrp="1"/>
          </p:cNvSpPr>
          <p:nvPr>
            <p:ph type="title"/>
          </p:nvPr>
        </p:nvSpPr>
        <p:spPr>
          <a:xfrm>
            <a:off x="132080" y="167400"/>
            <a:ext cx="11191240" cy="701675"/>
          </a:xfrm>
        </p:spPr>
        <p:txBody>
          <a:bodyPr>
            <a:normAutofit/>
          </a:bodyPr>
          <a:lstStyle/>
          <a:p>
            <a:r>
              <a:rPr lang="zh-CN" altLang="en-US" sz="3200" b="1" dirty="0"/>
              <a:t>人工神经网络和深度学习</a:t>
            </a:r>
            <a:r>
              <a:rPr lang="en-US" altLang="zh-CN" sz="3200" b="1" dirty="0"/>
              <a:t>---</a:t>
            </a:r>
            <a:r>
              <a:rPr lang="zh-CN" altLang="en-US" sz="3200" b="1" dirty="0"/>
              <a:t>常见激活函数</a:t>
            </a:r>
          </a:p>
        </p:txBody>
      </p:sp>
    </p:spTree>
    <p:extLst>
      <p:ext uri="{BB962C8B-B14F-4D97-AF65-F5344CB8AC3E}">
        <p14:creationId xmlns:p14="http://schemas.microsoft.com/office/powerpoint/2010/main" val="2836368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A1BABAE5-CE23-E738-5B71-C2169A05176B}"/>
              </a:ext>
            </a:extLst>
          </p:cNvPr>
          <p:cNvSpPr>
            <a:spLocks noGrp="1"/>
          </p:cNvSpPr>
          <p:nvPr>
            <p:ph type="title"/>
          </p:nvPr>
        </p:nvSpPr>
        <p:spPr>
          <a:xfrm>
            <a:off x="132080" y="167400"/>
            <a:ext cx="11191240" cy="701675"/>
          </a:xfrm>
        </p:spPr>
        <p:txBody>
          <a:bodyPr>
            <a:normAutofit/>
          </a:bodyPr>
          <a:lstStyle/>
          <a:p>
            <a:r>
              <a:rPr lang="zh-CN" altLang="en-US" sz="3200" b="1" dirty="0"/>
              <a:t>人工神经网络和深度学习</a:t>
            </a:r>
            <a:r>
              <a:rPr lang="en-US" altLang="zh-CN" sz="3200" b="1" dirty="0"/>
              <a:t>---</a:t>
            </a:r>
            <a:r>
              <a:rPr lang="zh-CN" altLang="en-US" sz="3200" b="1" dirty="0"/>
              <a:t>常见激活函数</a:t>
            </a:r>
          </a:p>
        </p:txBody>
      </p:sp>
      <p:sp>
        <p:nvSpPr>
          <p:cNvPr id="10" name="矩形 9">
            <a:extLst>
              <a:ext uri="{FF2B5EF4-FFF2-40B4-BE49-F238E27FC236}">
                <a16:creationId xmlns:a16="http://schemas.microsoft.com/office/drawing/2014/main" id="{07AA08C2-64DA-46C3-8D52-03A7B0581850}"/>
              </a:ext>
            </a:extLst>
          </p:cNvPr>
          <p:cNvSpPr/>
          <p:nvPr/>
        </p:nvSpPr>
        <p:spPr>
          <a:xfrm>
            <a:off x="2361252" y="1046989"/>
            <a:ext cx="2586291" cy="800219"/>
          </a:xfrm>
          <a:prstGeom prst="rect">
            <a:avLst/>
          </a:prstGeom>
        </p:spPr>
        <p:txBody>
          <a:bodyPr wrap="square">
            <a:spAutoFit/>
          </a:bodyPr>
          <a:lstStyle/>
          <a:p>
            <a:endParaRPr lang="zh-CN" altLang="en-US" sz="2800" dirty="0">
              <a:solidFill>
                <a:srgbClr val="000000"/>
              </a:solidFill>
              <a:latin typeface="Helvetica Light"/>
            </a:endParaRPr>
          </a:p>
          <a:p>
            <a:pPr algn="just"/>
            <a:r>
              <a:rPr lang="en-US" altLang="zh-CN" b="1" dirty="0" err="1">
                <a:solidFill>
                  <a:srgbClr val="C00000"/>
                </a:solidFill>
                <a:latin typeface="Times New Roman" panose="02020603050405020304" pitchFamily="18" charset="0"/>
                <a:cs typeface="Times New Roman" panose="02020603050405020304" pitchFamily="18" charset="0"/>
              </a:rPr>
              <a:t>Softmax</a:t>
            </a:r>
            <a:r>
              <a:rPr lang="zh-CN" altLang="zh-CN" b="1" dirty="0">
                <a:solidFill>
                  <a:srgbClr val="C00000"/>
                </a:solidFill>
                <a:latin typeface="Times New Roman" panose="02020603050405020304" pitchFamily="18" charset="0"/>
                <a:cs typeface="Times New Roman" panose="02020603050405020304" pitchFamily="18" charset="0"/>
              </a:rPr>
              <a:t>激活函数</a:t>
            </a:r>
            <a:endParaRPr lang="zh-CN" altLang="en-US"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29EE2B80-0081-4515-8633-74BA45AF6844}"/>
                  </a:ext>
                </a:extLst>
              </p:cNvPr>
              <p:cNvSpPr/>
              <p:nvPr/>
            </p:nvSpPr>
            <p:spPr>
              <a:xfrm>
                <a:off x="5727700" y="1248167"/>
                <a:ext cx="3033010" cy="7378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r>
                        <a:rPr lang="zh-CN" altLang="en-US" i="0">
                          <a:latin typeface="Cambria Math" panose="02040503050406030204" pitchFamily="18" charset="0"/>
                        </a:rPr>
                        <m:t>=</m:t>
                      </m:r>
                      <m:r>
                        <m:rPr>
                          <m:sty m:val="p"/>
                        </m:rPr>
                        <a:rPr lang="zh-CN" altLang="en-US" i="0">
                          <a:latin typeface="Cambria Math" panose="02040503050406030204" pitchFamily="18" charset="0"/>
                        </a:rPr>
                        <m:t>softmax</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e>
                      </m:d>
                      <m:r>
                        <a:rPr lang="zh-CN" altLang="en-US" i="0">
                          <a:latin typeface="Cambria Math" panose="02040503050406030204" pitchFamily="18" charset="0"/>
                        </a:rPr>
                        <m:t>=</m:t>
                      </m:r>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sup>
                          </m:sSup>
                        </m:num>
                        <m:den>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=1</m:t>
                              </m:r>
                            </m:sub>
                            <m:sup>
                              <m:r>
                                <a:rPr lang="zh-CN" altLang="en-US" i="1">
                                  <a:latin typeface="Cambria Math" panose="02040503050406030204" pitchFamily="18" charset="0"/>
                                </a:rPr>
                                <m:t>𝑘</m:t>
                              </m:r>
                            </m:sup>
                            <m:e>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𝑗</m:t>
                                      </m:r>
                                    </m:sub>
                                  </m:sSub>
                                </m:sup>
                              </m:sSup>
                            </m:e>
                          </m:nary>
                        </m:den>
                      </m:f>
                    </m:oMath>
                  </m:oMathPara>
                </a14:m>
                <a:endParaRPr lang="zh-CN" altLang="en-US" dirty="0"/>
              </a:p>
            </p:txBody>
          </p:sp>
        </mc:Choice>
        <mc:Fallback xmlns="">
          <p:sp>
            <p:nvSpPr>
              <p:cNvPr id="11" name="矩形 10">
                <a:extLst>
                  <a:ext uri="{FF2B5EF4-FFF2-40B4-BE49-F238E27FC236}">
                    <a16:creationId xmlns:a16="http://schemas.microsoft.com/office/drawing/2014/main" id="{29EE2B80-0081-4515-8633-74BA45AF6844}"/>
                  </a:ext>
                </a:extLst>
              </p:cNvPr>
              <p:cNvSpPr>
                <a:spLocks noRot="1" noChangeAspect="1" noMove="1" noResize="1" noEditPoints="1" noAdjustHandles="1" noChangeArrowheads="1" noChangeShapeType="1" noTextEdit="1"/>
              </p:cNvSpPr>
              <p:nvPr/>
            </p:nvSpPr>
            <p:spPr>
              <a:xfrm>
                <a:off x="5727700" y="1248167"/>
                <a:ext cx="3033010" cy="737831"/>
              </a:xfrm>
              <a:prstGeom prst="rect">
                <a:avLst/>
              </a:prstGeom>
              <a:blipFill>
                <a:blip r:embed="rId2"/>
                <a:stretch>
                  <a:fillRect/>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747D83A9-4663-4929-AC0D-09F30CED8C14}"/>
              </a:ext>
            </a:extLst>
          </p:cNvPr>
          <p:cNvPicPr>
            <a:picLocks noChangeAspect="1"/>
          </p:cNvPicPr>
          <p:nvPr/>
        </p:nvPicPr>
        <p:blipFill>
          <a:blip r:embed="rId3"/>
          <a:stretch>
            <a:fillRect/>
          </a:stretch>
        </p:blipFill>
        <p:spPr>
          <a:xfrm>
            <a:off x="6837681" y="2229996"/>
            <a:ext cx="3886200" cy="3454117"/>
          </a:xfrm>
          <a:prstGeom prst="rect">
            <a:avLst/>
          </a:prstGeom>
        </p:spPr>
      </p:pic>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BCDC1FE-864A-4716-83F9-0501E6D86C1F}"/>
                  </a:ext>
                </a:extLst>
              </p:cNvPr>
              <p:cNvSpPr/>
              <p:nvPr/>
            </p:nvSpPr>
            <p:spPr>
              <a:xfrm>
                <a:off x="706120" y="2578483"/>
                <a:ext cx="5689599" cy="3000821"/>
              </a:xfrm>
              <a:prstGeom prst="rect">
                <a:avLst/>
              </a:prstGeom>
            </p:spPr>
            <p:txBody>
              <a:bodyPr wrap="square">
                <a:spAutoFit/>
              </a:bodyPr>
              <a:lstStyle/>
              <a:p>
                <a:pPr indent="266700" algn="just">
                  <a:lnSpc>
                    <a:spcPct val="150000"/>
                  </a:lnSpc>
                  <a:spcAft>
                    <a:spcPts val="0"/>
                  </a:spcAft>
                </a:pP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Softmax</a:t>
                </a:r>
                <a:r>
                  <a:rPr lang="zh-CN" altLang="zh-CN" dirty="0">
                    <a:solidFill>
                      <a:srgbClr val="000000"/>
                    </a:solidFill>
                    <a:latin typeface="Times New Roman" panose="02020603050405020304" pitchFamily="18" charset="0"/>
                    <a:ea typeface="楷体_GB2312"/>
                    <a:cs typeface="Times New Roman" panose="02020603050405020304" pitchFamily="18" charset="0"/>
                  </a:rPr>
                  <a:t>函数一般用于多</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分类</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任务最后一层</a:t>
                </a:r>
                <a:endParaRPr lang="en-US" altLang="zh-CN" dirty="0" smtClean="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en-US" altLang="zh-CN" dirty="0" smtClean="0">
                    <a:solidFill>
                      <a:srgbClr val="000000"/>
                    </a:solidFill>
                    <a:latin typeface="Times New Roman" panose="02020603050405020304" pitchFamily="18" charset="0"/>
                    <a:ea typeface="楷体_GB2312"/>
                    <a:cs typeface="Times New Roman" panose="02020603050405020304" pitchFamily="18" charset="0"/>
                  </a:rPr>
                  <a:t> </a:t>
                </a:r>
                <a:r>
                  <a:rPr lang="en-US" altLang="zh-CN" dirty="0" err="1" smtClean="0">
                    <a:solidFill>
                      <a:srgbClr val="000000"/>
                    </a:solidFill>
                    <a:latin typeface="Times New Roman" panose="02020603050405020304" pitchFamily="18" charset="0"/>
                    <a:ea typeface="楷体_GB2312"/>
                    <a:cs typeface="Times New Roman" panose="02020603050405020304" pitchFamily="18" charset="0"/>
                  </a:rPr>
                  <a:t>Softmax</a:t>
                </a:r>
                <a:r>
                  <a:rPr lang="zh-CN" altLang="zh-CN" dirty="0">
                    <a:solidFill>
                      <a:srgbClr val="000000"/>
                    </a:solidFill>
                    <a:latin typeface="Times New Roman" panose="02020603050405020304" pitchFamily="18" charset="0"/>
                    <a:ea typeface="楷体_GB2312"/>
                    <a:cs typeface="Times New Roman" panose="02020603050405020304" pitchFamily="18" charset="0"/>
                  </a:rPr>
                  <a:t>函数将</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输入</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向量</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映射</a:t>
                </a:r>
                <a:r>
                  <a:rPr lang="zh-CN" altLang="zh-CN" dirty="0">
                    <a:solidFill>
                      <a:srgbClr val="000000"/>
                    </a:solidFill>
                    <a:latin typeface="Times New Roman" panose="02020603050405020304" pitchFamily="18" charset="0"/>
                    <a:ea typeface="楷体_GB2312"/>
                    <a:cs typeface="Times New Roman" panose="02020603050405020304" pitchFamily="18" charset="0"/>
                  </a:rPr>
                  <a:t>到第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个类别的概率</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b="0" i="0" smtClean="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0&lt;</m:t>
                        </m:r>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&lt;1</m:t>
                    </m:r>
                  </m:oMath>
                </a14:m>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a:t>
                </a:r>
                <a:endParaRPr lang="en-US" altLang="zh-CN" dirty="0" smtClean="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图</a:t>
                </a:r>
                <a:r>
                  <a:rPr lang="en-US" altLang="zh-CN" dirty="0">
                    <a:solidFill>
                      <a:srgbClr val="000000"/>
                    </a:solidFill>
                    <a:latin typeface="Times New Roman" panose="02020603050405020304" pitchFamily="18" charset="0"/>
                    <a:ea typeface="楷体_GB2312"/>
                    <a:cs typeface="Times New Roman" panose="02020603050405020304" pitchFamily="18" charset="0"/>
                  </a:rPr>
                  <a:t>5.5</a:t>
                </a:r>
                <a:r>
                  <a:rPr lang="zh-CN" altLang="zh-CN" dirty="0">
                    <a:solidFill>
                      <a:srgbClr val="000000"/>
                    </a:solidFill>
                    <a:latin typeface="Times New Roman" panose="02020603050405020304" pitchFamily="18" charset="0"/>
                    <a:ea typeface="楷体_GB2312"/>
                    <a:cs typeface="Times New Roman" panose="02020603050405020304" pitchFamily="18" charset="0"/>
                  </a:rPr>
                  <a:t>给出了三类分类问题的</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dirty="0">
                    <a:solidFill>
                      <a:srgbClr val="000000"/>
                    </a:solidFill>
                    <a:latin typeface="Times New Roman" panose="02020603050405020304" pitchFamily="18" charset="0"/>
                    <a:ea typeface="楷体_GB2312"/>
                    <a:cs typeface="Times New Roman" panose="02020603050405020304" pitchFamily="18" charset="0"/>
                  </a:rPr>
                  <a:t>输出示意图</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由于</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dirty="0">
                    <a:solidFill>
                      <a:srgbClr val="000000"/>
                    </a:solidFill>
                    <a:latin typeface="Times New Roman" panose="02020603050405020304" pitchFamily="18" charset="0"/>
                    <a:ea typeface="楷体_GB2312"/>
                    <a:cs typeface="Times New Roman" panose="02020603050405020304" pitchFamily="18" charset="0"/>
                  </a:rPr>
                  <a:t>输出结果的值累加起来为</a:t>
                </a:r>
                <a:r>
                  <a:rPr lang="en-US" altLang="zh-CN" dirty="0">
                    <a:solidFill>
                      <a:srgbClr val="000000"/>
                    </a:solidFill>
                    <a:latin typeface="Times New Roman" panose="02020603050405020304" pitchFamily="18" charset="0"/>
                    <a:ea typeface="楷体_GB2312"/>
                    <a:cs typeface="Times New Roman" panose="02020603050405020304" pitchFamily="18" charset="0"/>
                  </a:rPr>
                  <a:t>1</a:t>
                </a:r>
                <a:r>
                  <a:rPr lang="zh-CN" altLang="zh-CN" dirty="0">
                    <a:solidFill>
                      <a:srgbClr val="000000"/>
                    </a:solidFill>
                    <a:latin typeface="Times New Roman" panose="02020603050405020304" pitchFamily="18" charset="0"/>
                    <a:ea typeface="楷体_GB2312"/>
                    <a:cs typeface="Times New Roman" panose="02020603050405020304" pitchFamily="18" charset="0"/>
                  </a:rPr>
                  <a:t>，因此可将输出概率最大的作为分类目标（图</a:t>
                </a:r>
                <a:r>
                  <a:rPr lang="en-US" altLang="zh-CN" dirty="0">
                    <a:solidFill>
                      <a:srgbClr val="000000"/>
                    </a:solidFill>
                    <a:latin typeface="Times New Roman" panose="02020603050405020304" pitchFamily="18" charset="0"/>
                    <a:ea typeface="楷体_GB2312"/>
                    <a:cs typeface="Times New Roman" panose="02020603050405020304" pitchFamily="18" charset="0"/>
                  </a:rPr>
                  <a:t>5.5</a:t>
                </a:r>
                <a:r>
                  <a:rPr lang="zh-CN" altLang="zh-CN" dirty="0">
                    <a:solidFill>
                      <a:srgbClr val="000000"/>
                    </a:solidFill>
                    <a:latin typeface="Times New Roman" panose="02020603050405020304" pitchFamily="18" charset="0"/>
                    <a:ea typeface="楷体_GB2312"/>
                    <a:cs typeface="Times New Roman" panose="02020603050405020304" pitchFamily="18" charset="0"/>
                  </a:rPr>
                  <a:t>中被分类为第一类）。</a:t>
                </a:r>
              </a:p>
            </p:txBody>
          </p:sp>
        </mc:Choice>
        <mc:Fallback xmlns="">
          <p:sp>
            <p:nvSpPr>
              <p:cNvPr id="14" name="矩形 13">
                <a:extLst>
                  <a:ext uri="{FF2B5EF4-FFF2-40B4-BE49-F238E27FC236}">
                    <a16:creationId xmlns:a16="http://schemas.microsoft.com/office/drawing/2014/main" id="{EBCDC1FE-864A-4716-83F9-0501E6D86C1F}"/>
                  </a:ext>
                </a:extLst>
              </p:cNvPr>
              <p:cNvSpPr>
                <a:spLocks noRot="1" noChangeAspect="1" noMove="1" noResize="1" noEditPoints="1" noAdjustHandles="1" noChangeArrowheads="1" noChangeShapeType="1" noTextEdit="1"/>
              </p:cNvSpPr>
              <p:nvPr/>
            </p:nvSpPr>
            <p:spPr>
              <a:xfrm>
                <a:off x="706120" y="2578483"/>
                <a:ext cx="5689599" cy="3000821"/>
              </a:xfrm>
              <a:prstGeom prst="rect">
                <a:avLst/>
              </a:prstGeom>
              <a:blipFill>
                <a:blip r:embed="rId4"/>
                <a:stretch>
                  <a:fillRect l="-965" r="-857" b="-2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77491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3">
            <a:extLst>
              <a:ext uri="{FF2B5EF4-FFF2-40B4-BE49-F238E27FC236}">
                <a16:creationId xmlns:a16="http://schemas.microsoft.com/office/drawing/2014/main" id="{F453FE49-7E02-6D53-E7E1-B243F939D421}"/>
              </a:ext>
            </a:extLst>
          </p:cNvPr>
          <p:cNvSpPr txBox="1">
            <a:spLocks/>
          </p:cNvSpPr>
          <p:nvPr/>
        </p:nvSpPr>
        <p:spPr>
          <a:xfrm>
            <a:off x="609600" y="1066800"/>
            <a:ext cx="10972800" cy="5062538"/>
          </a:xfrm>
          <a:prstGeom prst="rect">
            <a:avLst/>
          </a:prstGeom>
        </p:spPr>
        <p:txBody>
          <a:bodyPr/>
          <a:lstStyle>
            <a:lvl1pPr marL="204783" indent="-204783" algn="l" rtl="0" eaLnBrk="1" fontAlgn="base" hangingPunct="1">
              <a:spcBef>
                <a:spcPts val="451"/>
              </a:spcBef>
              <a:spcAft>
                <a:spcPts val="600"/>
              </a:spcAft>
              <a:buClr>
                <a:schemeClr val="accent1"/>
              </a:buClr>
              <a:buSzPct val="76000"/>
              <a:buFont typeface="Wingdings 3" panose="05040102010807070707" pitchFamily="18" charset="2"/>
              <a:buChar char=""/>
              <a:defRPr sz="2400" kern="1200" baseline="0">
                <a:solidFill>
                  <a:srgbClr val="000000"/>
                </a:solidFill>
                <a:latin typeface="+mn-lt"/>
                <a:ea typeface="+mn-ea"/>
                <a:cs typeface="+mn-cs"/>
              </a:defRPr>
            </a:lvl1pPr>
            <a:lvl2pPr marL="410756" indent="-204783" algn="l" rtl="0" eaLnBrk="1" fontAlgn="base" hangingPunct="1">
              <a:spcBef>
                <a:spcPts val="375"/>
              </a:spcBef>
              <a:spcAft>
                <a:spcPts val="600"/>
              </a:spcAft>
              <a:buClr>
                <a:schemeClr val="accent2"/>
              </a:buClr>
              <a:buSzPct val="76000"/>
              <a:buFont typeface="Wingdings 3" panose="05040102010807070707" pitchFamily="18" charset="2"/>
              <a:buChar char=""/>
              <a:defRPr sz="2133" kern="1200" baseline="0">
                <a:solidFill>
                  <a:srgbClr val="000000"/>
                </a:solidFill>
                <a:latin typeface="+mn-lt"/>
                <a:ea typeface="+mn-ea"/>
                <a:cs typeface="+mn-cs"/>
              </a:defRPr>
            </a:lvl2pPr>
            <a:lvl3pPr marL="616729" indent="-171446" algn="l" rtl="0" eaLnBrk="1" fontAlgn="base" hangingPunct="1">
              <a:spcBef>
                <a:spcPts val="375"/>
              </a:spcBef>
              <a:spcAft>
                <a:spcPct val="0"/>
              </a:spcAft>
              <a:buClr>
                <a:srgbClr val="BCBCBC"/>
              </a:buClr>
              <a:buSzPct val="76000"/>
              <a:buFont typeface="Wingdings 3" panose="05040102010807070707" pitchFamily="18" charset="2"/>
              <a:buChar char=""/>
              <a:defRPr sz="1600" kern="1200" baseline="0">
                <a:solidFill>
                  <a:srgbClr val="000000"/>
                </a:solidFill>
                <a:latin typeface="+mn-lt"/>
                <a:ea typeface="+mn-ea"/>
                <a:cs typeface="+mn-cs"/>
              </a:defRPr>
            </a:lvl3pPr>
            <a:lvl4pPr marL="822702" indent="-171446" algn="l" rtl="0" eaLnBrk="1" fontAlgn="base" hangingPunct="1">
              <a:spcBef>
                <a:spcPts val="300"/>
              </a:spcBef>
              <a:spcAft>
                <a:spcPct val="0"/>
              </a:spcAft>
              <a:buClr>
                <a:srgbClr val="CF5716"/>
              </a:buClr>
              <a:buSzPct val="70000"/>
              <a:buFont typeface="Wingdings" panose="05000000000000000000" pitchFamily="2" charset="2"/>
              <a:buChar char=""/>
              <a:defRPr sz="1200" kern="1200" baseline="0">
                <a:solidFill>
                  <a:schemeClr val="tx1"/>
                </a:solidFill>
                <a:latin typeface="+mn-lt"/>
                <a:ea typeface="+mn-ea"/>
                <a:cs typeface="+mn-cs"/>
              </a:defRPr>
            </a:lvl4pPr>
            <a:lvl5pPr marL="1028674" indent="-171446" algn="l" rtl="0" eaLnBrk="1" fontAlgn="base" hangingPunct="1">
              <a:spcBef>
                <a:spcPts val="225"/>
              </a:spcBef>
              <a:spcAft>
                <a:spcPct val="0"/>
              </a:spcAft>
              <a:buClr>
                <a:schemeClr val="accent2"/>
              </a:buClr>
              <a:buSzPct val="70000"/>
              <a:buFont typeface="Wingdings" panose="05000000000000000000" pitchFamily="2" charset="2"/>
              <a:buChar char=""/>
              <a:defRPr sz="1400" kern="1200" baseline="0">
                <a:solidFill>
                  <a:schemeClr val="tx1"/>
                </a:solidFill>
                <a:latin typeface="+mn-lt"/>
                <a:ea typeface="+mn-ea"/>
                <a:cs typeface="+mn-cs"/>
              </a:defRPr>
            </a:lvl5pPr>
            <a:lvl6pPr marL="1234409" indent="-137157"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566" indent="-137157" algn="l" rtl="0" eaLnBrk="1" latinLnBrk="0" hangingPunct="1">
              <a:spcBef>
                <a:spcPts val="225"/>
              </a:spcBef>
              <a:buClr>
                <a:srgbClr val="727CA3">
                  <a:shade val="75000"/>
                </a:srgbClr>
              </a:buClr>
              <a:buSzPct val="75000"/>
              <a:buFont typeface="Wingdings 3"/>
              <a:buChar char=""/>
              <a:defRPr kumimoji="0" lang="en-US" sz="1051" kern="1200" smtClean="0">
                <a:solidFill>
                  <a:schemeClr val="tx1"/>
                </a:solidFill>
                <a:latin typeface="+mn-lt"/>
                <a:ea typeface="+mn-ea"/>
                <a:cs typeface="+mn-cs"/>
              </a:defRPr>
            </a:lvl7pPr>
            <a:lvl8pPr marL="1508722" indent="-137157" algn="l" rtl="0" eaLnBrk="1" latinLnBrk="0" hangingPunct="1">
              <a:spcBef>
                <a:spcPts val="225"/>
              </a:spcBef>
              <a:buClr>
                <a:prstClr val="white">
                  <a:shade val="50000"/>
                </a:prstClr>
              </a:buClr>
              <a:buSzPct val="75000"/>
              <a:buFont typeface="Wingdings 3"/>
              <a:buChar char=""/>
              <a:defRPr kumimoji="0" lang="en-US" sz="1051" kern="1200" smtClean="0">
                <a:solidFill>
                  <a:schemeClr val="tx1"/>
                </a:solidFill>
                <a:latin typeface="+mn-lt"/>
                <a:ea typeface="+mn-ea"/>
                <a:cs typeface="+mn-cs"/>
              </a:defRPr>
            </a:lvl8pPr>
            <a:lvl9pPr marL="1645879" indent="-137157"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a:lstStyle>
          <a:p>
            <a:r>
              <a:rPr lang="zh-CN" altLang="en-US" dirty="0">
                <a:solidFill>
                  <a:srgbClr val="C00000"/>
                </a:solidFill>
              </a:rPr>
              <a:t>人工神经网络由神经元模型构成，这种由许多神经元组成的信息处理网络具有并行分布结构。</a:t>
            </a:r>
          </a:p>
        </p:txBody>
      </p:sp>
      <p:pic>
        <p:nvPicPr>
          <p:cNvPr id="3" name="图片 2">
            <a:extLst>
              <a:ext uri="{FF2B5EF4-FFF2-40B4-BE49-F238E27FC236}">
                <a16:creationId xmlns:a16="http://schemas.microsoft.com/office/drawing/2014/main" id="{16F9F4CE-B589-4727-9497-9C241AA92E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6371" y="2362591"/>
            <a:ext cx="6945267" cy="2253402"/>
          </a:xfrm>
          <a:prstGeom prst="rect">
            <a:avLst/>
          </a:prstGeom>
        </p:spPr>
      </p:pic>
      <p:sp>
        <p:nvSpPr>
          <p:cNvPr id="4" name="矩形 3">
            <a:extLst>
              <a:ext uri="{FF2B5EF4-FFF2-40B4-BE49-F238E27FC236}">
                <a16:creationId xmlns:a16="http://schemas.microsoft.com/office/drawing/2014/main" id="{448F4CB9-3818-4CEB-9306-AE1FFBBDC714}"/>
              </a:ext>
            </a:extLst>
          </p:cNvPr>
          <p:cNvSpPr/>
          <p:nvPr/>
        </p:nvSpPr>
        <p:spPr>
          <a:xfrm>
            <a:off x="2961004" y="4877712"/>
            <a:ext cx="6096000" cy="369332"/>
          </a:xfrm>
          <a:prstGeom prst="rect">
            <a:avLst/>
          </a:prstGeom>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zh-CN" altLang="en-US" dirty="0"/>
              <a:t>圆形节点表示一个神经元，方形节点表示一组神经元。</a:t>
            </a:r>
          </a:p>
        </p:txBody>
      </p:sp>
      <p:sp>
        <p:nvSpPr>
          <p:cNvPr id="6" name="标题 1">
            <a:extLst>
              <a:ext uri="{FF2B5EF4-FFF2-40B4-BE49-F238E27FC236}">
                <a16:creationId xmlns:a16="http://schemas.microsoft.com/office/drawing/2014/main" id="{A1BABAE5-CE23-E738-5B71-C2169A05176B}"/>
              </a:ext>
            </a:extLst>
          </p:cNvPr>
          <p:cNvSpPr txBox="1">
            <a:spLocks/>
          </p:cNvSpPr>
          <p:nvPr/>
        </p:nvSpPr>
        <p:spPr>
          <a:xfrm>
            <a:off x="152400" y="185392"/>
            <a:ext cx="11226800" cy="7016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人工神经网络和深度学习</a:t>
            </a:r>
            <a:r>
              <a:rPr lang="en-US" altLang="zh-CN" sz="3200" b="1" dirty="0" smtClean="0"/>
              <a:t>---</a:t>
            </a:r>
            <a:r>
              <a:rPr lang="zh-CN" altLang="en-US" sz="3200" b="1" dirty="0" smtClean="0"/>
              <a:t>网络结构</a:t>
            </a:r>
            <a:endParaRPr lang="zh-CN" altLang="en-US" sz="3200" b="1" dirty="0"/>
          </a:p>
        </p:txBody>
      </p:sp>
    </p:spTree>
    <p:extLst>
      <p:ext uri="{BB962C8B-B14F-4D97-AF65-F5344CB8AC3E}">
        <p14:creationId xmlns:p14="http://schemas.microsoft.com/office/powerpoint/2010/main" val="561298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1BABAE5-CE23-E738-5B71-C2169A05176B}"/>
              </a:ext>
            </a:extLst>
          </p:cNvPr>
          <p:cNvSpPr txBox="1">
            <a:spLocks/>
          </p:cNvSpPr>
          <p:nvPr/>
        </p:nvSpPr>
        <p:spPr>
          <a:xfrm>
            <a:off x="563880" y="657832"/>
            <a:ext cx="11226800" cy="7016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人工神经网络和深度学习</a:t>
            </a:r>
            <a:r>
              <a:rPr lang="en-US" altLang="zh-CN" sz="3200" b="1" dirty="0" smtClean="0"/>
              <a:t>---</a:t>
            </a:r>
            <a:r>
              <a:rPr lang="zh-CN" altLang="en-US" sz="3200" b="1" dirty="0"/>
              <a:t>神经网络参数优化</a:t>
            </a:r>
          </a:p>
          <a:p>
            <a:endParaRPr lang="zh-CN" altLang="en-US" sz="3200" b="1" dirty="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5705535-D491-4DF3-A0AE-D4F44A91B4EC}"/>
                  </a:ext>
                </a:extLst>
              </p:cNvPr>
              <p:cNvSpPr/>
              <p:nvPr/>
            </p:nvSpPr>
            <p:spPr>
              <a:xfrm>
                <a:off x="356322" y="1950134"/>
                <a:ext cx="10934925" cy="4194738"/>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多</a:t>
                </a:r>
                <a:r>
                  <a:rPr lang="zh-CN" altLang="zh-CN" dirty="0">
                    <a:solidFill>
                      <a:srgbClr val="000000"/>
                    </a:solidFill>
                    <a:latin typeface="Times New Roman" panose="02020603050405020304" pitchFamily="18" charset="0"/>
                    <a:ea typeface="楷体_GB2312"/>
                    <a:cs typeface="Times New Roman" panose="02020603050405020304" pitchFamily="18" charset="0"/>
                  </a:rPr>
                  <a:t>层</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神经网络结构</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设计完成</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后</a:t>
                </a:r>
                <a:r>
                  <a:rPr lang="zh-CN" altLang="en-US"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需要</a:t>
                </a:r>
                <a:r>
                  <a:rPr lang="zh-CN" altLang="zh-CN" dirty="0">
                    <a:solidFill>
                      <a:srgbClr val="000000"/>
                    </a:solidFill>
                    <a:latin typeface="Times New Roman" panose="02020603050405020304" pitchFamily="18" charset="0"/>
                    <a:ea typeface="楷体_GB2312"/>
                    <a:cs typeface="Times New Roman" panose="02020603050405020304" pitchFamily="18" charset="0"/>
                  </a:rPr>
                  <a:t>对神经网络中</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参数进行</a:t>
                </a:r>
                <a:r>
                  <a:rPr lang="zh-CN" altLang="zh-CN" dirty="0">
                    <a:solidFill>
                      <a:srgbClr val="000000"/>
                    </a:solidFill>
                    <a:latin typeface="Times New Roman" panose="02020603050405020304" pitchFamily="18" charset="0"/>
                    <a:ea typeface="楷体_GB2312"/>
                    <a:cs typeface="Times New Roman" panose="02020603050405020304" pitchFamily="18" charset="0"/>
                  </a:rPr>
                  <a:t>优化学习，以使得神经网络能够将给定输入数据映射到所期望的输出语义</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空间，</a:t>
                </a:r>
                <a:r>
                  <a:rPr lang="zh-CN" altLang="zh-CN" dirty="0">
                    <a:solidFill>
                      <a:srgbClr val="000000"/>
                    </a:solidFill>
                    <a:latin typeface="Times New Roman" panose="02020603050405020304" pitchFamily="18" charset="0"/>
                    <a:ea typeface="楷体_GB2312"/>
                    <a:cs typeface="Times New Roman" panose="02020603050405020304" pitchFamily="18" charset="0"/>
                  </a:rPr>
                  <a:t>完成分类识别等任务。</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神经网络参数优化是一个监督学习的</a:t>
                </a: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过程，通过</a:t>
                </a:r>
                <a:r>
                  <a:rPr lang="zh-CN" altLang="zh-CN" dirty="0">
                    <a:solidFill>
                      <a:srgbClr val="000000"/>
                    </a:solidFill>
                    <a:latin typeface="Times New Roman" panose="02020603050405020304" pitchFamily="18" charset="0"/>
                    <a:ea typeface="楷体_GB2312"/>
                    <a:cs typeface="Times New Roman" panose="02020603050405020304" pitchFamily="18" charset="0"/>
                  </a:rPr>
                  <a:t>损失函数来计算模型预测值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与真实值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之间误差或损失，利用其来优化模型参数，以便让神经网络按照</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的真实信息</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输出。</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smtClean="0">
                    <a:solidFill>
                      <a:srgbClr val="000000"/>
                    </a:solidFill>
                    <a:latin typeface="Times New Roman" panose="02020603050405020304" pitchFamily="18" charset="0"/>
                    <a:ea typeface="楷体_GB2312"/>
                    <a:cs typeface="Times New Roman" panose="02020603050405020304" pitchFamily="18" charset="0"/>
                  </a:rPr>
                  <a:t>模型利用</a:t>
                </a:r>
                <a:r>
                  <a:rPr lang="zh-CN" altLang="zh-CN" dirty="0">
                    <a:solidFill>
                      <a:srgbClr val="000000"/>
                    </a:solidFill>
                    <a:latin typeface="Times New Roman" panose="02020603050405020304" pitchFamily="18" charset="0"/>
                    <a:ea typeface="楷体_GB2312"/>
                    <a:cs typeface="Times New Roman" panose="02020603050405020304" pitchFamily="18" charset="0"/>
                  </a:rPr>
                  <a:t>反向传播算法将损失函数计算所得误差从输出端出发、由后向前传递给神经网络中每个单元，然后通过梯度下降算法对神经网络中参数进行更新。随着迭代的进行，模型预测所得</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与真实值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之间的误差逐步缩小，模型预测准确率得以提升，预测的能力得以增强，当迭代达到一定轮次或准确率达到一定水平时，则可认为模型参数已被优化完毕。</a:t>
                </a:r>
              </a:p>
            </p:txBody>
          </p:sp>
        </mc:Choice>
        <mc:Fallback xmlns="">
          <p:sp>
            <p:nvSpPr>
              <p:cNvPr id="4" name="矩形 3">
                <a:extLst>
                  <a:ext uri="{FF2B5EF4-FFF2-40B4-BE49-F238E27FC236}">
                    <a16:creationId xmlns:a16="http://schemas.microsoft.com/office/drawing/2014/main" id="{75705535-D491-4DF3-A0AE-D4F44A91B4EC}"/>
                  </a:ext>
                </a:extLst>
              </p:cNvPr>
              <p:cNvSpPr>
                <a:spLocks noRot="1" noChangeAspect="1" noMove="1" noResize="1" noEditPoints="1" noAdjustHandles="1" noChangeArrowheads="1" noChangeShapeType="1" noTextEdit="1"/>
              </p:cNvSpPr>
              <p:nvPr/>
            </p:nvSpPr>
            <p:spPr>
              <a:xfrm>
                <a:off x="356322" y="1950134"/>
                <a:ext cx="10934925" cy="4194738"/>
              </a:xfrm>
              <a:prstGeom prst="rect">
                <a:avLst/>
              </a:prstGeom>
              <a:blipFill>
                <a:blip r:embed="rId2"/>
                <a:stretch>
                  <a:fillRect l="-334" r="-2564" b="-10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1298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1BABAE5-CE23-E738-5B71-C2169A05176B}"/>
              </a:ext>
            </a:extLst>
          </p:cNvPr>
          <p:cNvSpPr>
            <a:spLocks noGrp="1"/>
          </p:cNvSpPr>
          <p:nvPr>
            <p:ph type="title"/>
          </p:nvPr>
        </p:nvSpPr>
        <p:spPr>
          <a:xfrm>
            <a:off x="162560" y="365125"/>
            <a:ext cx="11191240" cy="701675"/>
          </a:xfrm>
        </p:spPr>
        <p:txBody>
          <a:bodyPr>
            <a:normAutofit/>
          </a:bodyPr>
          <a:lstStyle/>
          <a:p>
            <a:r>
              <a:rPr lang="zh-CN" altLang="en-US" sz="3200" b="1" dirty="0"/>
              <a:t>人工神经网络和深度学习</a:t>
            </a:r>
            <a:r>
              <a:rPr lang="en-US" altLang="zh-CN" sz="3200" b="1" dirty="0" smtClean="0"/>
              <a:t>---</a:t>
            </a:r>
            <a:r>
              <a:rPr lang="zh-CN" altLang="en-US" sz="3200" b="1" dirty="0" smtClean="0"/>
              <a:t>损失函数</a:t>
            </a:r>
            <a:endParaRPr lang="zh-CN" altLang="en-US" sz="3200" b="1" dirty="0"/>
          </a:p>
        </p:txBody>
      </p:sp>
      <p:sp>
        <p:nvSpPr>
          <p:cNvPr id="11" name="矩形 10">
            <a:extLst>
              <a:ext uri="{FF2B5EF4-FFF2-40B4-BE49-F238E27FC236}">
                <a16:creationId xmlns:a16="http://schemas.microsoft.com/office/drawing/2014/main" id="{4A0A42BB-7C58-475D-B372-484EEAD11064}"/>
              </a:ext>
            </a:extLst>
          </p:cNvPr>
          <p:cNvSpPr/>
          <p:nvPr/>
        </p:nvSpPr>
        <p:spPr>
          <a:xfrm>
            <a:off x="1384748" y="5031034"/>
            <a:ext cx="2031325" cy="369332"/>
          </a:xfrm>
          <a:prstGeom prst="rect">
            <a:avLst/>
          </a:prstGeom>
        </p:spPr>
        <p:txBody>
          <a:bodyPr wrap="none">
            <a:spAutoFit/>
          </a:bodyPr>
          <a:lstStyle/>
          <a:p>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均方误差损失函数</a:t>
            </a:r>
            <a:endParaRPr lang="zh-CN" altLang="en-US" b="1" dirty="0">
              <a:solidFill>
                <a:srgbClr val="C00000"/>
              </a:solidFill>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CE37E31E-537A-4D33-A02A-C37C636B8B4B}"/>
                  </a:ext>
                </a:extLst>
              </p:cNvPr>
              <p:cNvSpPr/>
              <p:nvPr/>
            </p:nvSpPr>
            <p:spPr>
              <a:xfrm>
                <a:off x="5138655" y="4811886"/>
                <a:ext cx="2709908" cy="6486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kern="100">
                          <a:latin typeface="Cambria Math" panose="02040503050406030204" pitchFamily="18" charset="0"/>
                          <a:ea typeface="华文楷体" panose="02010600040101010101" pitchFamily="2" charset="-122"/>
                          <a:cs typeface="Times New Roman" panose="02020603050405020304" pitchFamily="18" charset="0"/>
                        </a:rPr>
                        <m:t>MSE</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𝑛</m:t>
                          </m:r>
                        </m:den>
                      </m:f>
                      <m:nary>
                        <m:naryPr>
                          <m:chr m:val="∑"/>
                          <m:limLoc m:val="subSup"/>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𝑛</m:t>
                          </m:r>
                        </m:sup>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acc>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2</m:t>
                              </m:r>
                            </m:sup>
                          </m:sSup>
                        </m:e>
                      </m:nary>
                    </m:oMath>
                  </m:oMathPara>
                </a14:m>
                <a:endParaRPr lang="zh-CN" altLang="en-US" dirty="0"/>
              </a:p>
            </p:txBody>
          </p:sp>
        </mc:Choice>
        <mc:Fallback xmlns="">
          <p:sp>
            <p:nvSpPr>
              <p:cNvPr id="12" name="矩形 11">
                <a:extLst>
                  <a:ext uri="{FF2B5EF4-FFF2-40B4-BE49-F238E27FC236}">
                    <a16:creationId xmlns:a16="http://schemas.microsoft.com/office/drawing/2014/main" id="{CE37E31E-537A-4D33-A02A-C37C636B8B4B}"/>
                  </a:ext>
                </a:extLst>
              </p:cNvPr>
              <p:cNvSpPr>
                <a:spLocks noRot="1" noChangeAspect="1" noMove="1" noResize="1" noEditPoints="1" noAdjustHandles="1" noChangeArrowheads="1" noChangeShapeType="1" noTextEdit="1"/>
              </p:cNvSpPr>
              <p:nvPr/>
            </p:nvSpPr>
            <p:spPr>
              <a:xfrm>
                <a:off x="5138655" y="4811886"/>
                <a:ext cx="2709908" cy="648639"/>
              </a:xfrm>
              <a:prstGeom prst="rect">
                <a:avLst/>
              </a:prstGeom>
              <a:blipFill>
                <a:blip r:embed="rId2"/>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E15CC129-5086-4774-84D7-68BD1FC82AFB}"/>
              </a:ext>
            </a:extLst>
          </p:cNvPr>
          <p:cNvSpPr/>
          <p:nvPr/>
        </p:nvSpPr>
        <p:spPr>
          <a:xfrm>
            <a:off x="684754" y="1848588"/>
            <a:ext cx="10339892" cy="2400657"/>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损失函数</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loss function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）又称为代价函数（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cost function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来计算模型预测值与真实值之间的误差。损失函数是神经网络设计中的一个重要组成部分。通过定义与任务相关的良好损失函数，在训练过程中可根据损失函数来计算神经网络的误差大小，进而优化神经网络参数。</a:t>
            </a:r>
          </a:p>
          <a:p>
            <a:pPr marL="285750" indent="-285750" algn="just">
              <a:lnSpc>
                <a:spcPct val="150000"/>
              </a:lnSpc>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两种最常用的损失函数：均方误差损失函数和交叉熵损失函数。</a:t>
            </a:r>
          </a:p>
        </p:txBody>
      </p:sp>
      <p:sp>
        <p:nvSpPr>
          <p:cNvPr id="14" name="矩形 13">
            <a:extLst>
              <a:ext uri="{FF2B5EF4-FFF2-40B4-BE49-F238E27FC236}">
                <a16:creationId xmlns:a16="http://schemas.microsoft.com/office/drawing/2014/main" id="{3717B4BB-9F00-4E05-8674-F55C75CADA00}"/>
              </a:ext>
            </a:extLst>
          </p:cNvPr>
          <p:cNvSpPr/>
          <p:nvPr/>
        </p:nvSpPr>
        <p:spPr>
          <a:xfrm>
            <a:off x="1384748" y="5792690"/>
            <a:ext cx="1800493" cy="369332"/>
          </a:xfrm>
          <a:prstGeom prst="rect">
            <a:avLst/>
          </a:prstGeom>
        </p:spPr>
        <p:txBody>
          <a:bodyPr wrap="none">
            <a:spAutoFit/>
          </a:bodyPr>
          <a:lstStyle/>
          <a:p>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交叉熵损失函数</a:t>
            </a:r>
            <a:endParaRPr lang="zh-CN" altLang="en-US" b="1" dirty="0">
              <a:solidFill>
                <a:srgbClr val="C00000"/>
              </a:solidFill>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37E100FF-3842-4754-AAF8-3772C92FD9F0}"/>
                  </a:ext>
                </a:extLst>
              </p:cNvPr>
              <p:cNvSpPr/>
              <p:nvPr/>
            </p:nvSpPr>
            <p:spPr>
              <a:xfrm>
                <a:off x="5039360" y="5653834"/>
                <a:ext cx="2631391"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H</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a:latin typeface="Cambria Math" panose="02040503050406030204" pitchFamily="18" charset="0"/>
                            </a:rPr>
                            <m:t>, </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e>
                      </m:d>
                      <m:r>
                        <a:rPr lang="en-US" altLang="zh-CN">
                          <a:latin typeface="Cambria Math" panose="02040503050406030204" pitchFamily="18" charset="0"/>
                        </a:rPr>
                        <m:t>=</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𝑙𝑜𝑔</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oMath>
                  </m:oMathPara>
                </a14:m>
                <a:endParaRPr lang="zh-CN" altLang="en-US" dirty="0"/>
              </a:p>
            </p:txBody>
          </p:sp>
        </mc:Choice>
        <mc:Fallback xmlns="">
          <p:sp>
            <p:nvSpPr>
              <p:cNvPr id="15" name="矩形 14">
                <a:extLst>
                  <a:ext uri="{FF2B5EF4-FFF2-40B4-BE49-F238E27FC236}">
                    <a16:creationId xmlns:a16="http://schemas.microsoft.com/office/drawing/2014/main" id="{37E100FF-3842-4754-AAF8-3772C92FD9F0}"/>
                  </a:ext>
                </a:extLst>
              </p:cNvPr>
              <p:cNvSpPr>
                <a:spLocks noRot="1" noChangeAspect="1" noMove="1" noResize="1" noEditPoints="1" noAdjustHandles="1" noChangeArrowheads="1" noChangeShapeType="1" noTextEdit="1"/>
              </p:cNvSpPr>
              <p:nvPr/>
            </p:nvSpPr>
            <p:spPr>
              <a:xfrm>
                <a:off x="5039360" y="5653834"/>
                <a:ext cx="2631391" cy="369332"/>
              </a:xfrm>
              <a:prstGeom prst="rect">
                <a:avLst/>
              </a:prstGeom>
              <a:blipFill>
                <a:blip r:embed="rId3"/>
                <a:stretch>
                  <a:fillRect t="-6557" r="-4640" b="-131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24114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1BABAE5-CE23-E738-5B71-C2169A05176B}"/>
              </a:ext>
            </a:extLst>
          </p:cNvPr>
          <p:cNvSpPr>
            <a:spLocks noGrp="1"/>
          </p:cNvSpPr>
          <p:nvPr>
            <p:ph type="title"/>
          </p:nvPr>
        </p:nvSpPr>
        <p:spPr>
          <a:xfrm>
            <a:off x="162560" y="365125"/>
            <a:ext cx="11191240" cy="701675"/>
          </a:xfrm>
        </p:spPr>
        <p:txBody>
          <a:bodyPr>
            <a:normAutofit/>
          </a:bodyPr>
          <a:lstStyle/>
          <a:p>
            <a:r>
              <a:rPr lang="zh-CN" altLang="en-US" sz="3200" b="1" dirty="0"/>
              <a:t>人工神经网络和深度学习</a:t>
            </a:r>
            <a:r>
              <a:rPr lang="en-US" altLang="zh-CN" sz="3200" b="1" dirty="0" smtClean="0"/>
              <a:t>---</a:t>
            </a:r>
            <a:r>
              <a:rPr lang="zh-CN" altLang="en-US" sz="3200" b="1" dirty="0" smtClean="0"/>
              <a:t>损失函数</a:t>
            </a:r>
            <a:endParaRPr lang="zh-CN" altLang="en-US" sz="3200" b="1" dirty="0"/>
          </a:p>
        </p:txBody>
      </p:sp>
      <p:sp>
        <p:nvSpPr>
          <p:cNvPr id="14" name="矩形 13">
            <a:extLst>
              <a:ext uri="{FF2B5EF4-FFF2-40B4-BE49-F238E27FC236}">
                <a16:creationId xmlns:a16="http://schemas.microsoft.com/office/drawing/2014/main" id="{3717B4BB-9F00-4E05-8674-F55C75CADA00}"/>
              </a:ext>
            </a:extLst>
          </p:cNvPr>
          <p:cNvSpPr/>
          <p:nvPr/>
        </p:nvSpPr>
        <p:spPr>
          <a:xfrm>
            <a:off x="1862268" y="1801686"/>
            <a:ext cx="1980029" cy="400110"/>
          </a:xfrm>
          <a:prstGeom prst="rect">
            <a:avLst/>
          </a:prstGeom>
        </p:spPr>
        <p:txBody>
          <a:bodyPr wrap="none">
            <a:spAutoFit/>
          </a:bodyPr>
          <a:lstStyle/>
          <a:p>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交叉熵损失函数</a:t>
            </a:r>
            <a:endParaRPr lang="zh-CN" altLang="en-US" sz="2000" b="1" dirty="0">
              <a:solidFill>
                <a:srgbClr val="C00000"/>
              </a:solidFill>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37E100FF-3842-4754-AAF8-3772C92FD9F0}"/>
                  </a:ext>
                </a:extLst>
              </p:cNvPr>
              <p:cNvSpPr/>
              <p:nvPr/>
            </p:nvSpPr>
            <p:spPr>
              <a:xfrm>
                <a:off x="4815840" y="1801686"/>
                <a:ext cx="3230880"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000">
                          <a:latin typeface="Cambria Math" panose="02040503050406030204" pitchFamily="18" charset="0"/>
                        </a:rPr>
                        <m:t>H</m:t>
                      </m:r>
                      <m:d>
                        <m:dPr>
                          <m:ctrlPr>
                            <a:rPr lang="zh-CN" altLang="zh-CN" sz="2000" i="1">
                              <a:latin typeface="Cambria Math" panose="02040503050406030204" pitchFamily="18" charset="0"/>
                            </a:rPr>
                          </m:ctrlPr>
                        </m:dPr>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a:latin typeface="Cambria Math" panose="02040503050406030204" pitchFamily="18" charset="0"/>
                            </a:rPr>
                            <m:t>, </m:t>
                          </m:r>
                          <m:sSub>
                            <m:sSubPr>
                              <m:ctrlPr>
                                <a:rPr lang="zh-CN" altLang="zh-CN" sz="2000" i="1">
                                  <a:latin typeface="Cambria Math" panose="02040503050406030204" pitchFamily="18" charset="0"/>
                                </a:rPr>
                              </m:ctrlPr>
                            </m:sSub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𝑦</m:t>
                                  </m:r>
                                </m:e>
                              </m:acc>
                            </m:e>
                            <m:sub>
                              <m:r>
                                <a:rPr lang="en-US" altLang="zh-CN" sz="2000" i="1">
                                  <a:latin typeface="Cambria Math" panose="02040503050406030204" pitchFamily="18" charset="0"/>
                                </a:rPr>
                                <m:t>𝑖</m:t>
                              </m:r>
                            </m:sub>
                          </m:sSub>
                        </m:e>
                      </m:d>
                      <m:r>
                        <a:rPr lang="en-US" altLang="zh-CN" sz="2000">
                          <a:latin typeface="Cambria Math" panose="02040503050406030204" pitchFamily="18" charset="0"/>
                        </a:rPr>
                        <m:t>=</m:t>
                      </m:r>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r>
                        <a:rPr lang="en-US" altLang="zh-CN" sz="2000" i="1">
                          <a:latin typeface="Cambria Math" panose="02040503050406030204" pitchFamily="18" charset="0"/>
                        </a:rPr>
                        <m:t>𝑙𝑜𝑔</m:t>
                      </m:r>
                      <m:sSub>
                        <m:sSubPr>
                          <m:ctrlPr>
                            <a:rPr lang="zh-CN" altLang="zh-CN" sz="2000" i="1">
                              <a:latin typeface="Cambria Math" panose="02040503050406030204" pitchFamily="18" charset="0"/>
                            </a:rPr>
                          </m:ctrlPr>
                        </m:sSub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𝑦</m:t>
                              </m:r>
                            </m:e>
                          </m:acc>
                        </m:e>
                        <m:sub>
                          <m:r>
                            <a:rPr lang="en-US" altLang="zh-CN" sz="2000" i="1">
                              <a:latin typeface="Cambria Math" panose="02040503050406030204" pitchFamily="18" charset="0"/>
                            </a:rPr>
                            <m:t>𝑖</m:t>
                          </m:r>
                        </m:sub>
                      </m:sSub>
                    </m:oMath>
                  </m:oMathPara>
                </a14:m>
                <a:endParaRPr lang="zh-CN" altLang="en-US" sz="2000" dirty="0"/>
              </a:p>
            </p:txBody>
          </p:sp>
        </mc:Choice>
        <mc:Fallback xmlns="">
          <p:sp>
            <p:nvSpPr>
              <p:cNvPr id="15" name="矩形 14">
                <a:extLst>
                  <a:ext uri="{FF2B5EF4-FFF2-40B4-BE49-F238E27FC236}">
                    <a16:creationId xmlns:a16="http://schemas.microsoft.com/office/drawing/2014/main" id="{37E100FF-3842-4754-AAF8-3772C92FD9F0}"/>
                  </a:ext>
                </a:extLst>
              </p:cNvPr>
              <p:cNvSpPr>
                <a:spLocks noRot="1" noChangeAspect="1" noMove="1" noResize="1" noEditPoints="1" noAdjustHandles="1" noChangeArrowheads="1" noChangeShapeType="1" noTextEdit="1"/>
              </p:cNvSpPr>
              <p:nvPr/>
            </p:nvSpPr>
            <p:spPr>
              <a:xfrm>
                <a:off x="4815840" y="1801686"/>
                <a:ext cx="3230880" cy="400110"/>
              </a:xfrm>
              <a:prstGeom prst="rect">
                <a:avLst/>
              </a:prstGeom>
              <a:blipFill>
                <a:blip r:embed="rId2"/>
                <a:stretch>
                  <a:fillRect t="-6154"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15CC129-5086-4774-84D7-68BD1FC82AFB}"/>
                  </a:ext>
                </a:extLst>
              </p:cNvPr>
              <p:cNvSpPr/>
              <p:nvPr/>
            </p:nvSpPr>
            <p:spPr>
              <a:xfrm>
                <a:off x="856716" y="2460371"/>
                <a:ext cx="10131324" cy="3000821"/>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熵</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被用来表示热力学系统所呈现的无序程度。香农将这一概念引入信息论领域，提出了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信息熵</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概念，通过对数函数来测量信息的不确定性。</a:t>
                </a:r>
              </a:p>
              <a:p>
                <a:pPr marL="285750" indent="-285750">
                  <a:lnSpc>
                    <a:spcPct val="15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交叉熵（</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cross entropy</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）是信息论中的重要概念，主要用来度量两个概率分布间的差异。</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是样本</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分类的真实概率、</a:t>
                </a:r>
                <a14:m>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是模型预测</a:t>
                </a: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概率</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交叉</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熵刻画了两个概率分布之间的距离，旨在描绘通过概率分布</a:t>
                </a:r>
                <a14:m>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来表达概率分布</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的困难</a:t>
                </a: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程度，</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两个概率分布</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越接近，交叉熵越小</a:t>
                </a: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即</a:t>
                </a: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预测类别分布概率与实际类别分布概率之间的差距越小，交叉熵就越小。</a:t>
                </a:r>
              </a:p>
            </p:txBody>
          </p:sp>
        </mc:Choice>
        <mc:Fallback xmlns="">
          <p:sp>
            <p:nvSpPr>
              <p:cNvPr id="8" name="矩形 7">
                <a:extLst>
                  <a:ext uri="{FF2B5EF4-FFF2-40B4-BE49-F238E27FC236}">
                    <a16:creationId xmlns:a16="http://schemas.microsoft.com/office/drawing/2014/main" id="{E15CC129-5086-4774-84D7-68BD1FC82AFB}"/>
                  </a:ext>
                </a:extLst>
              </p:cNvPr>
              <p:cNvSpPr>
                <a:spLocks noRot="1" noChangeAspect="1" noMove="1" noResize="1" noEditPoints="1" noAdjustHandles="1" noChangeArrowheads="1" noChangeShapeType="1" noTextEdit="1"/>
              </p:cNvSpPr>
              <p:nvPr/>
            </p:nvSpPr>
            <p:spPr>
              <a:xfrm>
                <a:off x="856716" y="2460371"/>
                <a:ext cx="10131324" cy="3000821"/>
              </a:xfrm>
              <a:prstGeom prst="rect">
                <a:avLst/>
              </a:prstGeom>
              <a:blipFill>
                <a:blip r:embed="rId3"/>
                <a:stretch>
                  <a:fillRect l="-421" r="-2708" b="-8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1994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1BABAE5-CE23-E738-5B71-C2169A05176B}"/>
              </a:ext>
            </a:extLst>
          </p:cNvPr>
          <p:cNvSpPr>
            <a:spLocks noGrp="1"/>
          </p:cNvSpPr>
          <p:nvPr>
            <p:ph type="title"/>
          </p:nvPr>
        </p:nvSpPr>
        <p:spPr>
          <a:xfrm>
            <a:off x="111760" y="172085"/>
            <a:ext cx="11191240" cy="701675"/>
          </a:xfrm>
        </p:spPr>
        <p:txBody>
          <a:bodyPr>
            <a:normAutofit/>
          </a:bodyPr>
          <a:lstStyle/>
          <a:p>
            <a:r>
              <a:rPr lang="zh-CN" altLang="en-US" sz="3200" b="1" dirty="0"/>
              <a:t>人工神经网络和深度学习</a:t>
            </a:r>
            <a:r>
              <a:rPr lang="en-US" altLang="zh-CN" sz="3200" b="1" dirty="0" smtClean="0"/>
              <a:t>---</a:t>
            </a:r>
            <a:r>
              <a:rPr lang="zh-CN" altLang="en-US" sz="3200" b="1" dirty="0" smtClean="0"/>
              <a:t>损失函数</a:t>
            </a:r>
            <a:endParaRPr lang="zh-CN" altLang="en-US" sz="3200" b="1" dirty="0"/>
          </a:p>
        </p:txBody>
      </p:sp>
      <p:pic>
        <p:nvPicPr>
          <p:cNvPr id="6" name="图片 5">
            <a:extLst>
              <a:ext uri="{FF2B5EF4-FFF2-40B4-BE49-F238E27FC236}">
                <a16:creationId xmlns:a16="http://schemas.microsoft.com/office/drawing/2014/main" id="{C2B9FEA3-3F1C-4017-9FA1-98627DF08645}"/>
              </a:ext>
            </a:extLst>
          </p:cNvPr>
          <p:cNvPicPr>
            <a:picLocks noChangeAspect="1"/>
          </p:cNvPicPr>
          <p:nvPr/>
        </p:nvPicPr>
        <p:blipFill>
          <a:blip r:embed="rId2"/>
          <a:stretch>
            <a:fillRect/>
          </a:stretch>
        </p:blipFill>
        <p:spPr>
          <a:xfrm>
            <a:off x="1008828" y="1123732"/>
            <a:ext cx="7672892" cy="5533472"/>
          </a:xfrm>
          <a:prstGeom prst="rect">
            <a:avLst/>
          </a:prstGeom>
        </p:spPr>
      </p:pic>
    </p:spTree>
    <p:extLst>
      <p:ext uri="{BB962C8B-B14F-4D97-AF65-F5344CB8AC3E}">
        <p14:creationId xmlns:p14="http://schemas.microsoft.com/office/powerpoint/2010/main" val="1047394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1BABAE5-CE23-E738-5B71-C2169A05176B}"/>
              </a:ext>
            </a:extLst>
          </p:cNvPr>
          <p:cNvSpPr>
            <a:spLocks noGrp="1"/>
          </p:cNvSpPr>
          <p:nvPr>
            <p:ph type="title"/>
          </p:nvPr>
        </p:nvSpPr>
        <p:spPr>
          <a:xfrm>
            <a:off x="162560" y="365125"/>
            <a:ext cx="11191240" cy="701675"/>
          </a:xfrm>
        </p:spPr>
        <p:txBody>
          <a:bodyPr>
            <a:normAutofit/>
          </a:bodyPr>
          <a:lstStyle/>
          <a:p>
            <a:r>
              <a:rPr lang="zh-CN" altLang="en-US" sz="3200" b="1" dirty="0"/>
              <a:t>人工神经网络和深度学习</a:t>
            </a:r>
            <a:r>
              <a:rPr lang="en-US" altLang="zh-CN" sz="3200" b="1" dirty="0" smtClean="0"/>
              <a:t>---</a:t>
            </a:r>
            <a:r>
              <a:rPr lang="zh-CN" altLang="en-US" sz="3200" b="1" dirty="0" smtClean="0"/>
              <a:t>梯度下降</a:t>
            </a:r>
            <a:endParaRPr lang="zh-CN" altLang="en-US" sz="3200" b="1" dirty="0"/>
          </a:p>
        </p:txBody>
      </p:sp>
      <mc:AlternateContent xmlns:mc="http://schemas.openxmlformats.org/markup-compatibility/2006" xmlns:a14="http://schemas.microsoft.com/office/drawing/2010/main">
        <mc:Choice Requires="a14">
          <p:sp>
            <p:nvSpPr>
              <p:cNvPr id="35" name="文字方塊 61">
                <a:extLst>
                  <a:ext uri="{FF2B5EF4-FFF2-40B4-BE49-F238E27FC236}">
                    <a16:creationId xmlns:a16="http://schemas.microsoft.com/office/drawing/2014/main" id="{05A830D7-E5D5-81A7-6B60-13625C2DF539}"/>
                  </a:ext>
                </a:extLst>
              </p:cNvPr>
              <p:cNvSpPr txBox="1"/>
              <p:nvPr/>
            </p:nvSpPr>
            <p:spPr>
              <a:xfrm>
                <a:off x="1231482" y="2269477"/>
                <a:ext cx="1400487"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US" altLang="zh-TW" sz="2400" dirty="0">
                    <a:latin typeface="STIX Two Math" panose="02020603050405020304" pitchFamily="18" charset="0"/>
                    <a:ea typeface="STIX Two Math" panose="02020603050405020304" pitchFamily="18" charset="0"/>
                    <a:cs typeface="STIX Two Math" panose="02020603050405020304" pitchFamily="18" charset="0"/>
                  </a:rPr>
                  <a:t>Loss </a:t>
                </a:r>
                <a14:m>
                  <m:oMath xmlns:m="http://schemas.openxmlformats.org/officeDocument/2006/math">
                    <m:r>
                      <a:rPr lang="en-US" altLang="zh-TW" sz="2400" i="1">
                        <a:latin typeface="Cambria Math" panose="02040503050406030204" pitchFamily="18" charset="0"/>
                        <a:ea typeface="Cambria Math" panose="02040503050406030204" pitchFamily="18" charset="0"/>
                        <a:cs typeface="STIX Two Math" panose="02020603050405020304" pitchFamily="18" charset="0"/>
                      </a:rPr>
                      <m:t>ℒ</m:t>
                    </m:r>
                  </m:oMath>
                </a14:m>
                <a:endParaRPr lang="zh-TW" altLang="en-US" sz="2400" dirty="0">
                  <a:latin typeface="STIX Two Math" panose="02020603050405020304" pitchFamily="18" charset="0"/>
                  <a:cs typeface="STIX Two Math" panose="02020603050405020304" pitchFamily="18" charset="0"/>
                </a:endParaRPr>
              </a:p>
            </p:txBody>
          </p:sp>
        </mc:Choice>
        <mc:Fallback xmlns="">
          <p:sp>
            <p:nvSpPr>
              <p:cNvPr id="35" name="文字方塊 61">
                <a:extLst>
                  <a:ext uri="{FF2B5EF4-FFF2-40B4-BE49-F238E27FC236}">
                    <a16:creationId xmlns:a16="http://schemas.microsoft.com/office/drawing/2014/main" id="{05A830D7-E5D5-81A7-6B60-13625C2DF539}"/>
                  </a:ext>
                </a:extLst>
              </p:cNvPr>
              <p:cNvSpPr txBox="1">
                <a:spLocks noRot="1" noChangeAspect="1" noMove="1" noResize="1" noEditPoints="1" noAdjustHandles="1" noChangeArrowheads="1" noChangeShapeType="1" noTextEdit="1"/>
              </p:cNvSpPr>
              <p:nvPr/>
            </p:nvSpPr>
            <p:spPr>
              <a:xfrm>
                <a:off x="1231482" y="2269477"/>
                <a:ext cx="1400487" cy="461665"/>
              </a:xfrm>
              <a:prstGeom prst="rect">
                <a:avLst/>
              </a:prstGeom>
              <a:blipFill>
                <a:blip r:embed="rId2"/>
                <a:stretch>
                  <a:fillRect t="-10526" b="-28947"/>
                </a:stretch>
              </a:blipFill>
            </p:spPr>
            <p:txBody>
              <a:bodyPr/>
              <a:lstStyle/>
              <a:p>
                <a:r>
                  <a:rPr lang="zh-CN" altLang="en-US">
                    <a:noFill/>
                  </a:rPr>
                  <a:t> </a:t>
                </a:r>
              </a:p>
            </p:txBody>
          </p:sp>
        </mc:Fallback>
      </mc:AlternateContent>
      <p:cxnSp>
        <p:nvCxnSpPr>
          <p:cNvPr id="36" name="直線單箭頭接點 27">
            <a:extLst>
              <a:ext uri="{FF2B5EF4-FFF2-40B4-BE49-F238E27FC236}">
                <a16:creationId xmlns:a16="http://schemas.microsoft.com/office/drawing/2014/main" id="{7EF5B49D-4129-6804-48E7-79A1FC7FF70B}"/>
              </a:ext>
            </a:extLst>
          </p:cNvPr>
          <p:cNvCxnSpPr/>
          <p:nvPr/>
        </p:nvCxnSpPr>
        <p:spPr>
          <a:xfrm>
            <a:off x="1871046" y="5595081"/>
            <a:ext cx="82811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7" name="图片 36">
            <a:extLst>
              <a:ext uri="{FF2B5EF4-FFF2-40B4-BE49-F238E27FC236}">
                <a16:creationId xmlns:a16="http://schemas.microsoft.com/office/drawing/2014/main" id="{C7863302-237F-03BA-3DA4-2CCE6EC4B9EA}"/>
              </a:ext>
            </a:extLst>
          </p:cNvPr>
          <p:cNvPicPr>
            <a:picLocks noChangeAspect="1" noChangeArrowheads="1"/>
          </p:cNvPicPr>
          <p:nvPr/>
        </p:nvPicPr>
        <p:blipFill>
          <a:blip r:embed="rId3"/>
          <a:srcRect/>
          <a:stretch>
            <a:fillRect/>
          </a:stretch>
        </p:blipFill>
        <p:spPr bwMode="auto">
          <a:xfrm>
            <a:off x="9634577" y="5627939"/>
            <a:ext cx="327025" cy="298450"/>
          </a:xfrm>
          <a:prstGeom prst="rect">
            <a:avLst/>
          </a:prstGeom>
          <a:noFill/>
        </p:spPr>
      </p:pic>
      <p:cxnSp>
        <p:nvCxnSpPr>
          <p:cNvPr id="38" name="直線單箭頭接點 29">
            <a:extLst>
              <a:ext uri="{FF2B5EF4-FFF2-40B4-BE49-F238E27FC236}">
                <a16:creationId xmlns:a16="http://schemas.microsoft.com/office/drawing/2014/main" id="{28A68499-C544-CF87-2794-E0B30D09239B}"/>
              </a:ext>
            </a:extLst>
          </p:cNvPr>
          <p:cNvCxnSpPr/>
          <p:nvPr/>
        </p:nvCxnSpPr>
        <p:spPr>
          <a:xfrm flipV="1">
            <a:off x="2684101" y="2041446"/>
            <a:ext cx="0" cy="38771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字方塊 34">
                <a:extLst>
                  <a:ext uri="{FF2B5EF4-FFF2-40B4-BE49-F238E27FC236}">
                    <a16:creationId xmlns:a16="http://schemas.microsoft.com/office/drawing/2014/main" id="{99CD8B9D-B2FD-24BD-39F1-8ADBA5236EFC}"/>
                  </a:ext>
                </a:extLst>
              </p:cNvPr>
              <p:cNvSpPr txBox="1"/>
              <p:nvPr/>
            </p:nvSpPr>
            <p:spPr>
              <a:xfrm>
                <a:off x="3174972" y="1506560"/>
                <a:ext cx="5203253" cy="156966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marL="457200" indent="-457200">
                  <a:buFont typeface="+mj-lt"/>
                  <a:buAutoNum type="arabicPeriod"/>
                </a:pPr>
                <a:r>
                  <a:rPr lang="zh-CN" altLang="en-US" sz="2400" dirty="0">
                    <a:latin typeface="+mn-ea"/>
                  </a:rPr>
                  <a:t>初始化</a:t>
                </a:r>
                <a:r>
                  <a:rPr lang="en-US" altLang="zh-CN" sz="2400" dirty="0">
                    <a:latin typeface="+mn-ea"/>
                  </a:rPr>
                  <a:t>w</a:t>
                </a:r>
              </a:p>
              <a:p>
                <a:pPr marL="457200" indent="-457200">
                  <a:buFont typeface="+mj-lt"/>
                  <a:buAutoNum type="arabicPeriod"/>
                </a:pPr>
                <a:r>
                  <a:rPr lang="zh-CN" altLang="en-US" sz="2400" dirty="0">
                    <a:latin typeface="+mn-ea"/>
                  </a:rPr>
                  <a:t>重复</a:t>
                </a:r>
                <a:endParaRPr lang="en-US" altLang="zh-CN" sz="2400" dirty="0">
                  <a:latin typeface="+mn-ea"/>
                </a:endParaRPr>
              </a:p>
              <a:p>
                <a:pPr marL="914400" lvl="1" indent="-457200">
                  <a:buFont typeface="+mj-lt"/>
                  <a:buAutoNum type="arabicPeriod"/>
                </a:pPr>
                <a:r>
                  <a:rPr lang="zh-CN" altLang="en-US" sz="2400" dirty="0">
                    <a:latin typeface="+mn-ea"/>
                  </a:rPr>
                  <a:t>计算梯度</a:t>
                </a:r>
                <a:r>
                  <a:rPr lang="en-US" altLang="zh-TW" sz="2400" dirty="0">
                    <a:latin typeface="+mn-ea"/>
                  </a:rPr>
                  <a:t> </a:t>
                </a:r>
                <a14:m>
                  <m:oMath xmlns:m="http://schemas.openxmlformats.org/officeDocument/2006/math">
                    <m:f>
                      <m:fPr>
                        <m:type m:val="lin"/>
                        <m:ctrlPr>
                          <a:rPr lang="en-US" altLang="zh-TW" sz="2400" i="1">
                            <a:latin typeface="Cambria Math" panose="02040503050406030204" pitchFamily="18" charset="0"/>
                          </a:rPr>
                        </m:ctrlPr>
                      </m:fPr>
                      <m:num>
                        <m:r>
                          <a:rPr lang="en-US" altLang="zh-TW" sz="2400">
                            <a:latin typeface="Cambria Math" panose="02040503050406030204" pitchFamily="18" charset="0"/>
                          </a:rPr>
                          <m:t>𝜕</m:t>
                        </m:r>
                        <m:r>
                          <a:rPr lang="en-US" altLang="zh-TW" sz="2400">
                            <a:latin typeface="Cambria Math" panose="02040503050406030204" pitchFamily="18" charset="0"/>
                          </a:rPr>
                          <m:t>ℒ</m:t>
                        </m:r>
                      </m:num>
                      <m:den>
                        <m:r>
                          <a:rPr lang="en-US" altLang="zh-TW" sz="2400">
                            <a:latin typeface="Cambria Math" panose="02040503050406030204" pitchFamily="18" charset="0"/>
                          </a:rPr>
                          <m:t>𝜕</m:t>
                        </m:r>
                        <m:r>
                          <a:rPr lang="en-US" altLang="zh-TW" sz="2400">
                            <a:latin typeface="Cambria Math" panose="02040503050406030204" pitchFamily="18" charset="0"/>
                          </a:rPr>
                          <m:t>𝑤</m:t>
                        </m:r>
                      </m:den>
                    </m:f>
                  </m:oMath>
                </a14:m>
                <a:endParaRPr lang="zh-TW" altLang="en-US" sz="2400" dirty="0">
                  <a:latin typeface="+mn-ea"/>
                </a:endParaRPr>
              </a:p>
              <a:p>
                <a:pPr marL="914400" lvl="1" indent="-457200">
                  <a:buFont typeface="+mj-lt"/>
                  <a:buAutoNum type="arabicPeriod"/>
                </a:pPr>
                <a:r>
                  <a:rPr lang="zh-CN" altLang="en-US" sz="2400" dirty="0">
                    <a:latin typeface="+mn-ea"/>
                  </a:rPr>
                  <a:t>更新参数</a:t>
                </a:r>
                <a14:m>
                  <m:oMath xmlns:m="http://schemas.openxmlformats.org/officeDocument/2006/math">
                    <m:r>
                      <a:rPr lang="en-US" altLang="zh-TW" sz="2400">
                        <a:latin typeface="Cambria Math" panose="02040503050406030204" pitchFamily="18" charset="0"/>
                      </a:rPr>
                      <m:t>𝑤</m:t>
                    </m:r>
                    <m:r>
                      <a:rPr lang="en-US" altLang="zh-TW" sz="2400">
                        <a:latin typeface="Cambria Math" panose="02040503050406030204" pitchFamily="18" charset="0"/>
                      </a:rPr>
                      <m:t>←</m:t>
                    </m:r>
                    <m:r>
                      <a:rPr lang="en-US" altLang="zh-TW" sz="2400">
                        <a:latin typeface="Cambria Math" panose="02040503050406030204" pitchFamily="18" charset="0"/>
                      </a:rPr>
                      <m:t>𝑤</m:t>
                    </m:r>
                    <m:r>
                      <a:rPr lang="en-US" altLang="zh-TW" sz="2400">
                        <a:latin typeface="Cambria Math" panose="02040503050406030204" pitchFamily="18" charset="0"/>
                      </a:rPr>
                      <m:t>−</m:t>
                    </m:r>
                    <m:r>
                      <a:rPr lang="en-US" altLang="zh-CN" sz="2400">
                        <a:latin typeface="Cambria Math" panose="02040503050406030204" pitchFamily="18" charset="0"/>
                      </a:rPr>
                      <m:t>𝛼</m:t>
                    </m:r>
                    <m:f>
                      <m:fPr>
                        <m:type m:val="lin"/>
                        <m:ctrlPr>
                          <a:rPr lang="en-US" altLang="zh-TW" sz="2400" i="1">
                            <a:latin typeface="Cambria Math" panose="02040503050406030204" pitchFamily="18" charset="0"/>
                          </a:rPr>
                        </m:ctrlPr>
                      </m:fPr>
                      <m:num>
                        <m:r>
                          <a:rPr lang="en-US" altLang="zh-TW" sz="2400">
                            <a:latin typeface="Cambria Math" panose="02040503050406030204" pitchFamily="18" charset="0"/>
                          </a:rPr>
                          <m:t>𝜕</m:t>
                        </m:r>
                        <m:r>
                          <a:rPr lang="en-US" altLang="zh-TW" sz="2400">
                            <a:latin typeface="Cambria Math" panose="02040503050406030204" pitchFamily="18" charset="0"/>
                          </a:rPr>
                          <m:t>ℒ</m:t>
                        </m:r>
                      </m:num>
                      <m:den>
                        <m:r>
                          <a:rPr lang="en-US" altLang="zh-TW" sz="2400">
                            <a:latin typeface="Cambria Math" panose="02040503050406030204" pitchFamily="18" charset="0"/>
                          </a:rPr>
                          <m:t>𝜕</m:t>
                        </m:r>
                        <m:r>
                          <a:rPr lang="en-US" altLang="zh-TW" sz="2400">
                            <a:latin typeface="Cambria Math" panose="02040503050406030204" pitchFamily="18" charset="0"/>
                          </a:rPr>
                          <m:t>𝑤</m:t>
                        </m:r>
                      </m:den>
                    </m:f>
                  </m:oMath>
                </a14:m>
                <a:endParaRPr lang="zh-TW" altLang="en-US" sz="2400" dirty="0">
                  <a:latin typeface="+mn-ea"/>
                </a:endParaRPr>
              </a:p>
            </p:txBody>
          </p:sp>
        </mc:Choice>
        <mc:Fallback xmlns="">
          <p:sp>
            <p:nvSpPr>
              <p:cNvPr id="39" name="文字方塊 34">
                <a:extLst>
                  <a:ext uri="{FF2B5EF4-FFF2-40B4-BE49-F238E27FC236}">
                    <a16:creationId xmlns:a16="http://schemas.microsoft.com/office/drawing/2014/main" id="{99CD8B9D-B2FD-24BD-39F1-8ADBA5236EFC}"/>
                  </a:ext>
                </a:extLst>
              </p:cNvPr>
              <p:cNvSpPr txBox="1">
                <a:spLocks noRot="1" noChangeAspect="1" noMove="1" noResize="1" noEditPoints="1" noAdjustHandles="1" noChangeArrowheads="1" noChangeShapeType="1" noTextEdit="1"/>
              </p:cNvSpPr>
              <p:nvPr/>
            </p:nvSpPr>
            <p:spPr>
              <a:xfrm>
                <a:off x="3174972" y="1506560"/>
                <a:ext cx="5203253" cy="1569660"/>
              </a:xfrm>
              <a:prstGeom prst="rect">
                <a:avLst/>
              </a:prstGeom>
              <a:blipFill>
                <a:blip r:embed="rId4"/>
                <a:stretch>
                  <a:fillRect l="-1407" t="-2713" r="-352" b="-55814"/>
                </a:stretch>
              </a:blipFill>
            </p:spPr>
            <p:txBody>
              <a:bodyPr/>
              <a:lstStyle/>
              <a:p>
                <a:r>
                  <a:rPr lang="zh-CN" altLang="en-US">
                    <a:noFill/>
                  </a:rPr>
                  <a:t> </a:t>
                </a:r>
              </a:p>
            </p:txBody>
          </p:sp>
        </mc:Fallback>
      </mc:AlternateContent>
      <p:sp>
        <p:nvSpPr>
          <p:cNvPr id="40" name="手繪多邊形 54">
            <a:extLst>
              <a:ext uri="{FF2B5EF4-FFF2-40B4-BE49-F238E27FC236}">
                <a16:creationId xmlns:a16="http://schemas.microsoft.com/office/drawing/2014/main" id="{E12824FB-86EE-CF9B-4609-8B949DF8630E}"/>
              </a:ext>
            </a:extLst>
          </p:cNvPr>
          <p:cNvSpPr/>
          <p:nvPr/>
        </p:nvSpPr>
        <p:spPr>
          <a:xfrm>
            <a:off x="2338724" y="1952391"/>
            <a:ext cx="668162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TW" altLang="en-US"/>
          </a:p>
        </p:txBody>
      </p:sp>
      <p:sp>
        <p:nvSpPr>
          <p:cNvPr id="41" name="橢圓 69">
            <a:extLst>
              <a:ext uri="{FF2B5EF4-FFF2-40B4-BE49-F238E27FC236}">
                <a16:creationId xmlns:a16="http://schemas.microsoft.com/office/drawing/2014/main" id="{03901C0C-A53F-5C63-BAC7-4FBC7D109760}"/>
              </a:ext>
            </a:extLst>
          </p:cNvPr>
          <p:cNvSpPr/>
          <p:nvPr/>
        </p:nvSpPr>
        <p:spPr>
          <a:xfrm>
            <a:off x="3269257" y="5430109"/>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TW" altLang="en-US">
              <a:latin typeface="STIX Two Math" panose="02020603050405020304" pitchFamily="18" charset="0"/>
              <a:cs typeface="STIX Two Math" panose="02020603050405020304" pitchFamily="18" charset="0"/>
            </a:endParaRPr>
          </a:p>
        </p:txBody>
      </p:sp>
      <p:cxnSp>
        <p:nvCxnSpPr>
          <p:cNvPr id="42" name="直線接點 70">
            <a:extLst>
              <a:ext uri="{FF2B5EF4-FFF2-40B4-BE49-F238E27FC236}">
                <a16:creationId xmlns:a16="http://schemas.microsoft.com/office/drawing/2014/main" id="{0F2645F2-4F49-4E68-546E-EAC91987B466}"/>
              </a:ext>
            </a:extLst>
          </p:cNvPr>
          <p:cNvCxnSpPr/>
          <p:nvPr/>
        </p:nvCxnSpPr>
        <p:spPr>
          <a:xfrm>
            <a:off x="3315660" y="4050991"/>
            <a:ext cx="0" cy="147187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線接點 18">
            <a:extLst>
              <a:ext uri="{FF2B5EF4-FFF2-40B4-BE49-F238E27FC236}">
                <a16:creationId xmlns:a16="http://schemas.microsoft.com/office/drawing/2014/main" id="{CA392B6A-A920-2353-742D-6A56659E1FA0}"/>
              </a:ext>
            </a:extLst>
          </p:cNvPr>
          <p:cNvCxnSpPr/>
          <p:nvPr/>
        </p:nvCxnSpPr>
        <p:spPr>
          <a:xfrm>
            <a:off x="2616164" y="3420839"/>
            <a:ext cx="1591247" cy="1508056"/>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44" name="橢圓 24">
            <a:extLst>
              <a:ext uri="{FF2B5EF4-FFF2-40B4-BE49-F238E27FC236}">
                <a16:creationId xmlns:a16="http://schemas.microsoft.com/office/drawing/2014/main" id="{2B90207B-2020-94C2-0BA3-CBB0E7AF6640}"/>
              </a:ext>
            </a:extLst>
          </p:cNvPr>
          <p:cNvSpPr/>
          <p:nvPr/>
        </p:nvSpPr>
        <p:spPr>
          <a:xfrm>
            <a:off x="4879729" y="5487918"/>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TW" altLang="en-US">
              <a:latin typeface="STIX Two Math" panose="02020603050405020304" pitchFamily="18" charset="0"/>
              <a:cs typeface="STIX Two Math" panose="02020603050405020304" pitchFamily="18" charset="0"/>
            </a:endParaRPr>
          </a:p>
        </p:txBody>
      </p:sp>
      <p:sp>
        <p:nvSpPr>
          <p:cNvPr id="45" name="左大括弧 4">
            <a:extLst>
              <a:ext uri="{FF2B5EF4-FFF2-40B4-BE49-F238E27FC236}">
                <a16:creationId xmlns:a16="http://schemas.microsoft.com/office/drawing/2014/main" id="{ECB00D4C-D0D7-5BAD-5927-F658A69D7CE7}"/>
              </a:ext>
            </a:extLst>
          </p:cNvPr>
          <p:cNvSpPr/>
          <p:nvPr/>
        </p:nvSpPr>
        <p:spPr>
          <a:xfrm rot="5400000">
            <a:off x="3991097" y="4508604"/>
            <a:ext cx="312400" cy="1663274"/>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a:endParaRPr lang="zh-TW" altLang="en-US">
              <a:latin typeface="STIX Two Math" panose="02020603050405020304" pitchFamily="18" charset="0"/>
              <a:cs typeface="STIX Two Math" panose="02020603050405020304" pitchFamily="18" charset="0"/>
            </a:endParaRPr>
          </a:p>
        </p:txBody>
      </p:sp>
      <p:cxnSp>
        <p:nvCxnSpPr>
          <p:cNvPr id="46" name="直線接點 35">
            <a:extLst>
              <a:ext uri="{FF2B5EF4-FFF2-40B4-BE49-F238E27FC236}">
                <a16:creationId xmlns:a16="http://schemas.microsoft.com/office/drawing/2014/main" id="{A12440E5-0B7E-87F9-33E6-1B01EABFEC59}"/>
              </a:ext>
            </a:extLst>
          </p:cNvPr>
          <p:cNvCxnSpPr/>
          <p:nvPr/>
        </p:nvCxnSpPr>
        <p:spPr>
          <a:xfrm>
            <a:off x="4975627" y="4607150"/>
            <a:ext cx="0" cy="976667"/>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線接點 23">
            <a:extLst>
              <a:ext uri="{FF2B5EF4-FFF2-40B4-BE49-F238E27FC236}">
                <a16:creationId xmlns:a16="http://schemas.microsoft.com/office/drawing/2014/main" id="{A33D4450-E14F-8724-E1B2-228648E6B2D5}"/>
              </a:ext>
            </a:extLst>
          </p:cNvPr>
          <p:cNvCxnSpPr/>
          <p:nvPr/>
        </p:nvCxnSpPr>
        <p:spPr>
          <a:xfrm>
            <a:off x="4329827" y="4498853"/>
            <a:ext cx="1231903" cy="239227"/>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48" name="橢圓 30">
            <a:extLst>
              <a:ext uri="{FF2B5EF4-FFF2-40B4-BE49-F238E27FC236}">
                <a16:creationId xmlns:a16="http://schemas.microsoft.com/office/drawing/2014/main" id="{138C063B-5347-DF0D-AE7D-629F3BCDEC92}"/>
              </a:ext>
            </a:extLst>
          </p:cNvPr>
          <p:cNvSpPr/>
          <p:nvPr/>
        </p:nvSpPr>
        <p:spPr>
          <a:xfrm>
            <a:off x="5939236" y="5468599"/>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TW" altLang="en-US">
              <a:latin typeface="STIX Two Math" panose="02020603050405020304" pitchFamily="18" charset="0"/>
              <a:cs typeface="STIX Two Math" panose="02020603050405020304" pitchFamily="18" charset="0"/>
            </a:endParaRPr>
          </a:p>
        </p:txBody>
      </p:sp>
      <p:cxnSp>
        <p:nvCxnSpPr>
          <p:cNvPr id="49" name="直線接點 31">
            <a:extLst>
              <a:ext uri="{FF2B5EF4-FFF2-40B4-BE49-F238E27FC236}">
                <a16:creationId xmlns:a16="http://schemas.microsoft.com/office/drawing/2014/main" id="{51C0D42D-D5EC-9DEF-473C-A5F7845C318A}"/>
              </a:ext>
            </a:extLst>
          </p:cNvPr>
          <p:cNvCxnSpPr/>
          <p:nvPr/>
        </p:nvCxnSpPr>
        <p:spPr>
          <a:xfrm>
            <a:off x="6068594" y="4737604"/>
            <a:ext cx="0" cy="898659"/>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50" name="左大括弧 38">
            <a:extLst>
              <a:ext uri="{FF2B5EF4-FFF2-40B4-BE49-F238E27FC236}">
                <a16:creationId xmlns:a16="http://schemas.microsoft.com/office/drawing/2014/main" id="{FCE7C0B9-94D4-E24B-8863-9422168283C9}"/>
              </a:ext>
            </a:extLst>
          </p:cNvPr>
          <p:cNvSpPr/>
          <p:nvPr/>
        </p:nvSpPr>
        <p:spPr>
          <a:xfrm rot="5400000">
            <a:off x="5332764" y="4844217"/>
            <a:ext cx="312400" cy="1020060"/>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a:endParaRPr lang="zh-TW" altLang="en-US">
              <a:latin typeface="STIX Two Math" panose="02020603050405020304" pitchFamily="18" charset="0"/>
              <a:cs typeface="STIX Two Math" panose="02020603050405020304" pitchFamily="18" charset="0"/>
            </a:endParaRPr>
          </a:p>
        </p:txBody>
      </p:sp>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B56E3423-B61B-2876-E3E8-2C2DD0DAE8F3}"/>
                  </a:ext>
                </a:extLst>
              </p:cNvPr>
              <p:cNvSpPr/>
              <p:nvPr/>
            </p:nvSpPr>
            <p:spPr>
              <a:xfrm>
                <a:off x="6747197" y="1426990"/>
                <a:ext cx="2816156" cy="529312"/>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FF0000"/>
                    </a:solidFill>
                    <a:latin typeface="STIX Two Math" panose="02020603050405020304" pitchFamily="18" charset="0"/>
                    <a:cs typeface="STIX Two Math" panose="02020603050405020304" pitchFamily="18" charset="0"/>
                  </a:rPr>
                  <a:t>梯度：</a:t>
                </a:r>
                <a14:m>
                  <m:oMath xmlns:m="http://schemas.openxmlformats.org/officeDocument/2006/math">
                    <m:f>
                      <m:fPr>
                        <m:ctrlPr>
                          <a:rPr lang="en-US" altLang="zh-CN"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CN"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𝑓</m:t>
                        </m:r>
                        <m:r>
                          <a:rPr lang="en-US" altLang="zh-CN"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CN"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CN"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num>
                      <m:den>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 </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den>
                    </m:f>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func>
                      <m:funcPr>
                        <m:ctrlPr>
                          <a:rPr lang="en-US" altLang="zh-TW"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funcPr>
                      <m:fName>
                        <m:limLow>
                          <m:limLowPr>
                            <m:ctrlPr>
                              <a:rPr lang="en-US" altLang="zh-TW"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limLowPr>
                          <m:e>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𝑙𝑖𝑚</m:t>
                            </m:r>
                          </m:e>
                          <m:lim>
                            <m:r>
                              <a:rPr lang="el-GR"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𝛥</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→0</m:t>
                            </m:r>
                          </m:lim>
                        </m:limLow>
                      </m:fName>
                      <m:e>
                        <m:f>
                          <m:fPr>
                            <m:ctrlPr>
                              <a:rPr lang="en-US" altLang="zh-TW"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ctrlPr>
                          </m:fPr>
                          <m:num>
                            <m:r>
                              <a:rPr lang="en-US" altLang="zh-TW" b="0" i="1" smtClean="0">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𝑓</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r>
                              <a:rPr lang="el-GR"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𝛥</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m:t>
                            </m:r>
                          </m:num>
                          <m:den>
                            <m:r>
                              <a:rPr lang="el-GR"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𝛥</m:t>
                            </m:r>
                            <m:r>
                              <a:rPr lang="en-US" altLang="zh-TW" b="0" i="1">
                                <a:solidFill>
                                  <a:srgbClr val="FF0000"/>
                                </a:solidFill>
                                <a:latin typeface="Cambria Math" panose="02040503050406030204" pitchFamily="18" charset="0"/>
                                <a:ea typeface="STIX Two Math" panose="02020603050405020304" pitchFamily="18" charset="0"/>
                                <a:cs typeface="STIX Two Math" panose="02020603050405020304" pitchFamily="18" charset="0"/>
                              </a:rPr>
                              <m:t>𝑤</m:t>
                            </m:r>
                          </m:den>
                        </m:f>
                      </m:e>
                    </m:func>
                  </m:oMath>
                </a14:m>
                <a:endParaRPr lang="zh-CN" altLang="en-US" i="1" dirty="0">
                  <a:solidFill>
                    <a:srgbClr val="FF0000"/>
                  </a:solidFill>
                  <a:latin typeface="STIX Two Math" panose="02020603050405020304" pitchFamily="18" charset="0"/>
                  <a:cs typeface="STIX Two Math" panose="02020603050405020304" pitchFamily="18" charset="0"/>
                </a:endParaRPr>
              </a:p>
            </p:txBody>
          </p:sp>
        </mc:Choice>
        <mc:Fallback xmlns="">
          <p:sp>
            <p:nvSpPr>
              <p:cNvPr id="51" name="矩形 50">
                <a:extLst>
                  <a:ext uri="{FF2B5EF4-FFF2-40B4-BE49-F238E27FC236}">
                    <a16:creationId xmlns:a16="http://schemas.microsoft.com/office/drawing/2014/main" id="{B56E3423-B61B-2876-E3E8-2C2DD0DAE8F3}"/>
                  </a:ext>
                </a:extLst>
              </p:cNvPr>
              <p:cNvSpPr>
                <a:spLocks noRot="1" noChangeAspect="1" noMove="1" noResize="1" noEditPoints="1" noAdjustHandles="1" noChangeArrowheads="1" noChangeShapeType="1" noTextEdit="1"/>
              </p:cNvSpPr>
              <p:nvPr/>
            </p:nvSpPr>
            <p:spPr>
              <a:xfrm>
                <a:off x="6747197" y="1426990"/>
                <a:ext cx="2816156" cy="529312"/>
              </a:xfrm>
              <a:prstGeom prst="rect">
                <a:avLst/>
              </a:prstGeom>
              <a:blipFill>
                <a:blip r:embed="rId5"/>
                <a:stretch>
                  <a:fillRect l="-1948" r="-3896" b="-1149"/>
                </a:stretch>
              </a:blipFill>
            </p:spPr>
            <p:txBody>
              <a:bodyPr/>
              <a:lstStyle/>
              <a:p>
                <a:r>
                  <a:rPr lang="zh-CN" altLang="en-US">
                    <a:noFill/>
                  </a:rPr>
                  <a:t> </a:t>
                </a:r>
              </a:p>
            </p:txBody>
          </p:sp>
        </mc:Fallback>
      </mc:AlternateContent>
      <p:sp>
        <p:nvSpPr>
          <p:cNvPr id="52" name="左大括弧 38">
            <a:extLst>
              <a:ext uri="{FF2B5EF4-FFF2-40B4-BE49-F238E27FC236}">
                <a16:creationId xmlns:a16="http://schemas.microsoft.com/office/drawing/2014/main" id="{A3B897A2-92CA-711F-2A1F-FFD182317C9E}"/>
              </a:ext>
            </a:extLst>
          </p:cNvPr>
          <p:cNvSpPr/>
          <p:nvPr/>
        </p:nvSpPr>
        <p:spPr>
          <a:xfrm rot="5400000">
            <a:off x="6566513" y="4797599"/>
            <a:ext cx="319651" cy="1275312"/>
          </a:xfrm>
          <a:prstGeom prst="leftBrace">
            <a:avLst>
              <a:gd name="adj1" fmla="val 10804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a:endParaRPr lang="zh-TW" altLang="en-US">
              <a:latin typeface="STIX Two Math" panose="02020603050405020304" pitchFamily="18" charset="0"/>
              <a:cs typeface="STIX Two Math" panose="02020603050405020304" pitchFamily="18" charset="0"/>
            </a:endParaRPr>
          </a:p>
        </p:txBody>
      </p:sp>
      <p:cxnSp>
        <p:nvCxnSpPr>
          <p:cNvPr id="53" name="直線接點 31">
            <a:extLst>
              <a:ext uri="{FF2B5EF4-FFF2-40B4-BE49-F238E27FC236}">
                <a16:creationId xmlns:a16="http://schemas.microsoft.com/office/drawing/2014/main" id="{229EF38A-1103-3695-337D-7B2D06DA0BA1}"/>
              </a:ext>
            </a:extLst>
          </p:cNvPr>
          <p:cNvCxnSpPr/>
          <p:nvPr/>
        </p:nvCxnSpPr>
        <p:spPr>
          <a:xfrm>
            <a:off x="7363994" y="5389170"/>
            <a:ext cx="0" cy="290546"/>
          </a:xfrm>
          <a:prstGeom prst="line">
            <a:avLst/>
          </a:prstGeom>
          <a:ln w="57150">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54" name="橢圓 69">
            <a:extLst>
              <a:ext uri="{FF2B5EF4-FFF2-40B4-BE49-F238E27FC236}">
                <a16:creationId xmlns:a16="http://schemas.microsoft.com/office/drawing/2014/main" id="{D90EC4EF-EDD5-6743-5403-3FC12C7D61D0}"/>
              </a:ext>
            </a:extLst>
          </p:cNvPr>
          <p:cNvSpPr/>
          <p:nvPr/>
        </p:nvSpPr>
        <p:spPr>
          <a:xfrm>
            <a:off x="7220694" y="5526008"/>
            <a:ext cx="191799" cy="19179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TW" altLang="en-US">
              <a:latin typeface="STIX Two Math" panose="02020603050405020304" pitchFamily="18" charset="0"/>
              <a:cs typeface="STIX Two Math" panose="02020603050405020304" pitchFamily="18" charset="0"/>
            </a:endParaRPr>
          </a:p>
        </p:txBody>
      </p:sp>
      <p:cxnSp>
        <p:nvCxnSpPr>
          <p:cNvPr id="55" name="直線接點 23">
            <a:extLst>
              <a:ext uri="{FF2B5EF4-FFF2-40B4-BE49-F238E27FC236}">
                <a16:creationId xmlns:a16="http://schemas.microsoft.com/office/drawing/2014/main" id="{5EF10072-C5BD-9E76-ABEE-63EA90B407F3}"/>
              </a:ext>
            </a:extLst>
          </p:cNvPr>
          <p:cNvCxnSpPr/>
          <p:nvPr/>
        </p:nvCxnSpPr>
        <p:spPr>
          <a:xfrm>
            <a:off x="5393274" y="4355812"/>
            <a:ext cx="1361121" cy="745651"/>
          </a:xfrm>
          <a:prstGeom prst="line">
            <a:avLst/>
          </a:prstGeom>
          <a:ln w="57150">
            <a:solidFill>
              <a:srgbClr val="0000FF"/>
            </a:solidFill>
            <a:prstDash val="sysDot"/>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1AD7792C-A243-471D-9F34-CB1B0A59F01B}"/>
              </a:ext>
            </a:extLst>
          </p:cNvPr>
          <p:cNvSpPr/>
          <p:nvPr/>
        </p:nvSpPr>
        <p:spPr>
          <a:xfrm>
            <a:off x="9407604" y="5791747"/>
            <a:ext cx="1107996" cy="369332"/>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latin typeface="STIX Two Math" panose="02020603050405020304" pitchFamily="18" charset="0"/>
                <a:cs typeface="STIX Two Math" panose="02020603050405020304" pitchFamily="18" charset="0"/>
              </a:rPr>
              <a:t>网络参数</a:t>
            </a:r>
            <a:endParaRPr lang="zh-CN" altLang="en-US" dirty="0"/>
          </a:p>
        </p:txBody>
      </p:sp>
    </p:spTree>
    <p:extLst>
      <p:ext uri="{BB962C8B-B14F-4D97-AF65-F5344CB8AC3E}">
        <p14:creationId xmlns:p14="http://schemas.microsoft.com/office/powerpoint/2010/main" val="173120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6" name="Picture 4" descr="03聚类-1"/>
          <p:cNvPicPr>
            <a:picLocks noChangeAspect="1" noChangeArrowheads="1"/>
          </p:cNvPicPr>
          <p:nvPr/>
        </p:nvPicPr>
        <p:blipFill>
          <a:blip r:embed="rId2">
            <a:biLevel thresh="75000"/>
            <a:extLst>
              <a:ext uri="{28A0092B-C50C-407E-A947-70E740481C1C}">
                <a14:useLocalDpi xmlns:a14="http://schemas.microsoft.com/office/drawing/2010/main" val="0"/>
              </a:ext>
            </a:extLst>
          </a:blip>
          <a:srcRect/>
          <a:stretch>
            <a:fillRect/>
          </a:stretch>
        </p:blipFill>
        <p:spPr bwMode="auto">
          <a:xfrm>
            <a:off x="1549399" y="712423"/>
            <a:ext cx="8640255" cy="5826172"/>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1">
            <a:extLst>
              <a:ext uri="{FF2B5EF4-FFF2-40B4-BE49-F238E27FC236}">
                <a16:creationId xmlns:a16="http://schemas.microsoft.com/office/drawing/2014/main" id="{A1BABAE5-CE23-E738-5B71-C2169A05176B}"/>
              </a:ext>
            </a:extLst>
          </p:cNvPr>
          <p:cNvSpPr>
            <a:spLocks noGrp="1"/>
          </p:cNvSpPr>
          <p:nvPr>
            <p:ph type="title"/>
          </p:nvPr>
        </p:nvSpPr>
        <p:spPr>
          <a:xfrm>
            <a:off x="50800" y="0"/>
            <a:ext cx="11191240" cy="701675"/>
          </a:xfrm>
        </p:spPr>
        <p:txBody>
          <a:bodyPr>
            <a:normAutofit/>
          </a:bodyPr>
          <a:lstStyle/>
          <a:p>
            <a:r>
              <a:rPr lang="zh-CN" altLang="en-US" sz="3200" b="1" dirty="0"/>
              <a:t>人工神经网络和深度学习</a:t>
            </a:r>
            <a:r>
              <a:rPr lang="en-US" altLang="zh-CN" sz="3200" b="1" dirty="0" smtClean="0"/>
              <a:t>---</a:t>
            </a:r>
            <a:r>
              <a:rPr lang="zh-CN" altLang="en-US" sz="3200" b="1" dirty="0" smtClean="0"/>
              <a:t>梯度下降</a:t>
            </a:r>
            <a:endParaRPr lang="zh-CN" altLang="en-US" sz="3200" b="1" dirty="0"/>
          </a:p>
        </p:txBody>
      </p:sp>
    </p:spTree>
    <p:extLst>
      <p:ext uri="{BB962C8B-B14F-4D97-AF65-F5344CB8AC3E}">
        <p14:creationId xmlns:p14="http://schemas.microsoft.com/office/powerpoint/2010/main" val="1984437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780" name="Picture 4" descr="03聚类-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631" y="890816"/>
            <a:ext cx="8494786" cy="5728081"/>
          </a:xfrm>
          <a:prstGeom prst="rect">
            <a:avLst/>
          </a:prstGeom>
          <a:noFill/>
          <a:extLst>
            <a:ext uri="{909E8E84-426E-40DD-AFC4-6F175D3DCCD1}">
              <a14:hiddenFill xmlns:a14="http://schemas.microsoft.com/office/drawing/2010/main">
                <a:solidFill>
                  <a:srgbClr val="FFFFFF"/>
                </a:solidFill>
              </a14:hiddenFill>
            </a:ext>
          </a:extLst>
        </p:spPr>
      </p:pic>
      <p:pic>
        <p:nvPicPr>
          <p:cNvPr id="203784" name="Picture 8" descr="2014-4-16-2"/>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7436169" y="2862409"/>
            <a:ext cx="3276600" cy="2060575"/>
          </a:xfrm>
          <a:prstGeom prst="rect">
            <a:avLst/>
          </a:prstGeom>
          <a:noFill/>
          <a:ln w="57150">
            <a:solidFill>
              <a:srgbClr val="008000"/>
            </a:solidFill>
            <a:miter lim="800000"/>
            <a:headEnd/>
            <a:tailEnd/>
          </a:ln>
          <a:extLst>
            <a:ext uri="{909E8E84-426E-40DD-AFC4-6F175D3DCCD1}">
              <a14:hiddenFill xmlns:a14="http://schemas.microsoft.com/office/drawing/2010/main">
                <a:solidFill>
                  <a:srgbClr val="FFFFFF"/>
                </a:solidFill>
              </a14:hiddenFill>
            </a:ext>
          </a:extLst>
        </p:spPr>
      </p:pic>
      <p:sp>
        <p:nvSpPr>
          <p:cNvPr id="203785" name="Line 9"/>
          <p:cNvSpPr>
            <a:spLocks noChangeShapeType="1"/>
          </p:cNvSpPr>
          <p:nvPr/>
        </p:nvSpPr>
        <p:spPr bwMode="auto">
          <a:xfrm>
            <a:off x="6745924" y="5694045"/>
            <a:ext cx="936625" cy="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3786" name="Line 10"/>
          <p:cNvSpPr>
            <a:spLocks noChangeShapeType="1"/>
          </p:cNvSpPr>
          <p:nvPr/>
        </p:nvSpPr>
        <p:spPr bwMode="auto">
          <a:xfrm>
            <a:off x="9597709" y="4426268"/>
            <a:ext cx="936625" cy="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标题 1">
            <a:extLst>
              <a:ext uri="{FF2B5EF4-FFF2-40B4-BE49-F238E27FC236}">
                <a16:creationId xmlns:a16="http://schemas.microsoft.com/office/drawing/2014/main" id="{A1BABAE5-CE23-E738-5B71-C2169A05176B}"/>
              </a:ext>
            </a:extLst>
          </p:cNvPr>
          <p:cNvSpPr>
            <a:spLocks noGrp="1"/>
          </p:cNvSpPr>
          <p:nvPr>
            <p:ph type="title"/>
          </p:nvPr>
        </p:nvSpPr>
        <p:spPr>
          <a:xfrm>
            <a:off x="50800" y="0"/>
            <a:ext cx="11191240" cy="701675"/>
          </a:xfrm>
        </p:spPr>
        <p:txBody>
          <a:bodyPr>
            <a:normAutofit/>
          </a:bodyPr>
          <a:lstStyle/>
          <a:p>
            <a:r>
              <a:rPr lang="zh-CN" altLang="en-US" sz="3200" b="1" dirty="0"/>
              <a:t>人工神经网络和深度学习</a:t>
            </a:r>
            <a:r>
              <a:rPr lang="en-US" altLang="zh-CN" sz="3200" b="1" dirty="0" smtClean="0"/>
              <a:t>---</a:t>
            </a:r>
            <a:r>
              <a:rPr lang="zh-CN" altLang="en-US" sz="3200" b="1" dirty="0" smtClean="0"/>
              <a:t>梯度下降</a:t>
            </a:r>
            <a:endParaRPr lang="zh-CN" altLang="en-US" sz="3200" b="1" dirty="0"/>
          </a:p>
        </p:txBody>
      </p:sp>
    </p:spTree>
    <p:extLst>
      <p:ext uri="{BB962C8B-B14F-4D97-AF65-F5344CB8AC3E}">
        <p14:creationId xmlns:p14="http://schemas.microsoft.com/office/powerpoint/2010/main" val="10774848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04" name="Picture 4" descr="03聚类-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400" y="677863"/>
            <a:ext cx="8839200" cy="6108700"/>
          </a:xfrm>
          <a:prstGeom prst="rect">
            <a:avLst/>
          </a:prstGeom>
          <a:noFill/>
          <a:extLst>
            <a:ext uri="{909E8E84-426E-40DD-AFC4-6F175D3DCCD1}">
              <a14:hiddenFill xmlns:a14="http://schemas.microsoft.com/office/drawing/2010/main">
                <a:solidFill>
                  <a:srgbClr val="FFFFFF"/>
                </a:solidFill>
              </a14:hiddenFill>
            </a:ext>
          </a:extLst>
        </p:spPr>
      </p:pic>
      <p:pic>
        <p:nvPicPr>
          <p:cNvPr id="204808" name="Picture 8" descr="2014-4-1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5013325"/>
            <a:ext cx="3276600" cy="1773238"/>
          </a:xfrm>
          <a:prstGeom prst="rect">
            <a:avLst/>
          </a:prstGeom>
          <a:noFill/>
          <a:ln w="57150">
            <a:solidFill>
              <a:srgbClr val="FF33CC"/>
            </a:solidFill>
            <a:miter lim="800000"/>
            <a:headEnd/>
            <a:tailEnd/>
          </a:ln>
          <a:extLst>
            <a:ext uri="{909E8E84-426E-40DD-AFC4-6F175D3DCCD1}">
              <a14:hiddenFill xmlns:a14="http://schemas.microsoft.com/office/drawing/2010/main">
                <a:solidFill>
                  <a:srgbClr val="FFFFFF"/>
                </a:solidFill>
              </a14:hiddenFill>
            </a:ext>
          </a:extLst>
        </p:spPr>
      </p:pic>
      <p:sp>
        <p:nvSpPr>
          <p:cNvPr id="204809" name="Line 9"/>
          <p:cNvSpPr>
            <a:spLocks noChangeShapeType="1"/>
          </p:cNvSpPr>
          <p:nvPr/>
        </p:nvSpPr>
        <p:spPr bwMode="auto">
          <a:xfrm>
            <a:off x="7751763" y="6237288"/>
            <a:ext cx="1873250" cy="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810" name="Line 10"/>
          <p:cNvSpPr>
            <a:spLocks noChangeShapeType="1"/>
          </p:cNvSpPr>
          <p:nvPr/>
        </p:nvSpPr>
        <p:spPr bwMode="auto">
          <a:xfrm>
            <a:off x="2870518" y="6248718"/>
            <a:ext cx="2520950" cy="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标题 1">
            <a:extLst>
              <a:ext uri="{FF2B5EF4-FFF2-40B4-BE49-F238E27FC236}">
                <a16:creationId xmlns:a16="http://schemas.microsoft.com/office/drawing/2014/main" id="{A1BABAE5-CE23-E738-5B71-C2169A05176B}"/>
              </a:ext>
            </a:extLst>
          </p:cNvPr>
          <p:cNvSpPr>
            <a:spLocks noGrp="1"/>
          </p:cNvSpPr>
          <p:nvPr>
            <p:ph type="title"/>
          </p:nvPr>
        </p:nvSpPr>
        <p:spPr>
          <a:xfrm>
            <a:off x="71120" y="0"/>
            <a:ext cx="11191240" cy="701675"/>
          </a:xfrm>
        </p:spPr>
        <p:txBody>
          <a:bodyPr>
            <a:normAutofit/>
          </a:bodyPr>
          <a:lstStyle/>
          <a:p>
            <a:r>
              <a:rPr lang="zh-CN" altLang="en-US" sz="3200" b="1" dirty="0"/>
              <a:t>人工神经网络和深度学习</a:t>
            </a:r>
            <a:r>
              <a:rPr lang="en-US" altLang="zh-CN" sz="3200" b="1" dirty="0" smtClean="0"/>
              <a:t>---</a:t>
            </a:r>
            <a:r>
              <a:rPr lang="zh-CN" altLang="en-US" sz="3200" b="1" dirty="0" smtClean="0"/>
              <a:t>梯度下降</a:t>
            </a:r>
            <a:endParaRPr lang="zh-CN" altLang="en-US" sz="3200" b="1" dirty="0"/>
          </a:p>
        </p:txBody>
      </p:sp>
    </p:spTree>
    <p:extLst>
      <p:ext uri="{BB962C8B-B14F-4D97-AF65-F5344CB8AC3E}">
        <p14:creationId xmlns:p14="http://schemas.microsoft.com/office/powerpoint/2010/main" val="38536814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p:cNvGrpSpPr>
            <a:grpSpLocks/>
          </p:cNvGrpSpPr>
          <p:nvPr/>
        </p:nvGrpSpPr>
        <p:grpSpPr bwMode="auto">
          <a:xfrm>
            <a:off x="3893657" y="1567266"/>
            <a:ext cx="3267075" cy="4733925"/>
            <a:chOff x="0" y="0"/>
            <a:chExt cx="2148" cy="3117"/>
          </a:xfrm>
        </p:grpSpPr>
        <p:sp>
          <p:nvSpPr>
            <p:cNvPr id="22540" name="Oval 3"/>
            <p:cNvSpPr>
              <a:spLocks noChangeArrowheads="1"/>
            </p:cNvSpPr>
            <p:nvPr/>
          </p:nvSpPr>
          <p:spPr bwMode="auto">
            <a:xfrm>
              <a:off x="194" y="553"/>
              <a:ext cx="340"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1" name="Oval 4"/>
            <p:cNvSpPr>
              <a:spLocks noChangeArrowheads="1"/>
            </p:cNvSpPr>
            <p:nvPr/>
          </p:nvSpPr>
          <p:spPr bwMode="auto">
            <a:xfrm>
              <a:off x="894" y="570"/>
              <a:ext cx="340"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2" name="Oval 5"/>
            <p:cNvSpPr>
              <a:spLocks noChangeArrowheads="1"/>
            </p:cNvSpPr>
            <p:nvPr/>
          </p:nvSpPr>
          <p:spPr bwMode="auto">
            <a:xfrm>
              <a:off x="1558" y="570"/>
              <a:ext cx="340"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3" name="Oval 6"/>
            <p:cNvSpPr>
              <a:spLocks noChangeArrowheads="1"/>
            </p:cNvSpPr>
            <p:nvPr/>
          </p:nvSpPr>
          <p:spPr bwMode="auto">
            <a:xfrm>
              <a:off x="913" y="1360"/>
              <a:ext cx="339" cy="316"/>
            </a:xfrm>
            <a:prstGeom prst="ellipse">
              <a:avLst/>
            </a:prstGeom>
            <a:solidFill>
              <a:srgbClr val="FF0000"/>
            </a:solidFill>
            <a:ln w="12700">
              <a:solidFill>
                <a:schemeClr val="bg2"/>
              </a:solidFill>
              <a:round/>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4" name="Oval 7"/>
            <p:cNvSpPr>
              <a:spLocks noChangeArrowheads="1"/>
            </p:cNvSpPr>
            <p:nvPr/>
          </p:nvSpPr>
          <p:spPr bwMode="auto">
            <a:xfrm>
              <a:off x="1808" y="1360"/>
              <a:ext cx="340" cy="316"/>
            </a:xfrm>
            <a:prstGeom prst="ellipse">
              <a:avLst/>
            </a:prstGeom>
            <a:solidFill>
              <a:srgbClr val="FF0000"/>
            </a:solidFill>
            <a:ln w="12700">
              <a:solidFill>
                <a:schemeClr val="bg2"/>
              </a:solidFill>
              <a:round/>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5" name="Oval 8"/>
            <p:cNvSpPr>
              <a:spLocks noChangeArrowheads="1"/>
            </p:cNvSpPr>
            <p:nvPr/>
          </p:nvSpPr>
          <p:spPr bwMode="auto">
            <a:xfrm>
              <a:off x="0" y="1376"/>
              <a:ext cx="340" cy="316"/>
            </a:xfrm>
            <a:prstGeom prst="ellipse">
              <a:avLst/>
            </a:prstGeom>
            <a:solidFill>
              <a:srgbClr val="FF0000"/>
            </a:solidFill>
            <a:ln w="12700">
              <a:solidFill>
                <a:schemeClr val="bg2"/>
              </a:solidFill>
              <a:round/>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6" name="Oval 9"/>
            <p:cNvSpPr>
              <a:spLocks noChangeArrowheads="1"/>
            </p:cNvSpPr>
            <p:nvPr/>
          </p:nvSpPr>
          <p:spPr bwMode="auto">
            <a:xfrm>
              <a:off x="519" y="2216"/>
              <a:ext cx="339"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7" name="Oval 10"/>
            <p:cNvSpPr>
              <a:spLocks noChangeArrowheads="1"/>
            </p:cNvSpPr>
            <p:nvPr/>
          </p:nvSpPr>
          <p:spPr bwMode="auto">
            <a:xfrm>
              <a:off x="1361" y="2197"/>
              <a:ext cx="339"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22548" name="Line 11"/>
            <p:cNvSpPr>
              <a:spLocks noChangeShapeType="1"/>
            </p:cNvSpPr>
            <p:nvPr/>
          </p:nvSpPr>
          <p:spPr bwMode="auto">
            <a:xfrm flipH="1" flipV="1">
              <a:off x="232" y="1709"/>
              <a:ext cx="320" cy="537"/>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49" name="Line 12"/>
            <p:cNvSpPr>
              <a:spLocks noChangeShapeType="1"/>
            </p:cNvSpPr>
            <p:nvPr/>
          </p:nvSpPr>
          <p:spPr bwMode="auto">
            <a:xfrm flipV="1">
              <a:off x="681" y="1660"/>
              <a:ext cx="303" cy="551"/>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0" name="Line 13"/>
            <p:cNvSpPr>
              <a:spLocks noChangeShapeType="1"/>
            </p:cNvSpPr>
            <p:nvPr/>
          </p:nvSpPr>
          <p:spPr bwMode="auto">
            <a:xfrm flipV="1">
              <a:off x="822" y="1643"/>
              <a:ext cx="1022" cy="61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1" name="Line 14"/>
            <p:cNvSpPr>
              <a:spLocks noChangeShapeType="1"/>
            </p:cNvSpPr>
            <p:nvPr/>
          </p:nvSpPr>
          <p:spPr bwMode="auto">
            <a:xfrm flipH="1" flipV="1">
              <a:off x="339" y="1642"/>
              <a:ext cx="1020" cy="586"/>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2" name="Line 15"/>
            <p:cNvSpPr>
              <a:spLocks noChangeShapeType="1"/>
            </p:cNvSpPr>
            <p:nvPr/>
          </p:nvSpPr>
          <p:spPr bwMode="auto">
            <a:xfrm flipH="1" flipV="1">
              <a:off x="1199" y="1693"/>
              <a:ext cx="322" cy="502"/>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3" name="Line 16"/>
            <p:cNvSpPr>
              <a:spLocks noChangeShapeType="1"/>
            </p:cNvSpPr>
            <p:nvPr/>
          </p:nvSpPr>
          <p:spPr bwMode="auto">
            <a:xfrm flipV="1">
              <a:off x="1683" y="1727"/>
              <a:ext cx="287" cy="46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4" name="Line 17"/>
            <p:cNvSpPr>
              <a:spLocks noChangeShapeType="1"/>
            </p:cNvSpPr>
            <p:nvPr/>
          </p:nvSpPr>
          <p:spPr bwMode="auto">
            <a:xfrm flipV="1">
              <a:off x="70" y="871"/>
              <a:ext cx="268" cy="51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5" name="Line 18"/>
            <p:cNvSpPr>
              <a:spLocks noChangeShapeType="1"/>
            </p:cNvSpPr>
            <p:nvPr/>
          </p:nvSpPr>
          <p:spPr bwMode="auto">
            <a:xfrm flipV="1">
              <a:off x="231" y="868"/>
              <a:ext cx="787" cy="504"/>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6" name="Line 19"/>
            <p:cNvSpPr>
              <a:spLocks noChangeShapeType="1"/>
            </p:cNvSpPr>
            <p:nvPr/>
          </p:nvSpPr>
          <p:spPr bwMode="auto">
            <a:xfrm flipV="1">
              <a:off x="322" y="887"/>
              <a:ext cx="1380" cy="502"/>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7" name="Line 20"/>
            <p:cNvSpPr>
              <a:spLocks noChangeShapeType="1"/>
            </p:cNvSpPr>
            <p:nvPr/>
          </p:nvSpPr>
          <p:spPr bwMode="auto">
            <a:xfrm flipH="1" flipV="1">
              <a:off x="481" y="833"/>
              <a:ext cx="1342" cy="572"/>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8" name="Line 21"/>
            <p:cNvSpPr>
              <a:spLocks noChangeShapeType="1"/>
            </p:cNvSpPr>
            <p:nvPr/>
          </p:nvSpPr>
          <p:spPr bwMode="auto">
            <a:xfrm flipH="1" flipV="1">
              <a:off x="1805" y="868"/>
              <a:ext cx="197" cy="504"/>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59" name="Line 22"/>
            <p:cNvSpPr>
              <a:spLocks noChangeShapeType="1"/>
            </p:cNvSpPr>
            <p:nvPr/>
          </p:nvSpPr>
          <p:spPr bwMode="auto">
            <a:xfrm flipH="1" flipV="1">
              <a:off x="1143" y="918"/>
              <a:ext cx="734" cy="453"/>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0" name="Line 23"/>
            <p:cNvSpPr>
              <a:spLocks noChangeShapeType="1"/>
            </p:cNvSpPr>
            <p:nvPr/>
          </p:nvSpPr>
          <p:spPr bwMode="auto">
            <a:xfrm flipH="1" flipV="1">
              <a:off x="429" y="888"/>
              <a:ext cx="537" cy="46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1" name="Line 24"/>
            <p:cNvSpPr>
              <a:spLocks noChangeShapeType="1"/>
            </p:cNvSpPr>
            <p:nvPr/>
          </p:nvSpPr>
          <p:spPr bwMode="auto">
            <a:xfrm flipV="1">
              <a:off x="1074" y="905"/>
              <a:ext cx="0" cy="434"/>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2" name="Line 25"/>
            <p:cNvSpPr>
              <a:spLocks noChangeShapeType="1"/>
            </p:cNvSpPr>
            <p:nvPr/>
          </p:nvSpPr>
          <p:spPr bwMode="auto">
            <a:xfrm flipV="1">
              <a:off x="1200" y="939"/>
              <a:ext cx="501" cy="451"/>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3" name="Line 26"/>
            <p:cNvSpPr>
              <a:spLocks noChangeShapeType="1"/>
            </p:cNvSpPr>
            <p:nvPr/>
          </p:nvSpPr>
          <p:spPr bwMode="auto">
            <a:xfrm flipV="1">
              <a:off x="643" y="2532"/>
              <a:ext cx="0" cy="56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4" name="Line 27"/>
            <p:cNvSpPr>
              <a:spLocks noChangeShapeType="1"/>
            </p:cNvSpPr>
            <p:nvPr/>
          </p:nvSpPr>
          <p:spPr bwMode="auto">
            <a:xfrm flipV="1">
              <a:off x="1539" y="2549"/>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5" name="Line 28"/>
            <p:cNvSpPr>
              <a:spLocks noChangeShapeType="1"/>
            </p:cNvSpPr>
            <p:nvPr/>
          </p:nvSpPr>
          <p:spPr bwMode="auto">
            <a:xfrm flipV="1">
              <a:off x="339" y="16"/>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6" name="Line 29"/>
            <p:cNvSpPr>
              <a:spLocks noChangeShapeType="1"/>
            </p:cNvSpPr>
            <p:nvPr/>
          </p:nvSpPr>
          <p:spPr bwMode="auto">
            <a:xfrm flipV="1">
              <a:off x="1055" y="0"/>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22567" name="Line 30"/>
            <p:cNvSpPr>
              <a:spLocks noChangeShapeType="1"/>
            </p:cNvSpPr>
            <p:nvPr/>
          </p:nvSpPr>
          <p:spPr bwMode="auto">
            <a:xfrm flipV="1">
              <a:off x="1699" y="0"/>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grpSp>
      <p:sp>
        <p:nvSpPr>
          <p:cNvPr id="22531" name="Rectangle 31"/>
          <p:cNvSpPr>
            <a:spLocks noChangeArrowheads="1"/>
          </p:cNvSpPr>
          <p:nvPr/>
        </p:nvSpPr>
        <p:spPr bwMode="auto">
          <a:xfrm>
            <a:off x="2009255" y="2420939"/>
            <a:ext cx="18354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anose="02020603050405020304" pitchFamily="18" charset="0"/>
                <a:cs typeface="Times New Roman" panose="02020603050405020304" pitchFamily="18" charset="0"/>
              </a:rPr>
              <a:t>Output nodes</a:t>
            </a:r>
          </a:p>
        </p:txBody>
      </p:sp>
      <p:sp>
        <p:nvSpPr>
          <p:cNvPr id="22532" name="Rectangle 32"/>
          <p:cNvSpPr>
            <a:spLocks noChangeArrowheads="1"/>
          </p:cNvSpPr>
          <p:nvPr/>
        </p:nvSpPr>
        <p:spPr bwMode="auto">
          <a:xfrm>
            <a:off x="2002309" y="5013326"/>
            <a:ext cx="163025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itchFamily="18" charset="0"/>
              </a:rPr>
              <a:t>Input nodes</a:t>
            </a:r>
          </a:p>
        </p:txBody>
      </p:sp>
      <p:sp>
        <p:nvSpPr>
          <p:cNvPr id="22533" name="Rectangle 33"/>
          <p:cNvSpPr>
            <a:spLocks noChangeArrowheads="1"/>
          </p:cNvSpPr>
          <p:nvPr/>
        </p:nvSpPr>
        <p:spPr bwMode="auto">
          <a:xfrm>
            <a:off x="1991545" y="3644901"/>
            <a:ext cx="1886735"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anose="02020603050405020304" pitchFamily="18" charset="0"/>
                <a:cs typeface="Times New Roman" panose="02020603050405020304" pitchFamily="18" charset="0"/>
              </a:rPr>
              <a:t>Hidden nodes</a:t>
            </a:r>
          </a:p>
        </p:txBody>
      </p:sp>
      <p:sp>
        <p:nvSpPr>
          <p:cNvPr id="22534" name="Rectangle 34"/>
          <p:cNvSpPr>
            <a:spLocks noChangeArrowheads="1"/>
          </p:cNvSpPr>
          <p:nvPr/>
        </p:nvSpPr>
        <p:spPr bwMode="auto">
          <a:xfrm>
            <a:off x="2016953" y="1701801"/>
            <a:ext cx="1885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anose="02020603050405020304" pitchFamily="18" charset="0"/>
                <a:cs typeface="Times New Roman" panose="02020603050405020304" pitchFamily="18" charset="0"/>
              </a:rPr>
              <a:t>Output vector</a:t>
            </a:r>
          </a:p>
        </p:txBody>
      </p:sp>
      <p:sp>
        <p:nvSpPr>
          <p:cNvPr id="22535" name="Rectangle 35"/>
          <p:cNvSpPr>
            <a:spLocks noChangeArrowheads="1"/>
          </p:cNvSpPr>
          <p:nvPr/>
        </p:nvSpPr>
        <p:spPr bwMode="auto">
          <a:xfrm>
            <a:off x="2500787" y="5919022"/>
            <a:ext cx="203581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itchFamily="18" charset="0"/>
              </a:rPr>
              <a:t>Input vector: </a:t>
            </a:r>
            <a:r>
              <a:rPr lang="zh-CN" altLang="en-US" sz="2400" i="1" dirty="0">
                <a:latin typeface="Times New Roman" pitchFamily="18" charset="0"/>
              </a:rPr>
              <a:t>x</a:t>
            </a:r>
            <a:r>
              <a:rPr lang="zh-CN" altLang="en-US" sz="2400" i="1" baseline="-25000" dirty="0">
                <a:latin typeface="Times New Roman" pitchFamily="18" charset="0"/>
              </a:rPr>
              <a:t>i</a:t>
            </a:r>
          </a:p>
        </p:txBody>
      </p:sp>
      <p:sp>
        <p:nvSpPr>
          <p:cNvPr id="22536" name="Rectangle 36"/>
          <p:cNvSpPr>
            <a:spLocks noChangeArrowheads="1"/>
          </p:cNvSpPr>
          <p:nvPr/>
        </p:nvSpPr>
        <p:spPr bwMode="auto">
          <a:xfrm>
            <a:off x="7447301" y="4272433"/>
            <a:ext cx="506549" cy="46230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eaLnBrk="1" hangingPunct="1">
              <a:spcBef>
                <a:spcPct val="0"/>
              </a:spcBef>
              <a:buClrTx/>
              <a:buSzTx/>
              <a:buFontTx/>
              <a:buNone/>
            </a:pPr>
            <a:r>
              <a:rPr lang="zh-CN" altLang="en-US" sz="2400" b="1" i="1" dirty="0">
                <a:latin typeface="Times New Roman" pitchFamily="18" charset="0"/>
              </a:rPr>
              <a:t>w</a:t>
            </a:r>
            <a:r>
              <a:rPr lang="zh-CN" altLang="en-US" sz="2400" b="1" i="1" baseline="-25000" dirty="0">
                <a:latin typeface="Times New Roman" pitchFamily="18" charset="0"/>
              </a:rPr>
              <a:t>ij</a:t>
            </a:r>
          </a:p>
        </p:txBody>
      </p:sp>
      <p:sp>
        <p:nvSpPr>
          <p:cNvPr id="22537" name="未知"/>
          <p:cNvSpPr>
            <a:spLocks/>
          </p:cNvSpPr>
          <p:nvPr/>
        </p:nvSpPr>
        <p:spPr bwMode="auto">
          <a:xfrm>
            <a:off x="6836114" y="4503587"/>
            <a:ext cx="611187" cy="160337"/>
          </a:xfrm>
          <a:custGeom>
            <a:avLst/>
            <a:gdLst>
              <a:gd name="T0" fmla="*/ 609600 w 385"/>
              <a:gd name="T1" fmla="*/ 0 h 101"/>
              <a:gd name="T2" fmla="*/ 496887 w 385"/>
              <a:gd name="T3" fmla="*/ 7937 h 101"/>
              <a:gd name="T4" fmla="*/ 403225 w 385"/>
              <a:gd name="T5" fmla="*/ 23812 h 101"/>
              <a:gd name="T6" fmla="*/ 365125 w 385"/>
              <a:gd name="T7" fmla="*/ 39687 h 101"/>
              <a:gd name="T8" fmla="*/ 338137 w 385"/>
              <a:gd name="T9" fmla="*/ 47625 h 101"/>
              <a:gd name="T10" fmla="*/ 319087 w 385"/>
              <a:gd name="T11" fmla="*/ 63500 h 101"/>
              <a:gd name="T12" fmla="*/ 309562 w 385"/>
              <a:gd name="T13" fmla="*/ 79375 h 101"/>
              <a:gd name="T14" fmla="*/ 300037 w 385"/>
              <a:gd name="T15" fmla="*/ 95250 h 101"/>
              <a:gd name="T16" fmla="*/ 280987 w 385"/>
              <a:gd name="T17" fmla="*/ 111125 h 101"/>
              <a:gd name="T18" fmla="*/ 254000 w 385"/>
              <a:gd name="T19" fmla="*/ 119062 h 101"/>
              <a:gd name="T20" fmla="*/ 215900 w 385"/>
              <a:gd name="T21" fmla="*/ 134937 h 101"/>
              <a:gd name="T22" fmla="*/ 112712 w 385"/>
              <a:gd name="T23" fmla="*/ 150812 h 101"/>
              <a:gd name="T24" fmla="*/ 0 w 385"/>
              <a:gd name="T25" fmla="*/ 158750 h 1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5"/>
              <a:gd name="T40" fmla="*/ 0 h 101"/>
              <a:gd name="T41" fmla="*/ 385 w 385"/>
              <a:gd name="T42" fmla="*/ 101 h 10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5" h="101">
                <a:moveTo>
                  <a:pt x="384" y="0"/>
                </a:moveTo>
                <a:lnTo>
                  <a:pt x="313" y="5"/>
                </a:lnTo>
                <a:lnTo>
                  <a:pt x="254" y="15"/>
                </a:lnTo>
                <a:lnTo>
                  <a:pt x="230" y="25"/>
                </a:lnTo>
                <a:lnTo>
                  <a:pt x="213" y="30"/>
                </a:lnTo>
                <a:lnTo>
                  <a:pt x="201" y="40"/>
                </a:lnTo>
                <a:lnTo>
                  <a:pt x="195" y="50"/>
                </a:lnTo>
                <a:lnTo>
                  <a:pt x="189" y="60"/>
                </a:lnTo>
                <a:lnTo>
                  <a:pt x="177" y="70"/>
                </a:lnTo>
                <a:lnTo>
                  <a:pt x="160" y="75"/>
                </a:lnTo>
                <a:lnTo>
                  <a:pt x="136" y="85"/>
                </a:lnTo>
                <a:lnTo>
                  <a:pt x="71" y="95"/>
                </a:lnTo>
                <a:lnTo>
                  <a:pt x="0" y="100"/>
                </a:lnTo>
              </a:path>
            </a:pathLst>
          </a:custGeom>
          <a:ln>
            <a:headEnd/>
            <a:tailEnd type="stealth" w="med" len="med"/>
          </a:ln>
        </p:spPr>
        <p:style>
          <a:lnRef idx="1">
            <a:schemeClr val="dk1"/>
          </a:lnRef>
          <a:fillRef idx="0">
            <a:schemeClr val="dk1"/>
          </a:fillRef>
          <a:effectRef idx="0">
            <a:schemeClr val="dk1"/>
          </a:effectRef>
          <a:fontRef idx="minor">
            <a:schemeClr val="tx1"/>
          </a:fontRef>
        </p:style>
        <p:txBody>
          <a:bodyPr/>
          <a:lstStyle/>
          <a:p>
            <a:endParaRPr lang="zh-CN" altLang="en-US"/>
          </a:p>
        </p:txBody>
      </p:sp>
      <p:sp>
        <p:nvSpPr>
          <p:cNvPr id="2" name="矩形 1"/>
          <p:cNvSpPr/>
          <p:nvPr/>
        </p:nvSpPr>
        <p:spPr>
          <a:xfrm>
            <a:off x="375217" y="936557"/>
            <a:ext cx="2492990" cy="461665"/>
          </a:xfrm>
          <a:prstGeom prst="rect">
            <a:avLst/>
          </a:prstGeom>
        </p:spPr>
        <p:txBody>
          <a:bodyPr wrap="none">
            <a:spAutoFit/>
          </a:bodyPr>
          <a:lstStyle/>
          <a:p>
            <a:pPr marL="457200" indent="-457200">
              <a:spcBef>
                <a:spcPct val="0"/>
              </a:spcBef>
              <a:buFont typeface="Wingdings" panose="05000000000000000000" pitchFamily="2" charset="2"/>
              <a:buChar char="Ø"/>
            </a:pPr>
            <a:r>
              <a:rPr lang="zh-CN" altLang="zh-CN" sz="2400" dirty="0">
                <a:solidFill>
                  <a:srgbClr val="FF0000"/>
                </a:solidFill>
                <a:latin typeface="微软雅黑" panose="020B0503020204020204" pitchFamily="34" charset="-122"/>
                <a:ea typeface="微软雅黑" panose="020B0503020204020204" pitchFamily="34" charset="-122"/>
                <a:sym typeface="Arial" pitchFamily="34" charset="0"/>
              </a:rPr>
              <a:t>信号正向传播</a:t>
            </a:r>
          </a:p>
        </p:txBody>
      </p:sp>
      <mc:AlternateContent xmlns:mc="http://schemas.openxmlformats.org/markup-compatibility/2006" xmlns:a14="http://schemas.microsoft.com/office/drawing/2010/main">
        <mc:Choice Requires="a14">
          <p:sp>
            <p:nvSpPr>
              <p:cNvPr id="3" name="TextBox 2"/>
              <p:cNvSpPr txBox="1"/>
              <p:nvPr/>
            </p:nvSpPr>
            <p:spPr>
              <a:xfrm>
                <a:off x="7755198" y="3694267"/>
                <a:ext cx="1995867" cy="391646"/>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𝑛𝑒𝑡</m:t>
                        </m:r>
                      </m:e>
                      <m:sub>
                        <m:r>
                          <a:rPr lang="en-US" altLang="zh-CN" i="1">
                            <a:latin typeface="Cambria Math"/>
                          </a:rPr>
                          <m:t>𝑗</m:t>
                        </m:r>
                      </m:sub>
                    </m:sSub>
                  </m:oMath>
                </a14:m>
                <a:r>
                  <a:rPr lang="en-US" altLang="zh-CN" dirty="0"/>
                  <a:t>=</a:t>
                </a:r>
                <a14:m>
                  <m:oMath xmlns:m="http://schemas.openxmlformats.org/officeDocument/2006/math">
                    <m:nary>
                      <m:naryPr>
                        <m:chr m:val="∑"/>
                        <m:supHide m:val="on"/>
                        <m:ctrlPr>
                          <a:rPr lang="en-US" altLang="zh-CN" i="1" dirty="0">
                            <a:latin typeface="Cambria Math" panose="02040503050406030204" pitchFamily="18" charset="0"/>
                          </a:rPr>
                        </m:ctrlPr>
                      </m:naryPr>
                      <m:sub>
                        <m:r>
                          <m:rPr>
                            <m:brk m:alnAt="7"/>
                          </m:rPr>
                          <a:rPr lang="en-US" altLang="zh-CN" i="1" dirty="0">
                            <a:latin typeface="Cambria Math"/>
                          </a:rPr>
                          <m:t>𝑖</m:t>
                        </m:r>
                      </m:sub>
                      <m:sup/>
                      <m:e>
                        <m:sSub>
                          <m:sSubPr>
                            <m:ctrlPr>
                              <a:rPr lang="en-US" altLang="zh-CN" i="1" dirty="0">
                                <a:latin typeface="Cambria Math" panose="02040503050406030204" pitchFamily="18" charset="0"/>
                              </a:rPr>
                            </m:ctrlPr>
                          </m:sSubPr>
                          <m:e>
                            <m:r>
                              <a:rPr lang="en-US" altLang="zh-CN" i="1" dirty="0">
                                <a:latin typeface="Cambria Math"/>
                              </a:rPr>
                              <m:t>𝑤</m:t>
                            </m:r>
                          </m:e>
                          <m:sub>
                            <m:r>
                              <a:rPr lang="en-US" altLang="zh-CN" i="1" dirty="0">
                                <a:latin typeface="Cambria Math"/>
                              </a:rPr>
                              <m:t>𝑖𝑗</m:t>
                            </m:r>
                          </m:sub>
                        </m:sSub>
                        <m:sSub>
                          <m:sSubPr>
                            <m:ctrlPr>
                              <a:rPr lang="en-US" altLang="zh-CN" i="1" dirty="0">
                                <a:latin typeface="Cambria Math" panose="02040503050406030204" pitchFamily="18" charset="0"/>
                              </a:rPr>
                            </m:ctrlPr>
                          </m:sSubPr>
                          <m:e>
                            <m:r>
                              <a:rPr lang="en-US" altLang="zh-CN" i="1" dirty="0">
                                <a:latin typeface="Cambria Math"/>
                              </a:rPr>
                              <m:t>𝑥</m:t>
                            </m:r>
                          </m:e>
                          <m:sub>
                            <m:r>
                              <a:rPr lang="en-US" altLang="zh-CN" i="1" dirty="0">
                                <a:latin typeface="Cambria Math"/>
                              </a:rPr>
                              <m:t>𝑖</m:t>
                            </m:r>
                          </m:sub>
                        </m:sSub>
                        <m:r>
                          <a:rPr lang="en-US" altLang="zh-CN" i="1" dirty="0">
                            <a:latin typeface="Cambria Math"/>
                          </a:rPr>
                          <m:t>−</m:t>
                        </m:r>
                        <m:sSub>
                          <m:sSubPr>
                            <m:ctrlPr>
                              <a:rPr lang="en-US" altLang="zh-CN" i="1" dirty="0">
                                <a:latin typeface="Cambria Math" panose="02040503050406030204" pitchFamily="18" charset="0"/>
                              </a:rPr>
                            </m:ctrlPr>
                          </m:sSubPr>
                          <m:e>
                            <m:r>
                              <a:rPr lang="zh-CN" altLang="en-US" i="1" dirty="0">
                                <a:latin typeface="Cambria Math"/>
                              </a:rPr>
                              <m:t>𝜃</m:t>
                            </m:r>
                          </m:e>
                          <m:sub>
                            <m:r>
                              <a:rPr lang="en-US" altLang="zh-CN" i="1" dirty="0">
                                <a:latin typeface="Cambria Math"/>
                              </a:rPr>
                              <m:t>𝑗</m:t>
                            </m:r>
                          </m:sub>
                        </m:sSub>
                      </m:e>
                    </m:nary>
                  </m:oMath>
                </a14:m>
                <a:endParaRPr lang="zh-CN" alt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7755198" y="3694267"/>
                <a:ext cx="1995867" cy="391646"/>
              </a:xfrm>
              <a:prstGeom prst="rect">
                <a:avLst/>
              </a:prstGeom>
              <a:blipFill>
                <a:blip r:embed="rId2"/>
                <a:stretch>
                  <a:fillRect t="-112500" b="-171875"/>
                </a:stretch>
              </a:blipFill>
            </p:spPr>
            <p:txBody>
              <a:bodyPr/>
              <a:lstStyle/>
              <a:p>
                <a:r>
                  <a:rPr lang="zh-CN" altLang="en-US">
                    <a:noFill/>
                  </a:rPr>
                  <a:t> </a:t>
                </a:r>
              </a:p>
            </p:txBody>
          </p:sp>
        </mc:Fallback>
      </mc:AlternateContent>
      <p:cxnSp>
        <p:nvCxnSpPr>
          <p:cNvPr id="5" name="曲线连接符 4"/>
          <p:cNvCxnSpPr>
            <a:endCxn id="22544" idx="6"/>
          </p:cNvCxnSpPr>
          <p:nvPr/>
        </p:nvCxnSpPr>
        <p:spPr>
          <a:xfrm rot="10800000" flipV="1">
            <a:off x="7160733" y="3872718"/>
            <a:ext cx="519445" cy="1"/>
          </a:xfrm>
          <a:prstGeom prst="curvedConnector3">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7629442" y="3114743"/>
                <a:ext cx="2055371" cy="508794"/>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𝑦</m:t>
                        </m:r>
                      </m:e>
                      <m:sub>
                        <m:r>
                          <a:rPr lang="en-US" altLang="zh-CN" i="1">
                            <a:latin typeface="Cambria Math"/>
                          </a:rPr>
                          <m:t>𝑗</m:t>
                        </m:r>
                      </m:sub>
                    </m:sSub>
                  </m:oMath>
                </a14:m>
                <a:r>
                  <a:rPr lang="en-US" altLang="zh-CN" dirty="0"/>
                  <a:t>=f(</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𝑛𝑒𝑡</m:t>
                        </m:r>
                      </m:e>
                      <m:sub>
                        <m:r>
                          <a:rPr lang="en-US" altLang="zh-CN" i="1" dirty="0">
                            <a:latin typeface="Cambria Math"/>
                          </a:rPr>
                          <m:t>𝑗</m:t>
                        </m:r>
                      </m:sub>
                    </m:sSub>
                  </m:oMath>
                </a14:m>
                <a:r>
                  <a:rPr lang="en-US" altLang="zh-CN" dirty="0"/>
                  <a:t>)=</a:t>
                </a:r>
                <a14:m>
                  <m:oMath xmlns:m="http://schemas.openxmlformats.org/officeDocument/2006/math">
                    <m:f>
                      <m:fPr>
                        <m:ctrlPr>
                          <a:rPr lang="en-US" altLang="zh-CN" i="1" dirty="0">
                            <a:latin typeface="Cambria Math" panose="02040503050406030204" pitchFamily="18" charset="0"/>
                          </a:rPr>
                        </m:ctrlPr>
                      </m:fPr>
                      <m:num>
                        <m:r>
                          <a:rPr lang="en-US" altLang="zh-CN" i="1" dirty="0">
                            <a:latin typeface="Cambria Math"/>
                          </a:rPr>
                          <m:t>1</m:t>
                        </m:r>
                      </m:num>
                      <m:den>
                        <m:r>
                          <a:rPr lang="en-US" altLang="zh-CN" i="1" dirty="0">
                            <a:latin typeface="Cambria Math"/>
                          </a:rPr>
                          <m:t>1+</m:t>
                        </m:r>
                        <m:sSup>
                          <m:sSupPr>
                            <m:ctrlPr>
                              <a:rPr lang="en-US" altLang="zh-CN" i="1" dirty="0">
                                <a:latin typeface="Cambria Math" panose="02040503050406030204" pitchFamily="18" charset="0"/>
                              </a:rPr>
                            </m:ctrlPr>
                          </m:sSupPr>
                          <m:e>
                            <m:r>
                              <a:rPr lang="en-US" altLang="zh-CN" i="1" dirty="0">
                                <a:latin typeface="Cambria Math"/>
                              </a:rPr>
                              <m:t>𝑒</m:t>
                            </m:r>
                          </m:e>
                          <m:sup>
                            <m:r>
                              <a:rPr lang="en-US" altLang="zh-CN" i="1" dirty="0">
                                <a:latin typeface="Cambria Math"/>
                              </a:rPr>
                              <m:t>−</m:t>
                            </m:r>
                            <m:sSub>
                              <m:sSubPr>
                                <m:ctrlPr>
                                  <a:rPr lang="en-US" altLang="zh-CN" i="1" dirty="0">
                                    <a:latin typeface="Cambria Math" panose="02040503050406030204" pitchFamily="18" charset="0"/>
                                  </a:rPr>
                                </m:ctrlPr>
                              </m:sSubPr>
                              <m:e>
                                <m:r>
                                  <a:rPr lang="en-US" altLang="zh-CN" i="1" dirty="0">
                                    <a:latin typeface="Cambria Math"/>
                                  </a:rPr>
                                  <m:t>𝑛𝑒𝑡</m:t>
                                </m:r>
                              </m:e>
                              <m:sub>
                                <m:r>
                                  <a:rPr lang="en-US" altLang="zh-CN" i="1" dirty="0">
                                    <a:latin typeface="Cambria Math"/>
                                  </a:rPr>
                                  <m:t>𝑗</m:t>
                                </m:r>
                              </m:sub>
                            </m:sSub>
                          </m:sup>
                        </m:sSup>
                      </m:den>
                    </m:f>
                  </m:oMath>
                </a14:m>
                <a:endParaRPr lang="zh-CN" alt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629442" y="3114743"/>
                <a:ext cx="2055371" cy="508794"/>
              </a:xfrm>
              <a:prstGeom prst="rect">
                <a:avLst/>
              </a:prstGeom>
              <a:blipFill>
                <a:blip r:embed="rId3"/>
                <a:stretch>
                  <a:fillRect b="-3614"/>
                </a:stretch>
              </a:blipFill>
            </p:spPr>
            <p:txBody>
              <a:bodyPr/>
              <a:lstStyle/>
              <a:p>
                <a:r>
                  <a:rPr lang="zh-CN" altLang="en-US">
                    <a:noFill/>
                  </a:rPr>
                  <a:t> </a:t>
                </a:r>
              </a:p>
            </p:txBody>
          </p:sp>
        </mc:Fallback>
      </mc:AlternateContent>
      <p:cxnSp>
        <p:nvCxnSpPr>
          <p:cNvPr id="10" name="曲线连接符 9"/>
          <p:cNvCxnSpPr>
            <a:stCxn id="6" idx="1"/>
          </p:cNvCxnSpPr>
          <p:nvPr/>
        </p:nvCxnSpPr>
        <p:spPr>
          <a:xfrm rot="10800000" flipV="1">
            <a:off x="6988136" y="3369140"/>
            <a:ext cx="641307" cy="179817"/>
          </a:xfrm>
          <a:prstGeom prst="curvedConnector3">
            <a:avLst/>
          </a:prstGeom>
          <a:ln>
            <a:tailEnd type="arrow"/>
          </a:ln>
        </p:spPr>
        <p:style>
          <a:lnRef idx="2">
            <a:schemeClr val="accent2"/>
          </a:lnRef>
          <a:fillRef idx="0">
            <a:schemeClr val="accent2"/>
          </a:fillRef>
          <a:effectRef idx="1">
            <a:schemeClr val="accent2"/>
          </a:effectRef>
          <a:fontRef idx="minor">
            <a:schemeClr val="tx1"/>
          </a:fontRef>
        </p:style>
      </p:cxnSp>
      <p:sp>
        <p:nvSpPr>
          <p:cNvPr id="11" name="TextBox 10"/>
          <p:cNvSpPr txBox="1"/>
          <p:nvPr/>
        </p:nvSpPr>
        <p:spPr>
          <a:xfrm>
            <a:off x="9774326" y="3088371"/>
            <a:ext cx="792088" cy="461665"/>
          </a:xfrm>
          <a:prstGeom prst="rect">
            <a:avLst/>
          </a:prstGeom>
          <a:solidFill>
            <a:srgbClr val="00B0F0"/>
          </a:solidFill>
        </p:spPr>
        <p:txBody>
          <a:bodyPr wrap="square" rtlCol="0">
            <a:spAutoFit/>
          </a:bodyPr>
          <a:lstStyle/>
          <a:p>
            <a:r>
              <a:rPr lang="zh-CN" altLang="en-US" sz="1200" b="1" dirty="0"/>
              <a:t>隐结点的输出</a:t>
            </a:r>
          </a:p>
        </p:txBody>
      </p:sp>
      <p:sp>
        <p:nvSpPr>
          <p:cNvPr id="12" name="右箭头 11"/>
          <p:cNvSpPr/>
          <p:nvPr/>
        </p:nvSpPr>
        <p:spPr>
          <a:xfrm>
            <a:off x="9552384" y="3346281"/>
            <a:ext cx="216024"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TextBox 12"/>
              <p:cNvSpPr txBox="1"/>
              <p:nvPr/>
            </p:nvSpPr>
            <p:spPr>
              <a:xfrm>
                <a:off x="7205663" y="2843025"/>
                <a:ext cx="492892"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𝑇</m:t>
                          </m:r>
                        </m:e>
                        <m:sub>
                          <m:r>
                            <a:rPr lang="en-US" altLang="zh-CN" i="1">
                              <a:latin typeface="Cambria Math"/>
                            </a:rPr>
                            <m:t>𝑗𝑙</m:t>
                          </m:r>
                        </m:sub>
                      </m:sSub>
                    </m:oMath>
                  </m:oMathPara>
                </a14:m>
                <a:endParaRPr lang="zh-CN" alt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7205663" y="2843025"/>
                <a:ext cx="492892" cy="391646"/>
              </a:xfrm>
              <a:prstGeom prst="rect">
                <a:avLst/>
              </a:prstGeom>
              <a:blipFill>
                <a:blip r:embed="rId4"/>
                <a:stretch>
                  <a:fillRect b="-7692"/>
                </a:stretch>
              </a:blipFill>
            </p:spPr>
            <p:txBody>
              <a:bodyPr/>
              <a:lstStyle/>
              <a:p>
                <a:r>
                  <a:rPr lang="zh-CN" altLang="en-US">
                    <a:noFill/>
                  </a:rPr>
                  <a:t> </a:t>
                </a:r>
              </a:p>
            </p:txBody>
          </p:sp>
        </mc:Fallback>
      </mc:AlternateContent>
      <p:cxnSp>
        <p:nvCxnSpPr>
          <p:cNvPr id="15" name="曲线连接符 14"/>
          <p:cNvCxnSpPr/>
          <p:nvPr/>
        </p:nvCxnSpPr>
        <p:spPr>
          <a:xfrm rot="10800000" flipV="1">
            <a:off x="6923467" y="3082908"/>
            <a:ext cx="281670" cy="170906"/>
          </a:xfrm>
          <a:prstGeom prst="curvedConnector3">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6" name="TextBox 55"/>
              <p:cNvSpPr txBox="1"/>
              <p:nvPr/>
            </p:nvSpPr>
            <p:spPr>
              <a:xfrm>
                <a:off x="7174352" y="2348943"/>
                <a:ext cx="1976118" cy="400944"/>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𝑛𝑒𝑡</m:t>
                        </m:r>
                      </m:e>
                      <m:sub>
                        <m:r>
                          <a:rPr lang="en-US" altLang="zh-CN" i="1">
                            <a:latin typeface="Cambria Math"/>
                          </a:rPr>
                          <m:t>𝑙</m:t>
                        </m:r>
                      </m:sub>
                    </m:sSub>
                  </m:oMath>
                </a14:m>
                <a:r>
                  <a:rPr lang="en-US" altLang="zh-CN" dirty="0"/>
                  <a:t>=</a:t>
                </a:r>
                <a14:m>
                  <m:oMath xmlns:m="http://schemas.openxmlformats.org/officeDocument/2006/math">
                    <m:nary>
                      <m:naryPr>
                        <m:chr m:val="∑"/>
                        <m:supHide m:val="on"/>
                        <m:ctrlPr>
                          <a:rPr lang="en-US" altLang="zh-CN" i="1" dirty="0">
                            <a:latin typeface="Cambria Math" panose="02040503050406030204" pitchFamily="18" charset="0"/>
                          </a:rPr>
                        </m:ctrlPr>
                      </m:naryPr>
                      <m:sub>
                        <m:r>
                          <m:rPr>
                            <m:brk m:alnAt="7"/>
                          </m:rPr>
                          <a:rPr lang="en-US" altLang="zh-CN" i="1" dirty="0">
                            <a:latin typeface="Cambria Math"/>
                          </a:rPr>
                          <m:t>𝑗</m:t>
                        </m:r>
                      </m:sub>
                      <m:sup/>
                      <m:e>
                        <m:sSub>
                          <m:sSubPr>
                            <m:ctrlPr>
                              <a:rPr lang="en-US" altLang="zh-CN" i="1" dirty="0">
                                <a:latin typeface="Cambria Math" panose="02040503050406030204" pitchFamily="18" charset="0"/>
                              </a:rPr>
                            </m:ctrlPr>
                          </m:sSubPr>
                          <m:e>
                            <m:r>
                              <a:rPr lang="en-US" altLang="zh-CN" i="1" dirty="0">
                                <a:latin typeface="Cambria Math"/>
                              </a:rPr>
                              <m:t>𝑇</m:t>
                            </m:r>
                          </m:e>
                          <m:sub>
                            <m:r>
                              <a:rPr lang="en-US" altLang="zh-CN" i="1" dirty="0">
                                <a:latin typeface="Cambria Math"/>
                              </a:rPr>
                              <m:t>𝑙𝑗</m:t>
                            </m:r>
                          </m:sub>
                        </m:sSub>
                        <m:sSub>
                          <m:sSubPr>
                            <m:ctrlPr>
                              <a:rPr lang="en-US" altLang="zh-CN" i="1" dirty="0">
                                <a:latin typeface="Cambria Math" panose="02040503050406030204" pitchFamily="18" charset="0"/>
                              </a:rPr>
                            </m:ctrlPr>
                          </m:sSubPr>
                          <m:e>
                            <m:r>
                              <a:rPr lang="en-US" altLang="zh-CN" i="1" dirty="0">
                                <a:latin typeface="Cambria Math"/>
                              </a:rPr>
                              <m:t>𝑦</m:t>
                            </m:r>
                          </m:e>
                          <m:sub>
                            <m:r>
                              <a:rPr lang="en-US" altLang="zh-CN" i="1" dirty="0">
                                <a:latin typeface="Cambria Math"/>
                              </a:rPr>
                              <m:t>𝑗</m:t>
                            </m:r>
                          </m:sub>
                        </m:sSub>
                        <m:r>
                          <a:rPr lang="en-US" altLang="zh-CN" i="1" dirty="0">
                            <a:latin typeface="Cambria Math"/>
                          </a:rPr>
                          <m:t>−</m:t>
                        </m:r>
                        <m:sSub>
                          <m:sSubPr>
                            <m:ctrlPr>
                              <a:rPr lang="en-US" altLang="zh-CN" i="1" dirty="0">
                                <a:latin typeface="Cambria Math" panose="02040503050406030204" pitchFamily="18" charset="0"/>
                              </a:rPr>
                            </m:ctrlPr>
                          </m:sSubPr>
                          <m:e>
                            <m:r>
                              <a:rPr lang="zh-CN" altLang="en-US" i="1" dirty="0">
                                <a:latin typeface="Cambria Math"/>
                              </a:rPr>
                              <m:t>𝜃</m:t>
                            </m:r>
                          </m:e>
                          <m:sub>
                            <m:r>
                              <a:rPr lang="en-US" altLang="zh-CN" i="1" dirty="0">
                                <a:latin typeface="Cambria Math"/>
                              </a:rPr>
                              <m:t>𝑙</m:t>
                            </m:r>
                          </m:sub>
                        </m:sSub>
                      </m:e>
                    </m:nary>
                  </m:oMath>
                </a14:m>
                <a:endParaRPr lang="zh-CN" altLang="en-US" dirty="0"/>
              </a:p>
            </p:txBody>
          </p:sp>
        </mc:Choice>
        <mc:Fallback xmlns="">
          <p:sp>
            <p:nvSpPr>
              <p:cNvPr id="56" name="TextBox 55"/>
              <p:cNvSpPr txBox="1">
                <a:spLocks noRot="1" noChangeAspect="1" noMove="1" noResize="1" noEditPoints="1" noAdjustHandles="1" noChangeArrowheads="1" noChangeShapeType="1" noTextEdit="1"/>
              </p:cNvSpPr>
              <p:nvPr/>
            </p:nvSpPr>
            <p:spPr>
              <a:xfrm>
                <a:off x="7174352" y="2348943"/>
                <a:ext cx="1976118" cy="400944"/>
              </a:xfrm>
              <a:prstGeom prst="rect">
                <a:avLst/>
              </a:prstGeom>
              <a:blipFill>
                <a:blip r:embed="rId5"/>
                <a:stretch>
                  <a:fillRect t="-109091" b="-16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7205138" y="1708524"/>
                <a:ext cx="2058769" cy="484941"/>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𝑂</m:t>
                        </m:r>
                      </m:e>
                      <m:sub>
                        <m:r>
                          <a:rPr lang="en-US" altLang="zh-CN" i="1">
                            <a:latin typeface="Cambria Math"/>
                          </a:rPr>
                          <m:t>𝑙</m:t>
                        </m:r>
                      </m:sub>
                    </m:sSub>
                  </m:oMath>
                </a14:m>
                <a:r>
                  <a:rPr lang="en-US" altLang="zh-CN" dirty="0"/>
                  <a:t>=f(</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𝑛𝑒𝑡</m:t>
                        </m:r>
                      </m:e>
                      <m:sub>
                        <m:r>
                          <a:rPr lang="en-US" altLang="zh-CN" i="1" dirty="0">
                            <a:latin typeface="Cambria Math"/>
                          </a:rPr>
                          <m:t>𝑙</m:t>
                        </m:r>
                      </m:sub>
                    </m:sSub>
                  </m:oMath>
                </a14:m>
                <a:r>
                  <a:rPr lang="en-US" altLang="zh-CN" dirty="0"/>
                  <a:t>)=</a:t>
                </a:r>
                <a14:m>
                  <m:oMath xmlns:m="http://schemas.openxmlformats.org/officeDocument/2006/math">
                    <m:f>
                      <m:fPr>
                        <m:ctrlPr>
                          <a:rPr lang="en-US" altLang="zh-CN" i="1" dirty="0">
                            <a:latin typeface="Cambria Math" panose="02040503050406030204" pitchFamily="18" charset="0"/>
                          </a:rPr>
                        </m:ctrlPr>
                      </m:fPr>
                      <m:num>
                        <m:r>
                          <a:rPr lang="en-US" altLang="zh-CN" i="1" dirty="0">
                            <a:latin typeface="Cambria Math"/>
                          </a:rPr>
                          <m:t>1</m:t>
                        </m:r>
                      </m:num>
                      <m:den>
                        <m:r>
                          <a:rPr lang="en-US" altLang="zh-CN" i="1" dirty="0">
                            <a:latin typeface="Cambria Math"/>
                          </a:rPr>
                          <m:t>1+</m:t>
                        </m:r>
                        <m:sSup>
                          <m:sSupPr>
                            <m:ctrlPr>
                              <a:rPr lang="en-US" altLang="zh-CN" i="1" dirty="0">
                                <a:latin typeface="Cambria Math" panose="02040503050406030204" pitchFamily="18" charset="0"/>
                              </a:rPr>
                            </m:ctrlPr>
                          </m:sSupPr>
                          <m:e>
                            <m:r>
                              <a:rPr lang="en-US" altLang="zh-CN" i="1" dirty="0">
                                <a:latin typeface="Cambria Math"/>
                              </a:rPr>
                              <m:t>𝑒</m:t>
                            </m:r>
                          </m:e>
                          <m:sup>
                            <m:r>
                              <a:rPr lang="en-US" altLang="zh-CN" i="1" dirty="0">
                                <a:latin typeface="Cambria Math"/>
                              </a:rPr>
                              <m:t>−</m:t>
                            </m:r>
                            <m:sSub>
                              <m:sSubPr>
                                <m:ctrlPr>
                                  <a:rPr lang="en-US" altLang="zh-CN" i="1" dirty="0">
                                    <a:latin typeface="Cambria Math" panose="02040503050406030204" pitchFamily="18" charset="0"/>
                                  </a:rPr>
                                </m:ctrlPr>
                              </m:sSubPr>
                              <m:e>
                                <m:r>
                                  <a:rPr lang="en-US" altLang="zh-CN" i="1" dirty="0">
                                    <a:latin typeface="Cambria Math"/>
                                  </a:rPr>
                                  <m:t>𝑛𝑒𝑡</m:t>
                                </m:r>
                              </m:e>
                              <m:sub>
                                <m:r>
                                  <a:rPr lang="en-US" altLang="zh-CN" i="1" dirty="0">
                                    <a:latin typeface="Cambria Math"/>
                                  </a:rPr>
                                  <m:t>𝑙</m:t>
                                </m:r>
                              </m:sub>
                            </m:sSub>
                          </m:sup>
                        </m:sSup>
                      </m:den>
                    </m:f>
                  </m:oMath>
                </a14:m>
                <a:endParaRPr lang="zh-CN" altLang="en-US" dirty="0"/>
              </a:p>
            </p:txBody>
          </p:sp>
        </mc:Choice>
        <mc:Fallback xmlns="">
          <p:sp>
            <p:nvSpPr>
              <p:cNvPr id="57" name="TextBox 56"/>
              <p:cNvSpPr txBox="1">
                <a:spLocks noRot="1" noChangeAspect="1" noMove="1" noResize="1" noEditPoints="1" noAdjustHandles="1" noChangeArrowheads="1" noChangeShapeType="1" noTextEdit="1"/>
              </p:cNvSpPr>
              <p:nvPr/>
            </p:nvSpPr>
            <p:spPr>
              <a:xfrm>
                <a:off x="7205138" y="1708524"/>
                <a:ext cx="2058769" cy="484941"/>
              </a:xfrm>
              <a:prstGeom prst="rect">
                <a:avLst/>
              </a:prstGeom>
              <a:blipFill>
                <a:blip r:embed="rId6"/>
                <a:stretch>
                  <a:fillRect b="-7500"/>
                </a:stretch>
              </a:blipFill>
            </p:spPr>
            <p:txBody>
              <a:bodyPr/>
              <a:lstStyle/>
              <a:p>
                <a:r>
                  <a:rPr lang="zh-CN" altLang="en-US">
                    <a:noFill/>
                  </a:rPr>
                  <a:t> </a:t>
                </a:r>
              </a:p>
            </p:txBody>
          </p:sp>
        </mc:Fallback>
      </mc:AlternateContent>
      <p:cxnSp>
        <p:nvCxnSpPr>
          <p:cNvPr id="18" name="曲线连接符 17"/>
          <p:cNvCxnSpPr>
            <a:stCxn id="56" idx="1"/>
          </p:cNvCxnSpPr>
          <p:nvPr/>
        </p:nvCxnSpPr>
        <p:spPr>
          <a:xfrm rot="10800000" flipV="1">
            <a:off x="6845187" y="2549415"/>
            <a:ext cx="329167" cy="132772"/>
          </a:xfrm>
          <a:prstGeom prst="curvedConnector3">
            <a:avLst/>
          </a:prstGeom>
          <a:ln>
            <a:tailEnd type="arrow"/>
          </a:ln>
        </p:spPr>
        <p:style>
          <a:lnRef idx="2">
            <a:schemeClr val="dk1"/>
          </a:lnRef>
          <a:fillRef idx="0">
            <a:schemeClr val="dk1"/>
          </a:fillRef>
          <a:effectRef idx="1">
            <a:schemeClr val="dk1"/>
          </a:effectRef>
          <a:fontRef idx="minor">
            <a:schemeClr val="tx1"/>
          </a:fontRef>
        </p:style>
      </p:cxnSp>
      <p:cxnSp>
        <p:nvCxnSpPr>
          <p:cNvPr id="20" name="曲线连接符 19"/>
          <p:cNvCxnSpPr>
            <a:stCxn id="57" idx="1"/>
          </p:cNvCxnSpPr>
          <p:nvPr/>
        </p:nvCxnSpPr>
        <p:spPr>
          <a:xfrm rot="10800000" flipV="1">
            <a:off x="6538132" y="1950994"/>
            <a:ext cx="667007" cy="366166"/>
          </a:xfrm>
          <a:prstGeom prst="curvedConnector3">
            <a:avLst>
              <a:gd name="adj1" fmla="val 50000"/>
            </a:avLst>
          </a:prstGeom>
          <a:ln>
            <a:tailEnd type="arrow"/>
          </a:ln>
        </p:spPr>
        <p:style>
          <a:lnRef idx="2">
            <a:schemeClr val="accent2"/>
          </a:lnRef>
          <a:fillRef idx="0">
            <a:schemeClr val="accent2"/>
          </a:fillRef>
          <a:effectRef idx="1">
            <a:schemeClr val="accent2"/>
          </a:effectRef>
          <a:fontRef idx="minor">
            <a:schemeClr val="tx1"/>
          </a:fontRef>
        </p:style>
      </p:cxnSp>
      <p:sp>
        <p:nvSpPr>
          <p:cNvPr id="63" name="TextBox 62"/>
          <p:cNvSpPr txBox="1"/>
          <p:nvPr/>
        </p:nvSpPr>
        <p:spPr>
          <a:xfrm>
            <a:off x="9534090" y="1752988"/>
            <a:ext cx="945025" cy="461665"/>
          </a:xfrm>
          <a:prstGeom prst="rect">
            <a:avLst/>
          </a:prstGeom>
          <a:solidFill>
            <a:srgbClr val="92D050"/>
          </a:solidFill>
        </p:spPr>
        <p:txBody>
          <a:bodyPr wrap="square" rtlCol="0">
            <a:spAutoFit/>
          </a:bodyPr>
          <a:lstStyle/>
          <a:p>
            <a:r>
              <a:rPr lang="zh-CN" altLang="en-US" sz="1200" b="1" dirty="0"/>
              <a:t>输出结点的输出</a:t>
            </a:r>
          </a:p>
        </p:txBody>
      </p:sp>
      <p:sp>
        <p:nvSpPr>
          <p:cNvPr id="22" name="右箭头 21"/>
          <p:cNvSpPr/>
          <p:nvPr/>
        </p:nvSpPr>
        <p:spPr>
          <a:xfrm>
            <a:off x="9171374" y="1940913"/>
            <a:ext cx="309002" cy="45719"/>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标题 1">
            <a:extLst>
              <a:ext uri="{FF2B5EF4-FFF2-40B4-BE49-F238E27FC236}">
                <a16:creationId xmlns:a16="http://schemas.microsoft.com/office/drawing/2014/main" id="{A1BABAE5-CE23-E738-5B71-C2169A05176B}"/>
              </a:ext>
            </a:extLst>
          </p:cNvPr>
          <p:cNvSpPr txBox="1">
            <a:spLocks/>
          </p:cNvSpPr>
          <p:nvPr/>
        </p:nvSpPr>
        <p:spPr>
          <a:xfrm>
            <a:off x="36522" y="125932"/>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人工神经网络和深度学习</a:t>
            </a:r>
            <a:r>
              <a:rPr lang="en-US" altLang="zh-CN" sz="3200" b="1" dirty="0" smtClean="0"/>
              <a:t>---</a:t>
            </a:r>
            <a:r>
              <a:rPr lang="zh-CN" altLang="en-US" sz="3200" b="1" dirty="0" smtClean="0"/>
              <a:t>传播</a:t>
            </a:r>
            <a:endParaRPr lang="zh-CN" altLang="en-US" sz="3200" b="1" dirty="0"/>
          </a:p>
        </p:txBody>
      </p:sp>
    </p:spTree>
    <p:extLst>
      <p:ext uri="{BB962C8B-B14F-4D97-AF65-F5344CB8AC3E}">
        <p14:creationId xmlns:p14="http://schemas.microsoft.com/office/powerpoint/2010/main" val="29520509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137570" y="957322"/>
            <a:ext cx="4647724"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marL="457200" indent="-457200" eaLnBrk="1" hangingPunct="1">
              <a:spcBef>
                <a:spcPct val="0"/>
              </a:spcBef>
              <a:buClrTx/>
              <a:buSzTx/>
              <a:buFont typeface="Wingdings" panose="05000000000000000000" pitchFamily="2" charset="2"/>
              <a:buChar char="Ø"/>
            </a:pPr>
            <a:r>
              <a:rPr lang="zh-CN" altLang="zh-CN" sz="2400" dirty="0">
                <a:solidFill>
                  <a:srgbClr val="FF0000"/>
                </a:solidFill>
                <a:latin typeface="微软雅黑" panose="020B0503020204020204" pitchFamily="34" charset="-122"/>
                <a:ea typeface="微软雅黑" panose="020B0503020204020204" pitchFamily="34" charset="-122"/>
                <a:sym typeface="Arial" pitchFamily="34" charset="0"/>
              </a:rPr>
              <a:t>反向传播</a:t>
            </a:r>
            <a:r>
              <a:rPr lang="zh-CN" altLang="en-US" sz="2400" dirty="0">
                <a:solidFill>
                  <a:srgbClr val="FF0000"/>
                </a:solidFill>
                <a:latin typeface="微软雅黑" panose="020B0503020204020204" pitchFamily="34" charset="-122"/>
                <a:ea typeface="微软雅黑" panose="020B0503020204020204" pitchFamily="34" charset="-122"/>
                <a:sym typeface="Arial" pitchFamily="34" charset="0"/>
              </a:rPr>
              <a:t>权值修正</a:t>
            </a:r>
            <a:endParaRPr lang="zh-CN" altLang="zh-CN" sz="2400" dirty="0">
              <a:solidFill>
                <a:srgbClr val="FF0000"/>
              </a:solidFill>
              <a:latin typeface="微软雅黑" panose="020B0503020204020204" pitchFamily="34" charset="-122"/>
              <a:ea typeface="微软雅黑" panose="020B0503020204020204" pitchFamily="34" charset="-122"/>
              <a:sym typeface="Arial" pitchFamily="34" charset="0"/>
            </a:endParaRPr>
          </a:p>
        </p:txBody>
      </p:sp>
      <p:grpSp>
        <p:nvGrpSpPr>
          <p:cNvPr id="36867" name="Group 3"/>
          <p:cNvGrpSpPr>
            <a:grpSpLocks/>
          </p:cNvGrpSpPr>
          <p:nvPr/>
        </p:nvGrpSpPr>
        <p:grpSpPr bwMode="auto">
          <a:xfrm>
            <a:off x="4295775" y="1628776"/>
            <a:ext cx="3265488" cy="4587875"/>
            <a:chOff x="0" y="0"/>
            <a:chExt cx="2148" cy="3117"/>
          </a:xfrm>
        </p:grpSpPr>
        <p:sp>
          <p:nvSpPr>
            <p:cNvPr id="36879" name="Oval 4"/>
            <p:cNvSpPr>
              <a:spLocks noChangeArrowheads="1"/>
            </p:cNvSpPr>
            <p:nvPr/>
          </p:nvSpPr>
          <p:spPr bwMode="auto">
            <a:xfrm>
              <a:off x="194" y="553"/>
              <a:ext cx="340"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0" name="Oval 5"/>
            <p:cNvSpPr>
              <a:spLocks noChangeArrowheads="1"/>
            </p:cNvSpPr>
            <p:nvPr/>
          </p:nvSpPr>
          <p:spPr bwMode="auto">
            <a:xfrm>
              <a:off x="894" y="570"/>
              <a:ext cx="340"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1" name="Oval 6"/>
            <p:cNvSpPr>
              <a:spLocks noChangeArrowheads="1"/>
            </p:cNvSpPr>
            <p:nvPr/>
          </p:nvSpPr>
          <p:spPr bwMode="auto">
            <a:xfrm>
              <a:off x="1558" y="570"/>
              <a:ext cx="340"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2" name="Oval 7"/>
            <p:cNvSpPr>
              <a:spLocks noChangeArrowheads="1"/>
            </p:cNvSpPr>
            <p:nvPr/>
          </p:nvSpPr>
          <p:spPr bwMode="auto">
            <a:xfrm>
              <a:off x="913" y="1360"/>
              <a:ext cx="339" cy="316"/>
            </a:xfrm>
            <a:prstGeom prst="ellipse">
              <a:avLst/>
            </a:prstGeom>
            <a:solidFill>
              <a:schemeClr val="hlink"/>
            </a:solidFill>
            <a:ln w="12700">
              <a:solidFill>
                <a:schemeClr val="bg2"/>
              </a:solidFill>
              <a:round/>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3" name="Oval 8"/>
            <p:cNvSpPr>
              <a:spLocks noChangeArrowheads="1"/>
            </p:cNvSpPr>
            <p:nvPr/>
          </p:nvSpPr>
          <p:spPr bwMode="auto">
            <a:xfrm>
              <a:off x="1808" y="1360"/>
              <a:ext cx="340" cy="316"/>
            </a:xfrm>
            <a:prstGeom prst="ellipse">
              <a:avLst/>
            </a:prstGeom>
            <a:solidFill>
              <a:schemeClr val="hlink"/>
            </a:solidFill>
            <a:ln w="12700">
              <a:solidFill>
                <a:schemeClr val="bg2"/>
              </a:solidFill>
              <a:round/>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4" name="Oval 9"/>
            <p:cNvSpPr>
              <a:spLocks noChangeArrowheads="1"/>
            </p:cNvSpPr>
            <p:nvPr/>
          </p:nvSpPr>
          <p:spPr bwMode="auto">
            <a:xfrm>
              <a:off x="0" y="1376"/>
              <a:ext cx="340" cy="316"/>
            </a:xfrm>
            <a:prstGeom prst="ellipse">
              <a:avLst/>
            </a:prstGeom>
            <a:solidFill>
              <a:schemeClr val="hlink"/>
            </a:solidFill>
            <a:ln w="12700">
              <a:solidFill>
                <a:schemeClr val="bg2"/>
              </a:solidFill>
              <a:round/>
              <a:headEnd/>
              <a:tailEnd/>
            </a:ln>
          </p:spPr>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5" name="Oval 10"/>
            <p:cNvSpPr>
              <a:spLocks noChangeArrowheads="1"/>
            </p:cNvSpPr>
            <p:nvPr/>
          </p:nvSpPr>
          <p:spPr bwMode="auto">
            <a:xfrm>
              <a:off x="519" y="2216"/>
              <a:ext cx="339"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6" name="Oval 11"/>
            <p:cNvSpPr>
              <a:spLocks noChangeArrowheads="1"/>
            </p:cNvSpPr>
            <p:nvPr/>
          </p:nvSpPr>
          <p:spPr bwMode="auto">
            <a:xfrm>
              <a:off x="1361" y="2197"/>
              <a:ext cx="339" cy="316"/>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eaLnBrk="1" hangingPunct="1">
                <a:spcBef>
                  <a:spcPct val="0"/>
                </a:spcBef>
                <a:buClrTx/>
                <a:buSzTx/>
                <a:buFontTx/>
                <a:buNone/>
              </a:pPr>
              <a:endParaRPr lang="zh-CN" altLang="en-US" sz="1800"/>
            </a:p>
          </p:txBody>
        </p:sp>
        <p:sp>
          <p:nvSpPr>
            <p:cNvPr id="36887" name="Line 12"/>
            <p:cNvSpPr>
              <a:spLocks noChangeShapeType="1"/>
            </p:cNvSpPr>
            <p:nvPr/>
          </p:nvSpPr>
          <p:spPr bwMode="auto">
            <a:xfrm flipH="1" flipV="1">
              <a:off x="232" y="1709"/>
              <a:ext cx="320" cy="537"/>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88" name="Line 13"/>
            <p:cNvSpPr>
              <a:spLocks noChangeShapeType="1"/>
            </p:cNvSpPr>
            <p:nvPr/>
          </p:nvSpPr>
          <p:spPr bwMode="auto">
            <a:xfrm flipV="1">
              <a:off x="681" y="1660"/>
              <a:ext cx="303" cy="551"/>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89" name="Line 14"/>
            <p:cNvSpPr>
              <a:spLocks noChangeShapeType="1"/>
            </p:cNvSpPr>
            <p:nvPr/>
          </p:nvSpPr>
          <p:spPr bwMode="auto">
            <a:xfrm flipV="1">
              <a:off x="822" y="1643"/>
              <a:ext cx="1022" cy="61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0" name="Line 15"/>
            <p:cNvSpPr>
              <a:spLocks noChangeShapeType="1"/>
            </p:cNvSpPr>
            <p:nvPr/>
          </p:nvSpPr>
          <p:spPr bwMode="auto">
            <a:xfrm flipH="1" flipV="1">
              <a:off x="339" y="1642"/>
              <a:ext cx="1020" cy="586"/>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1" name="Line 16"/>
            <p:cNvSpPr>
              <a:spLocks noChangeShapeType="1"/>
            </p:cNvSpPr>
            <p:nvPr/>
          </p:nvSpPr>
          <p:spPr bwMode="auto">
            <a:xfrm flipH="1" flipV="1">
              <a:off x="1199" y="1693"/>
              <a:ext cx="322" cy="502"/>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2" name="Line 17"/>
            <p:cNvSpPr>
              <a:spLocks noChangeShapeType="1"/>
            </p:cNvSpPr>
            <p:nvPr/>
          </p:nvSpPr>
          <p:spPr bwMode="auto">
            <a:xfrm flipV="1">
              <a:off x="1683" y="1727"/>
              <a:ext cx="287" cy="46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3" name="Line 18"/>
            <p:cNvSpPr>
              <a:spLocks noChangeShapeType="1"/>
            </p:cNvSpPr>
            <p:nvPr/>
          </p:nvSpPr>
          <p:spPr bwMode="auto">
            <a:xfrm flipV="1">
              <a:off x="70" y="871"/>
              <a:ext cx="268" cy="51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4" name="Line 19"/>
            <p:cNvSpPr>
              <a:spLocks noChangeShapeType="1"/>
            </p:cNvSpPr>
            <p:nvPr/>
          </p:nvSpPr>
          <p:spPr bwMode="auto">
            <a:xfrm flipV="1">
              <a:off x="231" y="868"/>
              <a:ext cx="787" cy="504"/>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5" name="Line 20"/>
            <p:cNvSpPr>
              <a:spLocks noChangeShapeType="1"/>
            </p:cNvSpPr>
            <p:nvPr/>
          </p:nvSpPr>
          <p:spPr bwMode="auto">
            <a:xfrm flipV="1">
              <a:off x="322" y="887"/>
              <a:ext cx="1380" cy="502"/>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6" name="Line 21"/>
            <p:cNvSpPr>
              <a:spLocks noChangeShapeType="1"/>
            </p:cNvSpPr>
            <p:nvPr/>
          </p:nvSpPr>
          <p:spPr bwMode="auto">
            <a:xfrm flipH="1" flipV="1">
              <a:off x="481" y="833"/>
              <a:ext cx="1342" cy="572"/>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7" name="Line 22"/>
            <p:cNvSpPr>
              <a:spLocks noChangeShapeType="1"/>
            </p:cNvSpPr>
            <p:nvPr/>
          </p:nvSpPr>
          <p:spPr bwMode="auto">
            <a:xfrm flipH="1" flipV="1">
              <a:off x="1805" y="868"/>
              <a:ext cx="197" cy="504"/>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8" name="Line 23"/>
            <p:cNvSpPr>
              <a:spLocks noChangeShapeType="1"/>
            </p:cNvSpPr>
            <p:nvPr/>
          </p:nvSpPr>
          <p:spPr bwMode="auto">
            <a:xfrm flipH="1" flipV="1">
              <a:off x="1143" y="918"/>
              <a:ext cx="734" cy="453"/>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899" name="Line 24"/>
            <p:cNvSpPr>
              <a:spLocks noChangeShapeType="1"/>
            </p:cNvSpPr>
            <p:nvPr/>
          </p:nvSpPr>
          <p:spPr bwMode="auto">
            <a:xfrm flipH="1" flipV="1">
              <a:off x="429" y="888"/>
              <a:ext cx="537" cy="46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900" name="Line 25"/>
            <p:cNvSpPr>
              <a:spLocks noChangeShapeType="1"/>
            </p:cNvSpPr>
            <p:nvPr/>
          </p:nvSpPr>
          <p:spPr bwMode="auto">
            <a:xfrm flipV="1">
              <a:off x="1074" y="905"/>
              <a:ext cx="0" cy="434"/>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901" name="Line 26"/>
            <p:cNvSpPr>
              <a:spLocks noChangeShapeType="1"/>
            </p:cNvSpPr>
            <p:nvPr/>
          </p:nvSpPr>
          <p:spPr bwMode="auto">
            <a:xfrm flipV="1">
              <a:off x="1200" y="939"/>
              <a:ext cx="501" cy="451"/>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902" name="Line 27"/>
            <p:cNvSpPr>
              <a:spLocks noChangeShapeType="1"/>
            </p:cNvSpPr>
            <p:nvPr/>
          </p:nvSpPr>
          <p:spPr bwMode="auto">
            <a:xfrm flipV="1">
              <a:off x="643" y="2532"/>
              <a:ext cx="0" cy="569"/>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903" name="Line 28"/>
            <p:cNvSpPr>
              <a:spLocks noChangeShapeType="1"/>
            </p:cNvSpPr>
            <p:nvPr/>
          </p:nvSpPr>
          <p:spPr bwMode="auto">
            <a:xfrm flipV="1">
              <a:off x="1539" y="2549"/>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904" name="Line 29"/>
            <p:cNvSpPr>
              <a:spLocks noChangeShapeType="1"/>
            </p:cNvSpPr>
            <p:nvPr/>
          </p:nvSpPr>
          <p:spPr bwMode="auto">
            <a:xfrm flipV="1">
              <a:off x="339" y="16"/>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905" name="Line 30"/>
            <p:cNvSpPr>
              <a:spLocks noChangeShapeType="1"/>
            </p:cNvSpPr>
            <p:nvPr/>
          </p:nvSpPr>
          <p:spPr bwMode="auto">
            <a:xfrm flipV="1">
              <a:off x="1055" y="0"/>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sp>
          <p:nvSpPr>
            <p:cNvPr id="36906" name="Line 31"/>
            <p:cNvSpPr>
              <a:spLocks noChangeShapeType="1"/>
            </p:cNvSpPr>
            <p:nvPr/>
          </p:nvSpPr>
          <p:spPr bwMode="auto">
            <a:xfrm flipV="1">
              <a:off x="1699" y="0"/>
              <a:ext cx="0" cy="568"/>
            </a:xfrm>
            <a:prstGeom prst="line">
              <a:avLst/>
            </a:prstGeom>
            <a:ln>
              <a:headEnd/>
              <a:tailEnd type="stealth" w="med" len="med"/>
            </a:ln>
          </p:spPr>
          <p:style>
            <a:lnRef idx="1">
              <a:schemeClr val="dk1"/>
            </a:lnRef>
            <a:fillRef idx="0">
              <a:schemeClr val="dk1"/>
            </a:fillRef>
            <a:effectRef idx="0">
              <a:schemeClr val="dk1"/>
            </a:effectRef>
            <a:fontRef idx="minor">
              <a:schemeClr val="tx1"/>
            </a:fontRef>
          </p:style>
          <p:txBody>
            <a:bodyPr wrap="none" anchor="ctr"/>
            <a:lstStyle/>
            <a:p>
              <a:endParaRPr lang="zh-CN" altLang="en-US"/>
            </a:p>
          </p:txBody>
        </p:sp>
      </p:grpSp>
      <p:sp>
        <p:nvSpPr>
          <p:cNvPr id="36868" name="Rectangle 32"/>
          <p:cNvSpPr>
            <a:spLocks noChangeArrowheads="1"/>
          </p:cNvSpPr>
          <p:nvPr/>
        </p:nvSpPr>
        <p:spPr bwMode="auto">
          <a:xfrm>
            <a:off x="2266806" y="2565401"/>
            <a:ext cx="183543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itchFamily="18" charset="0"/>
              </a:rPr>
              <a:t>Output nodes</a:t>
            </a:r>
          </a:p>
        </p:txBody>
      </p:sp>
      <p:sp>
        <p:nvSpPr>
          <p:cNvPr id="36869" name="Rectangle 33"/>
          <p:cNvSpPr>
            <a:spLocks noChangeArrowheads="1"/>
          </p:cNvSpPr>
          <p:nvPr/>
        </p:nvSpPr>
        <p:spPr bwMode="auto">
          <a:xfrm>
            <a:off x="2259862" y="4654551"/>
            <a:ext cx="163025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itchFamily="18" charset="0"/>
              </a:rPr>
              <a:t>Input nodes</a:t>
            </a:r>
          </a:p>
        </p:txBody>
      </p:sp>
      <p:sp>
        <p:nvSpPr>
          <p:cNvPr id="36870" name="Rectangle 34"/>
          <p:cNvSpPr>
            <a:spLocks noChangeArrowheads="1"/>
          </p:cNvSpPr>
          <p:nvPr/>
        </p:nvSpPr>
        <p:spPr bwMode="auto">
          <a:xfrm>
            <a:off x="2249096" y="3644901"/>
            <a:ext cx="1886735"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itchFamily="18" charset="0"/>
              </a:rPr>
              <a:t>Hidden nodes</a:t>
            </a:r>
          </a:p>
        </p:txBody>
      </p:sp>
      <p:sp>
        <p:nvSpPr>
          <p:cNvPr id="36871" name="Rectangle 35"/>
          <p:cNvSpPr>
            <a:spLocks noChangeArrowheads="1"/>
          </p:cNvSpPr>
          <p:nvPr/>
        </p:nvSpPr>
        <p:spPr bwMode="auto">
          <a:xfrm>
            <a:off x="2275298" y="1773239"/>
            <a:ext cx="188513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itchFamily="18" charset="0"/>
              </a:rPr>
              <a:t>Output vector</a:t>
            </a:r>
          </a:p>
        </p:txBody>
      </p:sp>
      <p:sp>
        <p:nvSpPr>
          <p:cNvPr id="36872" name="Rectangle 36"/>
          <p:cNvSpPr>
            <a:spLocks noChangeArrowheads="1"/>
          </p:cNvSpPr>
          <p:nvPr/>
        </p:nvSpPr>
        <p:spPr bwMode="auto">
          <a:xfrm>
            <a:off x="2283300" y="5518151"/>
            <a:ext cx="203581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a:spcBef>
                <a:spcPct val="0"/>
              </a:spcBef>
              <a:buClrTx/>
              <a:buSzTx/>
              <a:buFontTx/>
              <a:buNone/>
            </a:pPr>
            <a:r>
              <a:rPr lang="zh-CN" altLang="en-US" sz="2400" dirty="0">
                <a:latin typeface="Times New Roman" pitchFamily="18" charset="0"/>
              </a:rPr>
              <a:t>Input vector: </a:t>
            </a:r>
            <a:r>
              <a:rPr lang="zh-CN" altLang="en-US" sz="2400" i="1" dirty="0">
                <a:latin typeface="Times New Roman" pitchFamily="18" charset="0"/>
              </a:rPr>
              <a:t>x</a:t>
            </a:r>
            <a:r>
              <a:rPr lang="zh-CN" altLang="en-US" sz="2400" i="1" baseline="-25000" dirty="0">
                <a:latin typeface="Times New Roman" pitchFamily="18" charset="0"/>
              </a:rPr>
              <a:t>i</a:t>
            </a:r>
          </a:p>
        </p:txBody>
      </p:sp>
      <p:sp>
        <p:nvSpPr>
          <p:cNvPr id="36873" name="Rectangle 37"/>
          <p:cNvSpPr>
            <a:spLocks noChangeArrowheads="1"/>
          </p:cNvSpPr>
          <p:nvPr/>
        </p:nvSpPr>
        <p:spPr bwMode="auto">
          <a:xfrm>
            <a:off x="7248128" y="4308281"/>
            <a:ext cx="62388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hlink"/>
              </a:buClr>
              <a:buSzPct val="70000"/>
              <a:buFont typeface="Wingdings" pitchFamily="2" charset="2"/>
              <a:buChar char="n"/>
              <a:defRPr sz="3200">
                <a:solidFill>
                  <a:schemeClr val="tx1"/>
                </a:solidFill>
                <a:latin typeface="Garamond" pitchFamily="18" charset="0"/>
                <a:ea typeface="宋体" pitchFamily="2" charset="-122"/>
              </a:defRPr>
            </a:lvl1pPr>
            <a:lvl2pPr marL="742950" indent="-285750" eaLnBrk="0" hangingPunct="0">
              <a:spcBef>
                <a:spcPct val="20000"/>
              </a:spcBef>
              <a:buClr>
                <a:schemeClr val="accent2"/>
              </a:buClr>
              <a:buSzPct val="70000"/>
              <a:buFont typeface="Wingdings" pitchFamily="2" charset="2"/>
              <a:buChar char="n"/>
              <a:defRPr sz="2800">
                <a:solidFill>
                  <a:schemeClr val="tx1"/>
                </a:solidFill>
                <a:latin typeface="Garamond" pitchFamily="18" charset="0"/>
                <a:ea typeface="宋体" pitchFamily="2" charset="-122"/>
              </a:defRPr>
            </a:lvl2pPr>
            <a:lvl3pPr marL="1143000" indent="-228600" eaLnBrk="0" hangingPunct="0">
              <a:spcBef>
                <a:spcPct val="20000"/>
              </a:spcBef>
              <a:buClr>
                <a:schemeClr val="tx2"/>
              </a:buClr>
              <a:buSzPct val="70000"/>
              <a:buFont typeface="Wingdings" pitchFamily="2" charset="2"/>
              <a:buChar char="n"/>
              <a:defRPr sz="2400">
                <a:solidFill>
                  <a:schemeClr val="tx1"/>
                </a:solidFill>
                <a:latin typeface="Garamond" pitchFamily="18" charset="0"/>
                <a:ea typeface="宋体" pitchFamily="2" charset="-122"/>
              </a:defRPr>
            </a:lvl3pPr>
            <a:lvl4pPr marL="1600200" indent="-228600" eaLnBrk="0" hangingPunct="0">
              <a:spcBef>
                <a:spcPct val="20000"/>
              </a:spcBef>
              <a:buClr>
                <a:schemeClr val="accent2"/>
              </a:buClr>
              <a:buSzPct val="70000"/>
              <a:buFont typeface="Wingdings" pitchFamily="2" charset="2"/>
              <a:buChar char="n"/>
              <a:defRPr sz="2000">
                <a:solidFill>
                  <a:schemeClr val="tx1"/>
                </a:solidFill>
                <a:latin typeface="Garamond" pitchFamily="18" charset="0"/>
                <a:ea typeface="宋体" pitchFamily="2" charset="-122"/>
              </a:defRPr>
            </a:lvl4pPr>
            <a:lvl5pPr marL="2057400" indent="-228600" eaLnBrk="0" hangingPunct="0">
              <a:spcBef>
                <a:spcPct val="20000"/>
              </a:spcBef>
              <a:buClr>
                <a:schemeClr val="hlink"/>
              </a:buClr>
              <a:buSzPct val="70000"/>
              <a:buFont typeface="Wingdings" pitchFamily="2" charset="2"/>
              <a:buChar char="n"/>
              <a:defRPr sz="2000">
                <a:solidFill>
                  <a:schemeClr val="tx1"/>
                </a:solidFill>
                <a:latin typeface="Garamond" pitchFamily="18" charset="0"/>
                <a:ea typeface="宋体" pitchFamily="2" charset="-122"/>
              </a:defRPr>
            </a:lvl5pPr>
            <a:lvl6pPr marL="25146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6pPr>
            <a:lvl7pPr marL="29718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7pPr>
            <a:lvl8pPr marL="34290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8pPr>
            <a:lvl9pPr marL="3886200" indent="-22860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Garamond" pitchFamily="18" charset="0"/>
                <a:ea typeface="宋体" pitchFamily="2" charset="-122"/>
              </a:defRPr>
            </a:lvl9pPr>
          </a:lstStyle>
          <a:p>
            <a:pPr algn="ctr" eaLnBrk="1" hangingPunct="1">
              <a:spcBef>
                <a:spcPct val="0"/>
              </a:spcBef>
              <a:buClrTx/>
              <a:buSzTx/>
              <a:buFontTx/>
              <a:buNone/>
            </a:pPr>
            <a:r>
              <a:rPr lang="zh-CN" altLang="en-US" sz="2400" i="1" dirty="0">
                <a:latin typeface="Times New Roman" pitchFamily="18" charset="0"/>
              </a:rPr>
              <a:t>w</a:t>
            </a:r>
            <a:r>
              <a:rPr lang="zh-CN" altLang="en-US" sz="2400" i="1" baseline="-25000" dirty="0">
                <a:latin typeface="Times New Roman" pitchFamily="18" charset="0"/>
              </a:rPr>
              <a:t>i</a:t>
            </a:r>
            <a:r>
              <a:rPr lang="en-US" altLang="zh-CN" sz="2400" i="1" baseline="-25000" dirty="0">
                <a:latin typeface="Times New Roman" pitchFamily="18" charset="0"/>
              </a:rPr>
              <a:t>j</a:t>
            </a:r>
            <a:r>
              <a:rPr lang="zh-CN" altLang="en-US" sz="2400" i="1" baseline="-25000" dirty="0">
                <a:solidFill>
                  <a:schemeClr val="bg2"/>
                </a:solidFill>
                <a:latin typeface="Times New Roman" pitchFamily="18" charset="0"/>
              </a:rPr>
              <a:t>j</a:t>
            </a:r>
          </a:p>
        </p:txBody>
      </p:sp>
      <p:sp>
        <p:nvSpPr>
          <p:cNvPr id="36874" name="未知"/>
          <p:cNvSpPr>
            <a:spLocks/>
          </p:cNvSpPr>
          <p:nvPr/>
        </p:nvSpPr>
        <p:spPr bwMode="auto">
          <a:xfrm>
            <a:off x="6922761" y="4539434"/>
            <a:ext cx="416547" cy="120268"/>
          </a:xfrm>
          <a:custGeom>
            <a:avLst/>
            <a:gdLst>
              <a:gd name="T0" fmla="*/ 584266 w 385"/>
              <a:gd name="T1" fmla="*/ 0 h 101"/>
              <a:gd name="T2" fmla="*/ 476238 w 385"/>
              <a:gd name="T3" fmla="*/ 7387 h 101"/>
              <a:gd name="T4" fmla="*/ 386468 w 385"/>
              <a:gd name="T5" fmla="*/ 22162 h 101"/>
              <a:gd name="T6" fmla="*/ 349951 w 385"/>
              <a:gd name="T7" fmla="*/ 36937 h 101"/>
              <a:gd name="T8" fmla="*/ 324085 w 385"/>
              <a:gd name="T9" fmla="*/ 44324 h 101"/>
              <a:gd name="T10" fmla="*/ 305827 w 385"/>
              <a:gd name="T11" fmla="*/ 59099 h 101"/>
              <a:gd name="T12" fmla="*/ 296698 w 385"/>
              <a:gd name="T13" fmla="*/ 73874 h 101"/>
              <a:gd name="T14" fmla="*/ 287569 w 385"/>
              <a:gd name="T15" fmla="*/ 88649 h 101"/>
              <a:gd name="T16" fmla="*/ 269310 w 385"/>
              <a:gd name="T17" fmla="*/ 103423 h 101"/>
              <a:gd name="T18" fmla="*/ 243444 w 385"/>
              <a:gd name="T19" fmla="*/ 110811 h 101"/>
              <a:gd name="T20" fmla="*/ 206928 w 385"/>
              <a:gd name="T21" fmla="*/ 125585 h 101"/>
              <a:gd name="T22" fmla="*/ 108028 w 385"/>
              <a:gd name="T23" fmla="*/ 140360 h 101"/>
              <a:gd name="T24" fmla="*/ 0 w 385"/>
              <a:gd name="T25" fmla="*/ 147748 h 1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5"/>
              <a:gd name="T40" fmla="*/ 0 h 101"/>
              <a:gd name="T41" fmla="*/ 385 w 385"/>
              <a:gd name="T42" fmla="*/ 101 h 10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5" h="101">
                <a:moveTo>
                  <a:pt x="384" y="0"/>
                </a:moveTo>
                <a:lnTo>
                  <a:pt x="313" y="5"/>
                </a:lnTo>
                <a:lnTo>
                  <a:pt x="254" y="15"/>
                </a:lnTo>
                <a:lnTo>
                  <a:pt x="230" y="25"/>
                </a:lnTo>
                <a:lnTo>
                  <a:pt x="213" y="30"/>
                </a:lnTo>
                <a:lnTo>
                  <a:pt x="201" y="40"/>
                </a:lnTo>
                <a:lnTo>
                  <a:pt x="195" y="50"/>
                </a:lnTo>
                <a:lnTo>
                  <a:pt x="189" y="60"/>
                </a:lnTo>
                <a:lnTo>
                  <a:pt x="177" y="70"/>
                </a:lnTo>
                <a:lnTo>
                  <a:pt x="160" y="75"/>
                </a:lnTo>
                <a:lnTo>
                  <a:pt x="136" y="85"/>
                </a:lnTo>
                <a:lnTo>
                  <a:pt x="71" y="95"/>
                </a:lnTo>
                <a:lnTo>
                  <a:pt x="0" y="100"/>
                </a:lnTo>
              </a:path>
            </a:pathLst>
          </a:custGeom>
          <a:ln>
            <a:headEnd/>
            <a:tailEnd type="stealth" w="med" len="med"/>
          </a:ln>
        </p:spPr>
        <p:style>
          <a:lnRef idx="1">
            <a:schemeClr val="dk1"/>
          </a:lnRef>
          <a:fillRef idx="0">
            <a:schemeClr val="dk1"/>
          </a:fillRef>
          <a:effectRef idx="0">
            <a:schemeClr val="dk1"/>
          </a:effectRef>
          <a:fontRef idx="minor">
            <a:schemeClr val="tx1"/>
          </a:fontRef>
        </p:style>
        <p:txBody>
          <a:bodyPr/>
          <a:lstStyle/>
          <a:p>
            <a:endParaRPr lang="zh-CN" altLang="en-US"/>
          </a:p>
        </p:txBody>
      </p:sp>
      <mc:AlternateContent xmlns:mc="http://schemas.openxmlformats.org/markup-compatibility/2006" xmlns:a14="http://schemas.microsoft.com/office/drawing/2010/main">
        <mc:Choice Requires="a14">
          <p:sp>
            <p:nvSpPr>
              <p:cNvPr id="2" name="TextBox 1"/>
              <p:cNvSpPr txBox="1"/>
              <p:nvPr/>
            </p:nvSpPr>
            <p:spPr>
              <a:xfrm>
                <a:off x="7183961" y="1403906"/>
                <a:ext cx="2219710" cy="369332"/>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𝐸𝑟𝑟</m:t>
                        </m:r>
                      </m:e>
                      <m:sub>
                        <m:r>
                          <a:rPr lang="en-US" altLang="zh-CN" i="1">
                            <a:latin typeface="Cambria Math"/>
                          </a:rPr>
                          <m:t>𝑙</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𝑂</m:t>
                        </m:r>
                      </m:e>
                      <m:sub>
                        <m:r>
                          <a:rPr lang="en-US" altLang="zh-CN" i="1" dirty="0">
                            <a:latin typeface="Cambria Math"/>
                          </a:rPr>
                          <m:t>𝑙</m:t>
                        </m:r>
                      </m:sub>
                    </m:sSub>
                  </m:oMath>
                </a14:m>
                <a:r>
                  <a:rPr lang="en-US" altLang="zh-CN" dirty="0"/>
                  <a:t>(1-</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𝑂</m:t>
                        </m:r>
                      </m:e>
                      <m:sub>
                        <m:r>
                          <a:rPr lang="en-US" altLang="zh-CN" i="1" dirty="0">
                            <a:latin typeface="Cambria Math"/>
                          </a:rPr>
                          <m:t>𝑙</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𝑇</m:t>
                        </m:r>
                      </m:e>
                      <m:sub>
                        <m:r>
                          <a:rPr lang="en-US" altLang="zh-CN" i="1" dirty="0">
                            <a:latin typeface="Cambria Math"/>
                          </a:rPr>
                          <m:t>𝑙</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𝑂</m:t>
                        </m:r>
                      </m:e>
                      <m:sub>
                        <m:r>
                          <a:rPr lang="en-US" altLang="zh-CN" i="1" dirty="0">
                            <a:latin typeface="Cambria Math"/>
                          </a:rPr>
                          <m:t>𝑙</m:t>
                        </m:r>
                      </m:sub>
                    </m:sSub>
                  </m:oMath>
                </a14:m>
                <a:r>
                  <a:rPr lang="en-US" altLang="zh-CN" dirty="0"/>
                  <a:t>)</a:t>
                </a:r>
                <a:endParaRPr lang="zh-CN" alt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7183961" y="1403906"/>
                <a:ext cx="2219710" cy="369332"/>
              </a:xfrm>
              <a:prstGeom prst="rect">
                <a:avLst/>
              </a:prstGeom>
              <a:blipFill>
                <a:blip r:embed="rId3"/>
                <a:stretch>
                  <a:fillRect t="-8197" r="-1644" b="-24590"/>
                </a:stretch>
              </a:blipFill>
            </p:spPr>
            <p:txBody>
              <a:bodyPr/>
              <a:lstStyle/>
              <a:p>
                <a:r>
                  <a:rPr lang="zh-CN" altLang="en-US">
                    <a:noFill/>
                  </a:rPr>
                  <a:t> </a:t>
                </a:r>
              </a:p>
            </p:txBody>
          </p:sp>
        </mc:Fallback>
      </mc:AlternateContent>
      <p:sp>
        <p:nvSpPr>
          <p:cNvPr id="3" name="TextBox 2"/>
          <p:cNvSpPr txBox="1"/>
          <p:nvPr/>
        </p:nvSpPr>
        <p:spPr>
          <a:xfrm>
            <a:off x="9480376" y="1065352"/>
            <a:ext cx="720080" cy="523220"/>
          </a:xfrm>
          <a:prstGeom prst="rect">
            <a:avLst/>
          </a:prstGeom>
          <a:solidFill>
            <a:srgbClr val="92D050"/>
          </a:solidFill>
        </p:spPr>
        <p:txBody>
          <a:bodyPr wrap="square" rtlCol="0">
            <a:spAutoFit/>
          </a:bodyPr>
          <a:lstStyle/>
          <a:p>
            <a:r>
              <a:rPr lang="zh-CN" altLang="en-US" sz="1400" dirty="0"/>
              <a:t>输出层误差</a:t>
            </a:r>
          </a:p>
        </p:txBody>
      </p:sp>
      <p:cxnSp>
        <p:nvCxnSpPr>
          <p:cNvPr id="8" name="直接箭头连接符 7"/>
          <p:cNvCxnSpPr>
            <a:endCxn id="3" idx="1"/>
          </p:cNvCxnSpPr>
          <p:nvPr/>
        </p:nvCxnSpPr>
        <p:spPr>
          <a:xfrm flipV="1">
            <a:off x="9192344" y="1326962"/>
            <a:ext cx="288032" cy="26161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52" name="TextBox 51"/>
              <p:cNvSpPr txBox="1"/>
              <p:nvPr/>
            </p:nvSpPr>
            <p:spPr>
              <a:xfrm>
                <a:off x="7447300" y="2934340"/>
                <a:ext cx="492892"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𝑇</m:t>
                          </m:r>
                        </m:e>
                        <m:sub>
                          <m:r>
                            <a:rPr lang="en-US" altLang="zh-CN" i="1">
                              <a:latin typeface="Cambria Math"/>
                            </a:rPr>
                            <m:t>𝑗𝑙</m:t>
                          </m:r>
                        </m:sub>
                      </m:sSub>
                    </m:oMath>
                  </m:oMathPara>
                </a14:m>
                <a:endParaRPr lang="zh-CN" altLang="en-US" dirty="0"/>
              </a:p>
            </p:txBody>
          </p:sp>
        </mc:Choice>
        <mc:Fallback xmlns="">
          <p:sp>
            <p:nvSpPr>
              <p:cNvPr id="52" name="TextBox 51"/>
              <p:cNvSpPr txBox="1">
                <a:spLocks noRot="1" noChangeAspect="1" noMove="1" noResize="1" noEditPoints="1" noAdjustHandles="1" noChangeArrowheads="1" noChangeShapeType="1" noTextEdit="1"/>
              </p:cNvSpPr>
              <p:nvPr/>
            </p:nvSpPr>
            <p:spPr>
              <a:xfrm>
                <a:off x="7447300" y="2934340"/>
                <a:ext cx="492892" cy="391646"/>
              </a:xfrm>
              <a:prstGeom prst="rect">
                <a:avLst/>
              </a:prstGeom>
              <a:blipFill>
                <a:blip r:embed="rId4"/>
                <a:stretch>
                  <a:fillRect b="-7692"/>
                </a:stretch>
              </a:blipFill>
            </p:spPr>
            <p:txBody>
              <a:bodyPr/>
              <a:lstStyle/>
              <a:p>
                <a:r>
                  <a:rPr lang="zh-CN" altLang="en-US">
                    <a:noFill/>
                  </a:rPr>
                  <a:t> </a:t>
                </a:r>
              </a:p>
            </p:txBody>
          </p:sp>
        </mc:Fallback>
      </mc:AlternateContent>
      <p:cxnSp>
        <p:nvCxnSpPr>
          <p:cNvPr id="11" name="曲线连接符 10"/>
          <p:cNvCxnSpPr/>
          <p:nvPr/>
        </p:nvCxnSpPr>
        <p:spPr>
          <a:xfrm rot="10800000" flipV="1">
            <a:off x="7248130" y="3130163"/>
            <a:ext cx="325835" cy="150806"/>
          </a:xfrm>
          <a:prstGeom prst="curvedConnector3">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7464153" y="2106124"/>
                <a:ext cx="2494337" cy="391646"/>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𝑇</m:t>
                        </m:r>
                      </m:e>
                      <m:sub>
                        <m:r>
                          <a:rPr lang="en-US" altLang="zh-CN" i="1">
                            <a:latin typeface="Cambria Math"/>
                          </a:rPr>
                          <m:t>𝑗𝑙</m:t>
                        </m:r>
                      </m:sub>
                    </m:sSub>
                  </m:oMath>
                </a14:m>
                <a:r>
                  <a:rPr lang="en-US" altLang="zh-CN" dirty="0"/>
                  <a:t>(k+1)=</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𝑇</m:t>
                        </m:r>
                      </m:e>
                      <m:sub>
                        <m:r>
                          <a:rPr lang="en-US" altLang="zh-CN" i="1">
                            <a:latin typeface="Cambria Math"/>
                          </a:rPr>
                          <m:t>𝑗𝑙</m:t>
                        </m:r>
                      </m:sub>
                    </m:sSub>
                  </m:oMath>
                </a14:m>
                <a:r>
                  <a:rPr lang="en-US" altLang="zh-CN" dirty="0"/>
                  <a:t>(k)+</a:t>
                </a:r>
                <a14:m>
                  <m:oMath xmlns:m="http://schemas.openxmlformats.org/officeDocument/2006/math">
                    <m:r>
                      <a:rPr lang="zh-CN" altLang="en-US" i="1">
                        <a:latin typeface="Cambria Math"/>
                      </a:rPr>
                      <m:t>𝛿</m:t>
                    </m:r>
                    <m:sSub>
                      <m:sSubPr>
                        <m:ctrlPr>
                          <a:rPr lang="en-US" altLang="zh-CN" i="1">
                            <a:latin typeface="Cambria Math" panose="02040503050406030204" pitchFamily="18" charset="0"/>
                          </a:rPr>
                        </m:ctrlPr>
                      </m:sSubPr>
                      <m:e>
                        <m:r>
                          <a:rPr lang="en-US" altLang="zh-CN" i="1">
                            <a:latin typeface="Cambria Math"/>
                          </a:rPr>
                          <m:t>𝐸𝑟𝑟</m:t>
                        </m:r>
                      </m:e>
                      <m:sub>
                        <m:r>
                          <a:rPr lang="en-US" altLang="zh-CN" i="1">
                            <a:latin typeface="Cambria Math"/>
                          </a:rPr>
                          <m:t>𝑙</m:t>
                        </m:r>
                      </m:sub>
                    </m:sSub>
                    <m:sSub>
                      <m:sSubPr>
                        <m:ctrlPr>
                          <a:rPr lang="en-US" altLang="zh-CN" i="1">
                            <a:latin typeface="Cambria Math" panose="02040503050406030204" pitchFamily="18" charset="0"/>
                          </a:rPr>
                        </m:ctrlPr>
                      </m:sSubPr>
                      <m:e>
                        <m:r>
                          <a:rPr lang="en-US" altLang="zh-CN" i="1">
                            <a:latin typeface="Cambria Math"/>
                          </a:rPr>
                          <m:t>𝑦</m:t>
                        </m:r>
                      </m:e>
                      <m:sub>
                        <m:r>
                          <a:rPr lang="en-US" altLang="zh-CN" i="1">
                            <a:latin typeface="Cambria Math"/>
                          </a:rPr>
                          <m:t>𝑗</m:t>
                        </m:r>
                      </m:sub>
                    </m:sSub>
                  </m:oMath>
                </a14:m>
                <a:endParaRPr lang="zh-CN" alt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7464153" y="2106124"/>
                <a:ext cx="2494337" cy="391646"/>
              </a:xfrm>
              <a:prstGeom prst="rect">
                <a:avLst/>
              </a:prstGeom>
              <a:blipFill>
                <a:blip r:embed="rId5"/>
                <a:stretch>
                  <a:fillRect t="-6154" b="-18462"/>
                </a:stretch>
              </a:blipFill>
            </p:spPr>
            <p:txBody>
              <a:bodyPr/>
              <a:lstStyle/>
              <a:p>
                <a:r>
                  <a:rPr lang="zh-CN" altLang="en-US">
                    <a:noFill/>
                  </a:rPr>
                  <a:t> </a:t>
                </a:r>
              </a:p>
            </p:txBody>
          </p:sp>
        </mc:Fallback>
      </mc:AlternateContent>
      <p:sp>
        <p:nvSpPr>
          <p:cNvPr id="59" name="TextBox 58"/>
          <p:cNvSpPr txBox="1"/>
          <p:nvPr/>
        </p:nvSpPr>
        <p:spPr>
          <a:xfrm>
            <a:off x="9768409" y="1742781"/>
            <a:ext cx="576064" cy="523220"/>
          </a:xfrm>
          <a:prstGeom prst="rect">
            <a:avLst/>
          </a:prstGeom>
          <a:solidFill>
            <a:srgbClr val="92D050"/>
          </a:solidFill>
        </p:spPr>
        <p:txBody>
          <a:bodyPr wrap="square" rtlCol="0">
            <a:spAutoFit/>
          </a:bodyPr>
          <a:lstStyle/>
          <a:p>
            <a:r>
              <a:rPr lang="zh-CN" altLang="en-US" sz="1400" dirty="0"/>
              <a:t>权值修正</a:t>
            </a:r>
          </a:p>
        </p:txBody>
      </p:sp>
      <p:cxnSp>
        <p:nvCxnSpPr>
          <p:cNvPr id="60" name="直接箭头连接符 59"/>
          <p:cNvCxnSpPr/>
          <p:nvPr/>
        </p:nvCxnSpPr>
        <p:spPr>
          <a:xfrm flipV="1">
            <a:off x="9408368" y="1939536"/>
            <a:ext cx="288032" cy="26161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1" name="曲线连接符 20"/>
          <p:cNvCxnSpPr>
            <a:stCxn id="15" idx="1"/>
          </p:cNvCxnSpPr>
          <p:nvPr/>
        </p:nvCxnSpPr>
        <p:spPr>
          <a:xfrm rot="10800000" flipH="1" flipV="1">
            <a:off x="7464152" y="2301947"/>
            <a:ext cx="144016" cy="725760"/>
          </a:xfrm>
          <a:prstGeom prst="curvedConnector4">
            <a:avLst>
              <a:gd name="adj1" fmla="val -158732"/>
              <a:gd name="adj2" fmla="val 63491"/>
            </a:avLst>
          </a:prstGeom>
          <a:ln>
            <a:headEnd type="arrow"/>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7766349" y="2619232"/>
                <a:ext cx="2153666" cy="369332"/>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𝜃</m:t>
                        </m:r>
                      </m:e>
                      <m:sub>
                        <m:r>
                          <a:rPr lang="en-US" altLang="zh-CN" i="1">
                            <a:latin typeface="Cambria Math"/>
                          </a:rPr>
                          <m:t>𝑙</m:t>
                        </m:r>
                      </m:sub>
                    </m:sSub>
                  </m:oMath>
                </a14:m>
                <a:r>
                  <a:rPr lang="en-US" altLang="zh-CN" dirty="0"/>
                  <a:t>(k+1)=</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𝜃</m:t>
                        </m:r>
                      </m:e>
                      <m:sub>
                        <m:r>
                          <a:rPr lang="en-US" altLang="zh-CN" i="1">
                            <a:latin typeface="Cambria Math"/>
                          </a:rPr>
                          <m:t>𝑙</m:t>
                        </m:r>
                      </m:sub>
                    </m:sSub>
                  </m:oMath>
                </a14:m>
                <a:r>
                  <a:rPr lang="en-US" altLang="zh-CN" dirty="0"/>
                  <a:t>(k)-</a:t>
                </a:r>
                <a14:m>
                  <m:oMath xmlns:m="http://schemas.openxmlformats.org/officeDocument/2006/math">
                    <m:r>
                      <a:rPr lang="zh-CN" altLang="en-US" i="1">
                        <a:latin typeface="Cambria Math"/>
                      </a:rPr>
                      <m:t>𝛿</m:t>
                    </m:r>
                    <m:sSub>
                      <m:sSubPr>
                        <m:ctrlPr>
                          <a:rPr lang="en-US" altLang="zh-CN" i="1">
                            <a:latin typeface="Cambria Math" panose="02040503050406030204" pitchFamily="18" charset="0"/>
                          </a:rPr>
                        </m:ctrlPr>
                      </m:sSubPr>
                      <m:e>
                        <m:r>
                          <a:rPr lang="en-US" altLang="zh-CN" i="1">
                            <a:latin typeface="Cambria Math"/>
                          </a:rPr>
                          <m:t>𝐸𝑟𝑟</m:t>
                        </m:r>
                      </m:e>
                      <m:sub>
                        <m:r>
                          <a:rPr lang="en-US" altLang="zh-CN" i="1">
                            <a:latin typeface="Cambria Math"/>
                          </a:rPr>
                          <m:t>𝑙</m:t>
                        </m:r>
                      </m:sub>
                    </m:sSub>
                  </m:oMath>
                </a14:m>
                <a:endParaRPr lang="zh-CN" altLang="en-US" dirty="0"/>
              </a:p>
            </p:txBody>
          </p:sp>
        </mc:Choice>
        <mc:Fallback xmlns="">
          <p:sp>
            <p:nvSpPr>
              <p:cNvPr id="67" name="TextBox 66"/>
              <p:cNvSpPr txBox="1">
                <a:spLocks noRot="1" noChangeAspect="1" noMove="1" noResize="1" noEditPoints="1" noAdjustHandles="1" noChangeArrowheads="1" noChangeShapeType="1" noTextEdit="1"/>
              </p:cNvSpPr>
              <p:nvPr/>
            </p:nvSpPr>
            <p:spPr>
              <a:xfrm>
                <a:off x="7766349" y="2619232"/>
                <a:ext cx="2153666" cy="369332"/>
              </a:xfrm>
              <a:prstGeom prst="rect">
                <a:avLst/>
              </a:prstGeom>
              <a:blipFill>
                <a:blip r:embed="rId6"/>
                <a:stretch>
                  <a:fillRect t="-10000" b="-26667"/>
                </a:stretch>
              </a:blipFill>
            </p:spPr>
            <p:txBody>
              <a:bodyPr/>
              <a:lstStyle/>
              <a:p>
                <a:r>
                  <a:rPr lang="zh-CN" altLang="en-US">
                    <a:noFill/>
                  </a:rPr>
                  <a:t> </a:t>
                </a:r>
              </a:p>
            </p:txBody>
          </p:sp>
        </mc:Fallback>
      </mc:AlternateContent>
      <p:sp>
        <p:nvSpPr>
          <p:cNvPr id="68" name="TextBox 67"/>
          <p:cNvSpPr txBox="1"/>
          <p:nvPr/>
        </p:nvSpPr>
        <p:spPr>
          <a:xfrm>
            <a:off x="10100320" y="2504487"/>
            <a:ext cx="567680" cy="523220"/>
          </a:xfrm>
          <a:prstGeom prst="rect">
            <a:avLst/>
          </a:prstGeom>
          <a:solidFill>
            <a:srgbClr val="92D050"/>
          </a:solidFill>
        </p:spPr>
        <p:txBody>
          <a:bodyPr wrap="square" rtlCol="0">
            <a:spAutoFit/>
          </a:bodyPr>
          <a:lstStyle/>
          <a:p>
            <a:r>
              <a:rPr lang="zh-CN" altLang="en-US" sz="1400" dirty="0"/>
              <a:t>阈值修正</a:t>
            </a:r>
          </a:p>
        </p:txBody>
      </p:sp>
      <p:cxnSp>
        <p:nvCxnSpPr>
          <p:cNvPr id="24" name="直接箭头连接符 23"/>
          <p:cNvCxnSpPr/>
          <p:nvPr/>
        </p:nvCxnSpPr>
        <p:spPr>
          <a:xfrm flipV="1">
            <a:off x="9744848" y="2708920"/>
            <a:ext cx="403920" cy="10206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7825118" y="3673228"/>
                <a:ext cx="2500108" cy="391646"/>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𝐸</m:t>
                        </m:r>
                        <m:r>
                          <m:rPr>
                            <m:sty m:val="p"/>
                          </m:rPr>
                          <a:rPr lang="en-US" altLang="zh-CN" i="1">
                            <a:latin typeface="Cambria Math"/>
                          </a:rPr>
                          <m:t>rr</m:t>
                        </m:r>
                      </m:e>
                      <m:sub>
                        <m:r>
                          <a:rPr lang="en-US" altLang="zh-CN" i="1">
                            <a:latin typeface="Cambria Math"/>
                          </a:rPr>
                          <m:t>𝑗</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𝑦</m:t>
                        </m:r>
                      </m:e>
                      <m:sub>
                        <m:r>
                          <a:rPr lang="en-US" altLang="zh-CN" i="1" dirty="0">
                            <a:latin typeface="Cambria Math"/>
                          </a:rPr>
                          <m:t>𝑗</m:t>
                        </m:r>
                      </m:sub>
                    </m:sSub>
                  </m:oMath>
                </a14:m>
                <a:r>
                  <a:rPr lang="en-US" altLang="zh-CN" dirty="0"/>
                  <a:t>(1-</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𝑦</m:t>
                        </m:r>
                      </m:e>
                      <m:sub>
                        <m:r>
                          <a:rPr lang="en-US" altLang="zh-CN" i="1" dirty="0">
                            <a:latin typeface="Cambria Math"/>
                          </a:rPr>
                          <m:t>𝑗</m:t>
                        </m:r>
                      </m:sub>
                    </m:sSub>
                  </m:oMath>
                </a14:m>
                <a:r>
                  <a:rPr lang="en-US" altLang="zh-CN" dirty="0"/>
                  <a:t>)</a:t>
                </a:r>
                <a14:m>
                  <m:oMath xmlns:m="http://schemas.openxmlformats.org/officeDocument/2006/math">
                    <m:nary>
                      <m:naryPr>
                        <m:chr m:val="∑"/>
                        <m:supHide m:val="on"/>
                        <m:ctrlPr>
                          <a:rPr lang="en-US" altLang="zh-CN" i="1" dirty="0">
                            <a:latin typeface="Cambria Math" panose="02040503050406030204" pitchFamily="18" charset="0"/>
                          </a:rPr>
                        </m:ctrlPr>
                      </m:naryPr>
                      <m:sub>
                        <m:r>
                          <m:rPr>
                            <m:brk m:alnAt="7"/>
                          </m:rPr>
                          <a:rPr lang="en-US" altLang="zh-CN" i="1" dirty="0">
                            <a:latin typeface="Cambria Math"/>
                          </a:rPr>
                          <m:t>𝑙</m:t>
                        </m:r>
                      </m:sub>
                      <m:sup/>
                      <m:e>
                        <m:sSub>
                          <m:sSubPr>
                            <m:ctrlPr>
                              <a:rPr lang="en-US" altLang="zh-CN" i="1" dirty="0">
                                <a:latin typeface="Cambria Math" panose="02040503050406030204" pitchFamily="18" charset="0"/>
                              </a:rPr>
                            </m:ctrlPr>
                          </m:sSubPr>
                          <m:e>
                            <m:r>
                              <a:rPr lang="en-US" altLang="zh-CN" i="1" dirty="0">
                                <a:latin typeface="Cambria Math"/>
                              </a:rPr>
                              <m:t>𝐸𝑟𝑟</m:t>
                            </m:r>
                          </m:e>
                          <m:sub>
                            <m:r>
                              <a:rPr lang="en-US" altLang="zh-CN" i="1" dirty="0">
                                <a:latin typeface="Cambria Math"/>
                              </a:rPr>
                              <m:t>𝑙</m:t>
                            </m:r>
                          </m:sub>
                        </m:sSub>
                      </m:e>
                    </m:nary>
                    <m:sSub>
                      <m:sSubPr>
                        <m:ctrlPr>
                          <a:rPr lang="en-US" altLang="zh-CN" i="1" dirty="0">
                            <a:latin typeface="Cambria Math" panose="02040503050406030204" pitchFamily="18" charset="0"/>
                          </a:rPr>
                        </m:ctrlPr>
                      </m:sSubPr>
                      <m:e>
                        <m:r>
                          <a:rPr lang="en-US" altLang="zh-CN" i="1" dirty="0">
                            <a:latin typeface="Cambria Math"/>
                          </a:rPr>
                          <m:t>𝑇</m:t>
                        </m:r>
                      </m:e>
                      <m:sub>
                        <m:r>
                          <a:rPr lang="en-US" altLang="zh-CN" i="1" dirty="0">
                            <a:latin typeface="Cambria Math"/>
                          </a:rPr>
                          <m:t>𝑗𝑙</m:t>
                        </m:r>
                      </m:sub>
                    </m:sSub>
                  </m:oMath>
                </a14:m>
                <a:endParaRPr lang="zh-CN" alt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7825118" y="3673228"/>
                <a:ext cx="2500108" cy="391646"/>
              </a:xfrm>
              <a:prstGeom prst="rect">
                <a:avLst/>
              </a:prstGeom>
              <a:blipFill>
                <a:blip r:embed="rId7"/>
                <a:stretch>
                  <a:fillRect t="-112500" b="-1718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8068049" y="4262783"/>
                <a:ext cx="2751651" cy="391646"/>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𝑊</m:t>
                        </m:r>
                      </m:e>
                      <m:sub>
                        <m:r>
                          <a:rPr lang="en-US" altLang="zh-CN" i="1">
                            <a:latin typeface="Cambria Math"/>
                          </a:rPr>
                          <m:t>𝑖𝑗</m:t>
                        </m:r>
                      </m:sub>
                    </m:sSub>
                  </m:oMath>
                </a14:m>
                <a:r>
                  <a:rPr lang="en-US" altLang="zh-CN" dirty="0"/>
                  <a:t>(k+1)=</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𝑊</m:t>
                        </m:r>
                      </m:e>
                      <m:sub>
                        <m:r>
                          <a:rPr lang="en-US" altLang="zh-CN" i="1">
                            <a:latin typeface="Cambria Math"/>
                          </a:rPr>
                          <m:t>𝑖𝑗</m:t>
                        </m:r>
                      </m:sub>
                    </m:sSub>
                  </m:oMath>
                </a14:m>
                <a:r>
                  <a:rPr lang="en-US" altLang="zh-CN" dirty="0"/>
                  <a:t>(k)+</a:t>
                </a:r>
                <a14:m>
                  <m:oMath xmlns:m="http://schemas.openxmlformats.org/officeDocument/2006/math">
                    <m:sSup>
                      <m:sSupPr>
                        <m:ctrlPr>
                          <a:rPr lang="en-US" altLang="zh-CN" i="1">
                            <a:latin typeface="Cambria Math" panose="02040503050406030204" pitchFamily="18" charset="0"/>
                          </a:rPr>
                        </m:ctrlPr>
                      </m:sSupPr>
                      <m:e>
                        <m:r>
                          <a:rPr lang="zh-CN" altLang="en-US" i="1">
                            <a:latin typeface="Cambria Math"/>
                          </a:rPr>
                          <m:t>𝛿</m:t>
                        </m:r>
                      </m:e>
                      <m:sup>
                        <m:r>
                          <a:rPr lang="en-US" altLang="zh-CN" i="1">
                            <a:latin typeface="Cambria Math"/>
                          </a:rPr>
                          <m:t>′</m:t>
                        </m:r>
                      </m:sup>
                    </m:sSup>
                    <m:sSub>
                      <m:sSubPr>
                        <m:ctrlPr>
                          <a:rPr lang="en-US" altLang="zh-CN" i="1">
                            <a:latin typeface="Cambria Math" panose="02040503050406030204" pitchFamily="18" charset="0"/>
                          </a:rPr>
                        </m:ctrlPr>
                      </m:sSubPr>
                      <m:e>
                        <m:r>
                          <a:rPr lang="en-US" altLang="zh-CN" i="1">
                            <a:latin typeface="Cambria Math"/>
                          </a:rPr>
                          <m:t>𝐸𝑟𝑟</m:t>
                        </m:r>
                      </m:e>
                      <m:sub>
                        <m:r>
                          <a:rPr lang="en-US" altLang="zh-CN" i="1">
                            <a:latin typeface="Cambria Math"/>
                          </a:rPr>
                          <m:t>𝑗</m:t>
                        </m:r>
                      </m:sub>
                    </m:sSub>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𝑖</m:t>
                        </m:r>
                      </m:sub>
                    </m:sSub>
                  </m:oMath>
                </a14:m>
                <a:endParaRPr lang="zh-CN" altLang="en-US" dirty="0"/>
              </a:p>
            </p:txBody>
          </p:sp>
        </mc:Choice>
        <mc:Fallback xmlns="">
          <p:sp>
            <p:nvSpPr>
              <p:cNvPr id="76" name="TextBox 75"/>
              <p:cNvSpPr txBox="1">
                <a:spLocks noRot="1" noChangeAspect="1" noMove="1" noResize="1" noEditPoints="1" noAdjustHandles="1" noChangeArrowheads="1" noChangeShapeType="1" noTextEdit="1"/>
              </p:cNvSpPr>
              <p:nvPr/>
            </p:nvSpPr>
            <p:spPr>
              <a:xfrm>
                <a:off x="8068049" y="4262783"/>
                <a:ext cx="2751651" cy="391646"/>
              </a:xfrm>
              <a:prstGeom prst="rect">
                <a:avLst/>
              </a:prstGeom>
              <a:blipFill>
                <a:blip r:embed="rId8"/>
                <a:stretch>
                  <a:fillRect t="-6154" b="-1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8001577" y="4921034"/>
                <a:ext cx="2225738" cy="391646"/>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𝜃</m:t>
                        </m:r>
                      </m:e>
                      <m:sub>
                        <m:r>
                          <a:rPr lang="en-US" altLang="zh-CN" i="1">
                            <a:latin typeface="Cambria Math"/>
                          </a:rPr>
                          <m:t>𝑖</m:t>
                        </m:r>
                      </m:sub>
                    </m:sSub>
                  </m:oMath>
                </a14:m>
                <a:r>
                  <a:rPr lang="en-US" altLang="zh-CN" dirty="0"/>
                  <a:t>(k+1)=</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a:rPr>
                          <m:t>𝜃</m:t>
                        </m:r>
                      </m:e>
                      <m:sub>
                        <m:r>
                          <a:rPr lang="en-US" altLang="zh-CN" i="1">
                            <a:latin typeface="Cambria Math"/>
                          </a:rPr>
                          <m:t>𝑖</m:t>
                        </m:r>
                      </m:sub>
                    </m:sSub>
                  </m:oMath>
                </a14:m>
                <a:r>
                  <a:rPr lang="en-US" altLang="zh-CN" dirty="0"/>
                  <a:t>(k)-</a:t>
                </a:r>
                <a14:m>
                  <m:oMath xmlns:m="http://schemas.openxmlformats.org/officeDocument/2006/math">
                    <m:sSup>
                      <m:sSupPr>
                        <m:ctrlPr>
                          <a:rPr lang="en-US" altLang="zh-CN" i="1">
                            <a:latin typeface="Cambria Math" panose="02040503050406030204" pitchFamily="18" charset="0"/>
                          </a:rPr>
                        </m:ctrlPr>
                      </m:sSupPr>
                      <m:e>
                        <m:r>
                          <a:rPr lang="zh-CN" altLang="en-US" i="1">
                            <a:latin typeface="Cambria Math"/>
                          </a:rPr>
                          <m:t>𝛿</m:t>
                        </m:r>
                      </m:e>
                      <m:sup>
                        <m:r>
                          <a:rPr lang="en-US" altLang="zh-CN" i="1">
                            <a:latin typeface="Cambria Math"/>
                          </a:rPr>
                          <m:t>′</m:t>
                        </m:r>
                      </m:sup>
                    </m:sSup>
                    <m:sSub>
                      <m:sSubPr>
                        <m:ctrlPr>
                          <a:rPr lang="en-US" altLang="zh-CN" i="1">
                            <a:latin typeface="Cambria Math" panose="02040503050406030204" pitchFamily="18" charset="0"/>
                          </a:rPr>
                        </m:ctrlPr>
                      </m:sSubPr>
                      <m:e>
                        <m:r>
                          <a:rPr lang="en-US" altLang="zh-CN" i="1">
                            <a:latin typeface="Cambria Math"/>
                          </a:rPr>
                          <m:t>𝐸𝑟𝑟</m:t>
                        </m:r>
                      </m:e>
                      <m:sub>
                        <m:r>
                          <a:rPr lang="en-US" altLang="zh-CN" i="1">
                            <a:latin typeface="Cambria Math"/>
                          </a:rPr>
                          <m:t>𝑗</m:t>
                        </m:r>
                      </m:sub>
                    </m:sSub>
                  </m:oMath>
                </a14:m>
                <a:endParaRPr lang="zh-CN" altLang="en-US" dirty="0"/>
              </a:p>
            </p:txBody>
          </p:sp>
        </mc:Choice>
        <mc:Fallback xmlns="">
          <p:sp>
            <p:nvSpPr>
              <p:cNvPr id="77" name="TextBox 76"/>
              <p:cNvSpPr txBox="1">
                <a:spLocks noRot="1" noChangeAspect="1" noMove="1" noResize="1" noEditPoints="1" noAdjustHandles="1" noChangeArrowheads="1" noChangeShapeType="1" noTextEdit="1"/>
              </p:cNvSpPr>
              <p:nvPr/>
            </p:nvSpPr>
            <p:spPr>
              <a:xfrm>
                <a:off x="8001577" y="4921034"/>
                <a:ext cx="2225738" cy="391646"/>
              </a:xfrm>
              <a:prstGeom prst="rect">
                <a:avLst/>
              </a:prstGeom>
              <a:blipFill>
                <a:blip r:embed="rId9"/>
                <a:stretch>
                  <a:fillRect t="-6154" b="-18462"/>
                </a:stretch>
              </a:blipFill>
            </p:spPr>
            <p:txBody>
              <a:bodyPr/>
              <a:lstStyle/>
              <a:p>
                <a:r>
                  <a:rPr lang="zh-CN" altLang="en-US">
                    <a:noFill/>
                  </a:rPr>
                  <a:t> </a:t>
                </a:r>
              </a:p>
            </p:txBody>
          </p:sp>
        </mc:Fallback>
      </mc:AlternateContent>
      <p:cxnSp>
        <p:nvCxnSpPr>
          <p:cNvPr id="30" name="曲线连接符 29"/>
          <p:cNvCxnSpPr/>
          <p:nvPr/>
        </p:nvCxnSpPr>
        <p:spPr>
          <a:xfrm flipV="1">
            <a:off x="7680176" y="4477614"/>
            <a:ext cx="504056" cy="103514"/>
          </a:xfrm>
          <a:prstGeom prst="curvedConnector3">
            <a:avLst/>
          </a:prstGeom>
          <a:ln>
            <a:headEnd type="arrow"/>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 name="TextBox 3"/>
              <p:cNvSpPr txBox="1"/>
              <p:nvPr/>
            </p:nvSpPr>
            <p:spPr>
              <a:xfrm>
                <a:off x="7760944" y="692696"/>
                <a:ext cx="944746" cy="369332"/>
              </a:xfrm>
              <a:prstGeom prst="rect">
                <a:avLst/>
              </a:prstGeom>
              <a:noFill/>
            </p:spPr>
            <p:txBody>
              <a:bodyPr wrap="none" rtlCol="0">
                <a:spAutoFit/>
              </a:bodyPr>
              <a:lstStyle/>
              <a:p>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a:rPr>
                          <m:t>𝑓</m:t>
                        </m:r>
                      </m:e>
                      <m:sup>
                        <m:r>
                          <a:rPr lang="en-US" altLang="zh-CN" i="1">
                            <a:latin typeface="Cambria Math"/>
                          </a:rPr>
                          <m:t>′</m:t>
                        </m:r>
                      </m:sup>
                    </m:sSup>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𝑛𝑒𝑡</m:t>
                        </m:r>
                      </m:e>
                      <m:sub>
                        <m:r>
                          <a:rPr lang="en-US" altLang="zh-CN" i="1" dirty="0">
                            <a:latin typeface="Cambria Math"/>
                          </a:rPr>
                          <m:t>𝑙</m:t>
                        </m:r>
                      </m:sub>
                    </m:sSub>
                  </m:oMath>
                </a14:m>
                <a:r>
                  <a:rPr lang="en-US" altLang="zh-CN" dirty="0"/>
                  <a:t>)</a:t>
                </a:r>
                <a:endParaRPr lang="zh-CN" alt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7760944" y="692696"/>
                <a:ext cx="944746" cy="369332"/>
              </a:xfrm>
              <a:prstGeom prst="rect">
                <a:avLst/>
              </a:prstGeom>
              <a:blipFill>
                <a:blip r:embed="rId10"/>
                <a:stretch>
                  <a:fillRect l="-1935" t="-10000" r="-4516" b="-26667"/>
                </a:stretch>
              </a:blipFill>
            </p:spPr>
            <p:txBody>
              <a:bodyPr/>
              <a:lstStyle/>
              <a:p>
                <a:r>
                  <a:rPr lang="zh-CN" altLang="en-US">
                    <a:noFill/>
                  </a:rPr>
                  <a:t> </a:t>
                </a:r>
              </a:p>
            </p:txBody>
          </p:sp>
        </mc:Fallback>
      </mc:AlternateContent>
      <p:cxnSp>
        <p:nvCxnSpPr>
          <p:cNvPr id="6" name="肘形连接符 5"/>
          <p:cNvCxnSpPr>
            <a:stCxn id="4" idx="2"/>
            <a:endCxn id="2" idx="0"/>
          </p:cNvCxnSpPr>
          <p:nvPr/>
        </p:nvCxnSpPr>
        <p:spPr>
          <a:xfrm rot="16200000" flipH="1">
            <a:off x="8062571" y="1232774"/>
            <a:ext cx="341878" cy="387"/>
          </a:xfrm>
          <a:prstGeom prst="bentConnector3">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9" name="直接连接符 8"/>
          <p:cNvCxnSpPr/>
          <p:nvPr/>
        </p:nvCxnSpPr>
        <p:spPr>
          <a:xfrm>
            <a:off x="7825118" y="1773238"/>
            <a:ext cx="719154" cy="0"/>
          </a:xfrm>
          <a:prstGeom prst="line">
            <a:avLst/>
          </a:prstGeom>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61" name="TextBox 60"/>
              <p:cNvSpPr txBox="1"/>
              <p:nvPr/>
            </p:nvSpPr>
            <p:spPr>
              <a:xfrm>
                <a:off x="8367977" y="3130163"/>
                <a:ext cx="943463" cy="391646"/>
              </a:xfrm>
              <a:prstGeom prst="rect">
                <a:avLst/>
              </a:prstGeom>
              <a:noFill/>
            </p:spPr>
            <p:txBody>
              <a:bodyPr wrap="none" rtlCol="0">
                <a:spAutoFit/>
              </a:bodyPr>
              <a:lstStyle/>
              <a:p>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a:rPr>
                          <m:t>𝑓</m:t>
                        </m:r>
                      </m:e>
                      <m:sup>
                        <m:r>
                          <a:rPr lang="en-US" altLang="zh-CN" i="1">
                            <a:latin typeface="Cambria Math"/>
                          </a:rPr>
                          <m:t>′</m:t>
                        </m:r>
                      </m:sup>
                    </m:sSup>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𝑛𝑒𝑡</m:t>
                        </m:r>
                      </m:e>
                      <m:sub>
                        <m:r>
                          <a:rPr lang="en-US" altLang="zh-CN" i="1" dirty="0">
                            <a:latin typeface="Cambria Math"/>
                          </a:rPr>
                          <m:t>𝑗</m:t>
                        </m:r>
                      </m:sub>
                    </m:sSub>
                  </m:oMath>
                </a14:m>
                <a:r>
                  <a:rPr lang="en-US" altLang="zh-CN" dirty="0"/>
                  <a:t>)</a:t>
                </a:r>
                <a:endParaRPr lang="zh-CN" altLang="en-US" dirty="0"/>
              </a:p>
            </p:txBody>
          </p:sp>
        </mc:Choice>
        <mc:Fallback xmlns="">
          <p:sp>
            <p:nvSpPr>
              <p:cNvPr id="61" name="TextBox 60"/>
              <p:cNvSpPr txBox="1">
                <a:spLocks noRot="1" noChangeAspect="1" noMove="1" noResize="1" noEditPoints="1" noAdjustHandles="1" noChangeArrowheads="1" noChangeShapeType="1" noTextEdit="1"/>
              </p:cNvSpPr>
              <p:nvPr/>
            </p:nvSpPr>
            <p:spPr>
              <a:xfrm>
                <a:off x="8367977" y="3130163"/>
                <a:ext cx="943463" cy="391646"/>
              </a:xfrm>
              <a:prstGeom prst="rect">
                <a:avLst/>
              </a:prstGeom>
              <a:blipFill>
                <a:blip r:embed="rId11"/>
                <a:stretch>
                  <a:fillRect l="-1948" t="-6154" r="-3896" b="-18462"/>
                </a:stretch>
              </a:blipFill>
            </p:spPr>
            <p:txBody>
              <a:bodyPr/>
              <a:lstStyle/>
              <a:p>
                <a:r>
                  <a:rPr lang="zh-CN" altLang="en-US">
                    <a:noFill/>
                  </a:rPr>
                  <a:t> </a:t>
                </a:r>
              </a:p>
            </p:txBody>
          </p:sp>
        </mc:Fallback>
      </mc:AlternateContent>
      <p:cxnSp>
        <p:nvCxnSpPr>
          <p:cNvPr id="62" name="肘形连接符 61"/>
          <p:cNvCxnSpPr/>
          <p:nvPr/>
        </p:nvCxnSpPr>
        <p:spPr>
          <a:xfrm rot="16200000" flipH="1">
            <a:off x="8658776" y="3599441"/>
            <a:ext cx="341878" cy="387"/>
          </a:xfrm>
          <a:prstGeom prst="bentConnector3">
            <a:avLst>
              <a:gd name="adj1" fmla="val 29104"/>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64" name="直接连接符 63"/>
          <p:cNvCxnSpPr/>
          <p:nvPr/>
        </p:nvCxnSpPr>
        <p:spPr>
          <a:xfrm>
            <a:off x="8421890" y="4119210"/>
            <a:ext cx="719154" cy="0"/>
          </a:xfrm>
          <a:prstGeom prst="line">
            <a:avLst/>
          </a:prstGeom>
        </p:spPr>
        <p:style>
          <a:lnRef idx="2">
            <a:schemeClr val="accent2"/>
          </a:lnRef>
          <a:fillRef idx="0">
            <a:schemeClr val="accent2"/>
          </a:fillRef>
          <a:effectRef idx="1">
            <a:schemeClr val="accent2"/>
          </a:effectRef>
          <a:fontRef idx="minor">
            <a:schemeClr val="tx1"/>
          </a:fontRef>
        </p:style>
      </p:cxnSp>
      <p:sp>
        <p:nvSpPr>
          <p:cNvPr id="63" name="标题 1">
            <a:extLst>
              <a:ext uri="{FF2B5EF4-FFF2-40B4-BE49-F238E27FC236}">
                <a16:creationId xmlns:a16="http://schemas.microsoft.com/office/drawing/2014/main" id="{A1BABAE5-CE23-E738-5B71-C2169A05176B}"/>
              </a:ext>
            </a:extLst>
          </p:cNvPr>
          <p:cNvSpPr txBox="1">
            <a:spLocks/>
          </p:cNvSpPr>
          <p:nvPr/>
        </p:nvSpPr>
        <p:spPr>
          <a:xfrm>
            <a:off x="36522" y="125932"/>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人工神经网络和深度学习</a:t>
            </a:r>
            <a:r>
              <a:rPr lang="en-US" altLang="zh-CN" sz="3200" b="1" dirty="0" smtClean="0"/>
              <a:t>---</a:t>
            </a:r>
            <a:r>
              <a:rPr lang="zh-CN" altLang="en-US" sz="3200" b="1" dirty="0" smtClean="0"/>
              <a:t>传播</a:t>
            </a:r>
            <a:endParaRPr lang="zh-CN" altLang="en-US" sz="3200" b="1" dirty="0"/>
          </a:p>
        </p:txBody>
      </p:sp>
    </p:spTree>
    <p:extLst>
      <p:ext uri="{BB962C8B-B14F-4D97-AF65-F5344CB8AC3E}">
        <p14:creationId xmlns:p14="http://schemas.microsoft.com/office/powerpoint/2010/main" val="40890103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BABAE5-CE23-E738-5B71-C2169A05176B}"/>
              </a:ext>
            </a:extLst>
          </p:cNvPr>
          <p:cNvSpPr txBox="1">
            <a:spLocks/>
          </p:cNvSpPr>
          <p:nvPr/>
        </p:nvSpPr>
        <p:spPr>
          <a:xfrm>
            <a:off x="36522" y="125932"/>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概论</a:t>
            </a:r>
            <a:endParaRPr lang="zh-CN" altLang="en-US" sz="3200" b="1" dirty="0"/>
          </a:p>
        </p:txBody>
      </p:sp>
      <p:sp>
        <p:nvSpPr>
          <p:cNvPr id="3" name="内容占位符 3">
            <a:extLst>
              <a:ext uri="{FF2B5EF4-FFF2-40B4-BE49-F238E27FC236}">
                <a16:creationId xmlns:a16="http://schemas.microsoft.com/office/drawing/2014/main" id="{4887C741-A7A5-B4B7-9A13-215BF7475CFB}"/>
              </a:ext>
            </a:extLst>
          </p:cNvPr>
          <p:cNvSpPr txBox="1">
            <a:spLocks/>
          </p:cNvSpPr>
          <p:nvPr/>
        </p:nvSpPr>
        <p:spPr>
          <a:xfrm>
            <a:off x="609600" y="1066800"/>
            <a:ext cx="10972800" cy="5062538"/>
          </a:xfrm>
          <a:prstGeom prst="rect">
            <a:avLst/>
          </a:prstGeom>
        </p:spPr>
        <p:txBody>
          <a:bodyPr/>
          <a:lstStyle>
            <a:lvl1pPr marL="204783" indent="-204783" algn="l" rtl="0" eaLnBrk="1" fontAlgn="base" hangingPunct="1">
              <a:spcBef>
                <a:spcPts val="451"/>
              </a:spcBef>
              <a:spcAft>
                <a:spcPts val="600"/>
              </a:spcAft>
              <a:buClr>
                <a:schemeClr val="accent1"/>
              </a:buClr>
              <a:buSzPct val="76000"/>
              <a:buFont typeface="Wingdings 3" panose="05040102010807070707" pitchFamily="18" charset="2"/>
              <a:buChar char=""/>
              <a:defRPr sz="2400" kern="1200" baseline="0">
                <a:solidFill>
                  <a:srgbClr val="000000"/>
                </a:solidFill>
                <a:latin typeface="+mn-lt"/>
                <a:ea typeface="+mn-ea"/>
                <a:cs typeface="+mn-cs"/>
              </a:defRPr>
            </a:lvl1pPr>
            <a:lvl2pPr marL="410756" indent="-204783" algn="l" rtl="0" eaLnBrk="1" fontAlgn="base" hangingPunct="1">
              <a:spcBef>
                <a:spcPts val="375"/>
              </a:spcBef>
              <a:spcAft>
                <a:spcPts val="600"/>
              </a:spcAft>
              <a:buClr>
                <a:schemeClr val="accent2"/>
              </a:buClr>
              <a:buSzPct val="76000"/>
              <a:buFont typeface="Wingdings 3" panose="05040102010807070707" pitchFamily="18" charset="2"/>
              <a:buChar char=""/>
              <a:defRPr sz="2133" kern="1200" baseline="0">
                <a:solidFill>
                  <a:srgbClr val="000000"/>
                </a:solidFill>
                <a:latin typeface="+mn-lt"/>
                <a:ea typeface="+mn-ea"/>
                <a:cs typeface="+mn-cs"/>
              </a:defRPr>
            </a:lvl2pPr>
            <a:lvl3pPr marL="616729" indent="-171446" algn="l" rtl="0" eaLnBrk="1" fontAlgn="base" hangingPunct="1">
              <a:spcBef>
                <a:spcPts val="375"/>
              </a:spcBef>
              <a:spcAft>
                <a:spcPct val="0"/>
              </a:spcAft>
              <a:buClr>
                <a:srgbClr val="BCBCBC"/>
              </a:buClr>
              <a:buSzPct val="76000"/>
              <a:buFont typeface="Wingdings 3" panose="05040102010807070707" pitchFamily="18" charset="2"/>
              <a:buChar char=""/>
              <a:defRPr sz="1600" kern="1200" baseline="0">
                <a:solidFill>
                  <a:srgbClr val="000000"/>
                </a:solidFill>
                <a:latin typeface="+mn-lt"/>
                <a:ea typeface="+mn-ea"/>
                <a:cs typeface="+mn-cs"/>
              </a:defRPr>
            </a:lvl3pPr>
            <a:lvl4pPr marL="822702" indent="-171446" algn="l" rtl="0" eaLnBrk="1" fontAlgn="base" hangingPunct="1">
              <a:spcBef>
                <a:spcPts val="300"/>
              </a:spcBef>
              <a:spcAft>
                <a:spcPct val="0"/>
              </a:spcAft>
              <a:buClr>
                <a:srgbClr val="CF5716"/>
              </a:buClr>
              <a:buSzPct val="70000"/>
              <a:buFont typeface="Wingdings" panose="05000000000000000000" pitchFamily="2" charset="2"/>
              <a:buChar char=""/>
              <a:defRPr sz="1200" kern="1200" baseline="0">
                <a:solidFill>
                  <a:schemeClr val="tx1"/>
                </a:solidFill>
                <a:latin typeface="+mn-lt"/>
                <a:ea typeface="+mn-ea"/>
                <a:cs typeface="+mn-cs"/>
              </a:defRPr>
            </a:lvl4pPr>
            <a:lvl5pPr marL="1028674" indent="-171446" algn="l" rtl="0" eaLnBrk="1" fontAlgn="base" hangingPunct="1">
              <a:spcBef>
                <a:spcPts val="225"/>
              </a:spcBef>
              <a:spcAft>
                <a:spcPct val="0"/>
              </a:spcAft>
              <a:buClr>
                <a:schemeClr val="accent2"/>
              </a:buClr>
              <a:buSzPct val="70000"/>
              <a:buFont typeface="Wingdings" panose="05000000000000000000" pitchFamily="2" charset="2"/>
              <a:buChar char=""/>
              <a:defRPr sz="1400" kern="1200" baseline="0">
                <a:solidFill>
                  <a:schemeClr val="tx1"/>
                </a:solidFill>
                <a:latin typeface="+mn-lt"/>
                <a:ea typeface="+mn-ea"/>
                <a:cs typeface="+mn-cs"/>
              </a:defRPr>
            </a:lvl5pPr>
            <a:lvl6pPr marL="1234409" indent="-137157"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566" indent="-137157" algn="l" rtl="0" eaLnBrk="1" latinLnBrk="0" hangingPunct="1">
              <a:spcBef>
                <a:spcPts val="225"/>
              </a:spcBef>
              <a:buClr>
                <a:srgbClr val="727CA3">
                  <a:shade val="75000"/>
                </a:srgbClr>
              </a:buClr>
              <a:buSzPct val="75000"/>
              <a:buFont typeface="Wingdings 3"/>
              <a:buChar char=""/>
              <a:defRPr kumimoji="0" lang="en-US" sz="1051" kern="1200" smtClean="0">
                <a:solidFill>
                  <a:schemeClr val="tx1"/>
                </a:solidFill>
                <a:latin typeface="+mn-lt"/>
                <a:ea typeface="+mn-ea"/>
                <a:cs typeface="+mn-cs"/>
              </a:defRPr>
            </a:lvl7pPr>
            <a:lvl8pPr marL="1508722" indent="-137157" algn="l" rtl="0" eaLnBrk="1" latinLnBrk="0" hangingPunct="1">
              <a:spcBef>
                <a:spcPts val="225"/>
              </a:spcBef>
              <a:buClr>
                <a:prstClr val="white">
                  <a:shade val="50000"/>
                </a:prstClr>
              </a:buClr>
              <a:buSzPct val="75000"/>
              <a:buFont typeface="Wingdings 3"/>
              <a:buChar char=""/>
              <a:defRPr kumimoji="0" lang="en-US" sz="1051" kern="1200" smtClean="0">
                <a:solidFill>
                  <a:schemeClr val="tx1"/>
                </a:solidFill>
                <a:latin typeface="+mn-lt"/>
                <a:ea typeface="+mn-ea"/>
                <a:cs typeface="+mn-cs"/>
              </a:defRPr>
            </a:lvl8pPr>
            <a:lvl9pPr marL="1645879" indent="-137157"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a:lstStyle>
          <a:p>
            <a:r>
              <a:rPr lang="zh-CN" altLang="en-US" dirty="0">
                <a:solidFill>
                  <a:srgbClr val="C00000"/>
                </a:solidFill>
              </a:rPr>
              <a:t>卷积神经网络（</a:t>
            </a:r>
            <a:r>
              <a:rPr lang="en-US" altLang="zh-CN" dirty="0">
                <a:solidFill>
                  <a:srgbClr val="C00000"/>
                </a:solidFill>
              </a:rPr>
              <a:t>Convolutional Neural Networks</a:t>
            </a:r>
            <a:r>
              <a:rPr lang="zh-CN" altLang="en-US" dirty="0">
                <a:solidFill>
                  <a:srgbClr val="C00000"/>
                </a:solidFill>
              </a:rPr>
              <a:t>，</a:t>
            </a:r>
            <a:r>
              <a:rPr lang="en-US" altLang="zh-CN" dirty="0">
                <a:solidFill>
                  <a:srgbClr val="C00000"/>
                </a:solidFill>
              </a:rPr>
              <a:t>CNN</a:t>
            </a:r>
            <a:r>
              <a:rPr lang="zh-CN" altLang="en-US" dirty="0">
                <a:solidFill>
                  <a:srgbClr val="C00000"/>
                </a:solidFill>
              </a:rPr>
              <a:t>）</a:t>
            </a:r>
          </a:p>
          <a:p>
            <a:r>
              <a:rPr lang="zh-CN" altLang="en-US" dirty="0">
                <a:solidFill>
                  <a:schemeClr val="tx1"/>
                </a:solidFill>
              </a:rPr>
              <a:t>一种前馈神经网络</a:t>
            </a:r>
          </a:p>
          <a:p>
            <a:r>
              <a:rPr lang="zh-CN" altLang="en-US" dirty="0">
                <a:solidFill>
                  <a:schemeClr val="tx1"/>
                </a:solidFill>
              </a:rPr>
              <a:t>受生物学上感受野（</a:t>
            </a:r>
            <a:r>
              <a:rPr lang="en-US" altLang="zh-CN" dirty="0">
                <a:solidFill>
                  <a:schemeClr val="tx1"/>
                </a:solidFill>
              </a:rPr>
              <a:t>Receptive Field</a:t>
            </a:r>
            <a:r>
              <a:rPr lang="zh-CN" altLang="en-US" dirty="0">
                <a:solidFill>
                  <a:schemeClr val="tx1"/>
                </a:solidFill>
              </a:rPr>
              <a:t>）的机制而提出的</a:t>
            </a:r>
          </a:p>
          <a:p>
            <a:pPr lvl="1"/>
            <a:r>
              <a:rPr lang="zh-CN" altLang="en-US" dirty="0">
                <a:solidFill>
                  <a:schemeClr val="tx1"/>
                </a:solidFill>
              </a:rPr>
              <a:t>在视觉神经系统中，一个神经元的</a:t>
            </a:r>
            <a:r>
              <a:rPr lang="zh-CN" altLang="en-US" dirty="0">
                <a:solidFill>
                  <a:srgbClr val="C00000"/>
                </a:solidFill>
              </a:rPr>
              <a:t>感受野</a:t>
            </a:r>
            <a:r>
              <a:rPr lang="zh-CN" altLang="en-US" dirty="0">
                <a:solidFill>
                  <a:schemeClr val="tx1"/>
                </a:solidFill>
              </a:rPr>
              <a:t>是指视网膜上的特定区域，只有这个区域内的刺激才能够激活该神经元。</a:t>
            </a:r>
          </a:p>
          <a:p>
            <a:endParaRPr lang="zh-CN" altLang="en-US" dirty="0">
              <a:solidFill>
                <a:srgbClr val="C00000"/>
              </a:solidFill>
            </a:endParaRPr>
          </a:p>
          <a:p>
            <a:r>
              <a:rPr lang="zh-CN" altLang="en-US" dirty="0">
                <a:solidFill>
                  <a:srgbClr val="C00000"/>
                </a:solidFill>
              </a:rPr>
              <a:t>卷积神经网络有三个结构上的特性：</a:t>
            </a:r>
          </a:p>
          <a:p>
            <a:pPr lvl="1"/>
            <a:r>
              <a:rPr lang="zh-CN" altLang="en-US" dirty="0">
                <a:solidFill>
                  <a:schemeClr val="tx1"/>
                </a:solidFill>
              </a:rPr>
              <a:t>局部连接</a:t>
            </a:r>
          </a:p>
          <a:p>
            <a:pPr lvl="1"/>
            <a:r>
              <a:rPr lang="zh-CN" altLang="en-US" dirty="0">
                <a:solidFill>
                  <a:schemeClr val="tx1"/>
                </a:solidFill>
              </a:rPr>
              <a:t>权重共享</a:t>
            </a:r>
          </a:p>
          <a:p>
            <a:pPr lvl="1"/>
            <a:r>
              <a:rPr lang="zh-CN" altLang="en-US" dirty="0">
                <a:solidFill>
                  <a:schemeClr val="tx1"/>
                </a:solidFill>
              </a:rPr>
              <a:t>空间或时间上的次采样</a:t>
            </a:r>
          </a:p>
        </p:txBody>
      </p:sp>
    </p:spTree>
    <p:extLst>
      <p:ext uri="{BB962C8B-B14F-4D97-AF65-F5344CB8AC3E}">
        <p14:creationId xmlns:p14="http://schemas.microsoft.com/office/powerpoint/2010/main" val="1989472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762" y="1096269"/>
            <a:ext cx="1854200" cy="382156"/>
          </a:xfrm>
          <a:prstGeom prst="rect">
            <a:avLst/>
          </a:prstGeom>
        </p:spPr>
        <p:txBody>
          <a:bodyPr vert="horz" wrap="square" lIns="0" tIns="12700" rIns="0" bIns="0" rtlCol="0">
            <a:spAutoFit/>
          </a:bodyPr>
          <a:lstStyle/>
          <a:p>
            <a:pPr marL="12700">
              <a:lnSpc>
                <a:spcPct val="100000"/>
              </a:lnSpc>
              <a:spcBef>
                <a:spcPts val="100"/>
              </a:spcBef>
            </a:pPr>
            <a:r>
              <a:rPr sz="2400" spc="-15" dirty="0"/>
              <a:t>一个例子</a:t>
            </a:r>
          </a:p>
        </p:txBody>
      </p:sp>
      <p:pic>
        <p:nvPicPr>
          <p:cNvPr id="3" name="object 3"/>
          <p:cNvPicPr/>
          <p:nvPr/>
        </p:nvPicPr>
        <p:blipFill>
          <a:blip r:embed="rId2" cstate="print"/>
          <a:stretch>
            <a:fillRect/>
          </a:stretch>
        </p:blipFill>
        <p:spPr>
          <a:xfrm>
            <a:off x="305762" y="1945132"/>
            <a:ext cx="4901184" cy="3272015"/>
          </a:xfrm>
          <a:prstGeom prst="rect">
            <a:avLst/>
          </a:prstGeom>
        </p:spPr>
      </p:pic>
      <p:pic>
        <p:nvPicPr>
          <p:cNvPr id="4" name="object 4"/>
          <p:cNvPicPr/>
          <p:nvPr/>
        </p:nvPicPr>
        <p:blipFill>
          <a:blip r:embed="rId3" cstate="print"/>
          <a:stretch>
            <a:fillRect/>
          </a:stretch>
        </p:blipFill>
        <p:spPr>
          <a:xfrm>
            <a:off x="5790704" y="1892300"/>
            <a:ext cx="5405940" cy="3282343"/>
          </a:xfrm>
          <a:prstGeom prst="rect">
            <a:avLst/>
          </a:prstGeom>
        </p:spPr>
      </p:pic>
      <p:sp>
        <p:nvSpPr>
          <p:cNvPr id="5"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概论</a:t>
            </a:r>
            <a:endParaRPr lang="zh-CN" altLang="en-US" sz="3200" b="1" dirty="0"/>
          </a:p>
        </p:txBody>
      </p:sp>
    </p:spTree>
    <p:extLst>
      <p:ext uri="{BB962C8B-B14F-4D97-AF65-F5344CB8AC3E}">
        <p14:creationId xmlns:p14="http://schemas.microsoft.com/office/powerpoint/2010/main" val="21566174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3795" y="1474724"/>
            <a:ext cx="10858499" cy="5337883"/>
          </a:xfrm>
          <a:prstGeom prst="rect">
            <a:avLst/>
          </a:prstGeom>
        </p:spPr>
      </p:pic>
      <p:sp>
        <p:nvSpPr>
          <p:cNvPr id="3" name="object 3"/>
          <p:cNvSpPr txBox="1">
            <a:spLocks noGrp="1"/>
          </p:cNvSpPr>
          <p:nvPr>
            <p:ph type="title"/>
          </p:nvPr>
        </p:nvSpPr>
        <p:spPr>
          <a:xfrm>
            <a:off x="180338" y="1050600"/>
            <a:ext cx="1854200" cy="382156"/>
          </a:xfrm>
          <a:prstGeom prst="rect">
            <a:avLst/>
          </a:prstGeom>
        </p:spPr>
        <p:txBody>
          <a:bodyPr vert="horz" wrap="square" lIns="0" tIns="12700" rIns="0" bIns="0" rtlCol="0">
            <a:spAutoFit/>
          </a:bodyPr>
          <a:lstStyle/>
          <a:p>
            <a:pPr marL="12700">
              <a:lnSpc>
                <a:spcPct val="100000"/>
              </a:lnSpc>
              <a:spcBef>
                <a:spcPts val="100"/>
              </a:spcBef>
            </a:pPr>
            <a:r>
              <a:rPr sz="2400" spc="-15" dirty="0"/>
              <a:t>一个例子</a:t>
            </a:r>
          </a:p>
        </p:txBody>
      </p:sp>
      <p:sp>
        <p:nvSpPr>
          <p:cNvPr id="4"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概论</a:t>
            </a:r>
            <a:endParaRPr lang="zh-CN" altLang="en-US" sz="3200" b="1" dirty="0"/>
          </a:p>
        </p:txBody>
      </p:sp>
    </p:spTree>
    <p:extLst>
      <p:ext uri="{BB962C8B-B14F-4D97-AF65-F5344CB8AC3E}">
        <p14:creationId xmlns:p14="http://schemas.microsoft.com/office/powerpoint/2010/main" val="36868786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6058" y="1091240"/>
            <a:ext cx="1854200" cy="382156"/>
          </a:xfrm>
          <a:prstGeom prst="rect">
            <a:avLst/>
          </a:prstGeom>
        </p:spPr>
        <p:txBody>
          <a:bodyPr vert="horz" wrap="square" lIns="0" tIns="12700" rIns="0" bIns="0" rtlCol="0">
            <a:spAutoFit/>
          </a:bodyPr>
          <a:lstStyle/>
          <a:p>
            <a:pPr marL="12700">
              <a:lnSpc>
                <a:spcPct val="100000"/>
              </a:lnSpc>
              <a:spcBef>
                <a:spcPts val="100"/>
              </a:spcBef>
            </a:pPr>
            <a:r>
              <a:rPr sz="2400" spc="-15" dirty="0"/>
              <a:t>一个例子</a:t>
            </a:r>
          </a:p>
        </p:txBody>
      </p:sp>
      <p:pic>
        <p:nvPicPr>
          <p:cNvPr id="3" name="object 3"/>
          <p:cNvPicPr/>
          <p:nvPr/>
        </p:nvPicPr>
        <p:blipFill>
          <a:blip r:embed="rId2" cstate="print"/>
          <a:stretch>
            <a:fillRect/>
          </a:stretch>
        </p:blipFill>
        <p:spPr>
          <a:xfrm>
            <a:off x="1875234" y="1091240"/>
            <a:ext cx="9627095" cy="5416295"/>
          </a:xfrm>
          <a:prstGeom prst="rect">
            <a:avLst/>
          </a:prstGeom>
        </p:spPr>
      </p:pic>
      <p:sp>
        <p:nvSpPr>
          <p:cNvPr id="4"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概论</a:t>
            </a:r>
            <a:endParaRPr lang="zh-CN" altLang="en-US" sz="3200" b="1" dirty="0"/>
          </a:p>
        </p:txBody>
      </p:sp>
    </p:spTree>
    <p:extLst>
      <p:ext uri="{BB962C8B-B14F-4D97-AF65-F5344CB8AC3E}">
        <p14:creationId xmlns:p14="http://schemas.microsoft.com/office/powerpoint/2010/main" val="34113882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67458" y="1607083"/>
            <a:ext cx="6787515" cy="1560195"/>
          </a:xfrm>
          <a:prstGeom prst="rect">
            <a:avLst/>
          </a:prstGeom>
        </p:spPr>
        <p:txBody>
          <a:bodyPr vert="horz" wrap="square" lIns="0" tIns="97790" rIns="0" bIns="0" rtlCol="0">
            <a:spAutoFit/>
          </a:bodyPr>
          <a:lstStyle/>
          <a:p>
            <a:pPr marL="240029" indent="-227329">
              <a:lnSpc>
                <a:spcPct val="100000"/>
              </a:lnSpc>
              <a:spcBef>
                <a:spcPts val="770"/>
              </a:spcBef>
              <a:buFont typeface="Arial"/>
              <a:buChar char="•"/>
              <a:tabLst>
                <a:tab pos="240029" algn="l"/>
              </a:tabLst>
            </a:pPr>
            <a:r>
              <a:rPr sz="2800" spc="-40" dirty="0">
                <a:latin typeface="微软雅黑"/>
                <a:cs typeface="微软雅黑"/>
              </a:rPr>
              <a:t>简单且理想的情况</a:t>
            </a:r>
            <a:endParaRPr sz="2800" dirty="0">
              <a:latin typeface="微软雅黑"/>
              <a:cs typeface="微软雅黑"/>
            </a:endParaRPr>
          </a:p>
          <a:p>
            <a:pPr marL="735330" lvl="1" indent="-265430">
              <a:lnSpc>
                <a:spcPct val="100000"/>
              </a:lnSpc>
              <a:spcBef>
                <a:spcPts val="675"/>
              </a:spcBef>
              <a:buFont typeface="Arial"/>
              <a:buChar char="•"/>
              <a:tabLst>
                <a:tab pos="735330" algn="l"/>
              </a:tabLst>
            </a:pPr>
            <a:r>
              <a:rPr sz="2800" spc="-40" dirty="0">
                <a:latin typeface="微软雅黑"/>
                <a:cs typeface="微软雅黑"/>
              </a:rPr>
              <a:t>图片中的每个物体都恰好包在一个块中</a:t>
            </a:r>
            <a:endParaRPr sz="2800" dirty="0">
              <a:latin typeface="微软雅黑"/>
              <a:cs typeface="微软雅黑"/>
            </a:endParaRPr>
          </a:p>
          <a:p>
            <a:pPr marL="735330" lvl="1" indent="-265430">
              <a:lnSpc>
                <a:spcPct val="100000"/>
              </a:lnSpc>
              <a:spcBef>
                <a:spcPts val="660"/>
              </a:spcBef>
              <a:buFont typeface="Arial"/>
              <a:buChar char="•"/>
              <a:tabLst>
                <a:tab pos="735330" algn="l"/>
              </a:tabLst>
            </a:pPr>
            <a:r>
              <a:rPr sz="2800" spc="-40" dirty="0">
                <a:latin typeface="微软雅黑"/>
                <a:cs typeface="微软雅黑"/>
              </a:rPr>
              <a:t>物体大小和块的大小接近</a:t>
            </a:r>
            <a:endParaRPr sz="2800" dirty="0">
              <a:latin typeface="微软雅黑"/>
              <a:cs typeface="微软雅黑"/>
            </a:endParaRPr>
          </a:p>
        </p:txBody>
      </p:sp>
      <p:pic>
        <p:nvPicPr>
          <p:cNvPr id="4" name="object 4"/>
          <p:cNvPicPr/>
          <p:nvPr/>
        </p:nvPicPr>
        <p:blipFill>
          <a:blip r:embed="rId2" cstate="print"/>
          <a:stretch>
            <a:fillRect/>
          </a:stretch>
        </p:blipFill>
        <p:spPr>
          <a:xfrm>
            <a:off x="664463" y="3215640"/>
            <a:ext cx="10468355" cy="3153994"/>
          </a:xfrm>
          <a:prstGeom prst="rect">
            <a:avLst/>
          </a:prstGeom>
        </p:spPr>
      </p:pic>
      <p:sp>
        <p:nvSpPr>
          <p:cNvPr id="6" name="object 2"/>
          <p:cNvSpPr txBox="1">
            <a:spLocks noGrp="1"/>
          </p:cNvSpPr>
          <p:nvPr>
            <p:ph type="title"/>
          </p:nvPr>
        </p:nvSpPr>
        <p:spPr>
          <a:xfrm>
            <a:off x="104138" y="964240"/>
            <a:ext cx="2776222" cy="382156"/>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1F4E79"/>
                </a:solidFill>
                <a:latin typeface="微软雅黑"/>
                <a:cs typeface="微软雅黑"/>
              </a:rPr>
              <a:t>一个例子</a:t>
            </a:r>
          </a:p>
        </p:txBody>
      </p:sp>
      <p:sp>
        <p:nvSpPr>
          <p:cNvPr id="7"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概论</a:t>
            </a:r>
            <a:endParaRPr lang="zh-CN" altLang="en-US" sz="3200" b="1" dirty="0"/>
          </a:p>
        </p:txBody>
      </p:sp>
    </p:spTree>
    <p:extLst>
      <p:ext uri="{BB962C8B-B14F-4D97-AF65-F5344CB8AC3E}">
        <p14:creationId xmlns:p14="http://schemas.microsoft.com/office/powerpoint/2010/main" val="159919206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7978" y="1258880"/>
            <a:ext cx="939800" cy="382156"/>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1F4E79"/>
                </a:solidFill>
                <a:latin typeface="微软雅黑"/>
                <a:cs typeface="微软雅黑"/>
              </a:rPr>
              <a:t>问题</a:t>
            </a:r>
          </a:p>
        </p:txBody>
      </p:sp>
      <p:sp>
        <p:nvSpPr>
          <p:cNvPr id="3" name="object 3"/>
          <p:cNvSpPr txBox="1"/>
          <p:nvPr/>
        </p:nvSpPr>
        <p:spPr>
          <a:xfrm>
            <a:off x="281938" y="1929765"/>
            <a:ext cx="6647180" cy="1049655"/>
          </a:xfrm>
          <a:prstGeom prst="rect">
            <a:avLst/>
          </a:prstGeom>
        </p:spPr>
        <p:txBody>
          <a:bodyPr vert="horz" wrap="square" lIns="0" tIns="97790" rIns="0" bIns="0" rtlCol="0">
            <a:spAutoFit/>
          </a:bodyPr>
          <a:lstStyle/>
          <a:p>
            <a:pPr marL="240029" indent="-227329">
              <a:lnSpc>
                <a:spcPct val="100000"/>
              </a:lnSpc>
              <a:spcBef>
                <a:spcPts val="770"/>
              </a:spcBef>
              <a:buFont typeface="Arial"/>
              <a:buChar char="•"/>
              <a:tabLst>
                <a:tab pos="240029" algn="l"/>
              </a:tabLst>
            </a:pPr>
            <a:r>
              <a:rPr sz="2800" spc="-40" dirty="0">
                <a:latin typeface="微软雅黑"/>
                <a:cs typeface="微软雅黑"/>
              </a:rPr>
              <a:t>如果图片中的物体比块大得多该怎么办？</a:t>
            </a:r>
            <a:endParaRPr sz="2800" dirty="0">
              <a:latin typeface="微软雅黑"/>
              <a:cs typeface="微软雅黑"/>
            </a:endParaRPr>
          </a:p>
          <a:p>
            <a:pPr marL="240029" indent="-227329">
              <a:lnSpc>
                <a:spcPct val="100000"/>
              </a:lnSpc>
              <a:spcBef>
                <a:spcPts val="675"/>
              </a:spcBef>
              <a:buFont typeface="Arial"/>
              <a:buChar char="•"/>
              <a:tabLst>
                <a:tab pos="240029" algn="l"/>
              </a:tabLst>
            </a:pPr>
            <a:r>
              <a:rPr sz="2800" spc="-40" dirty="0">
                <a:latin typeface="微软雅黑"/>
                <a:cs typeface="微软雅黑"/>
              </a:rPr>
              <a:t>如果一个物体处于多个块中怎么办？</a:t>
            </a:r>
            <a:endParaRPr sz="2800" dirty="0">
              <a:latin typeface="微软雅黑"/>
              <a:cs typeface="微软雅黑"/>
            </a:endParaRPr>
          </a:p>
        </p:txBody>
      </p:sp>
      <p:pic>
        <p:nvPicPr>
          <p:cNvPr id="4" name="object 4"/>
          <p:cNvPicPr/>
          <p:nvPr/>
        </p:nvPicPr>
        <p:blipFill>
          <a:blip r:embed="rId2" cstate="print"/>
          <a:stretch>
            <a:fillRect/>
          </a:stretch>
        </p:blipFill>
        <p:spPr>
          <a:xfrm>
            <a:off x="652272" y="2979420"/>
            <a:ext cx="10642091" cy="3297309"/>
          </a:xfrm>
          <a:prstGeom prst="rect">
            <a:avLst/>
          </a:prstGeom>
        </p:spPr>
      </p:pic>
      <p:sp>
        <p:nvSpPr>
          <p:cNvPr id="5"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概论</a:t>
            </a:r>
            <a:endParaRPr lang="zh-CN" altLang="en-US" sz="3200" b="1" dirty="0"/>
          </a:p>
        </p:txBody>
      </p:sp>
    </p:spTree>
    <p:extLst>
      <p:ext uri="{BB962C8B-B14F-4D97-AF65-F5344CB8AC3E}">
        <p14:creationId xmlns:p14="http://schemas.microsoft.com/office/powerpoint/2010/main" val="16913674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410" y="877356"/>
            <a:ext cx="10515600" cy="647554"/>
          </a:xfrm>
          <a:prstGeom prst="rect">
            <a:avLst/>
          </a:prstGeom>
        </p:spPr>
        <p:txBody>
          <a:bodyPr vert="horz" wrap="square" lIns="0" tIns="275531" rIns="0" bIns="0" rtlCol="0">
            <a:spAutoFit/>
          </a:bodyPr>
          <a:lstStyle/>
          <a:p>
            <a:pPr marL="12700">
              <a:lnSpc>
                <a:spcPct val="100000"/>
              </a:lnSpc>
              <a:spcBef>
                <a:spcPts val="100"/>
              </a:spcBef>
            </a:pPr>
            <a:r>
              <a:rPr sz="2400" b="1" spc="-15" dirty="0">
                <a:solidFill>
                  <a:srgbClr val="1F4E79"/>
                </a:solidFill>
                <a:latin typeface="微软雅黑"/>
                <a:cs typeface="微软雅黑"/>
              </a:rPr>
              <a:t>如何更加有效地提取局部特征？</a:t>
            </a:r>
          </a:p>
        </p:txBody>
      </p:sp>
      <p:sp>
        <p:nvSpPr>
          <p:cNvPr id="3" name="object 3"/>
          <p:cNvSpPr txBox="1"/>
          <p:nvPr/>
        </p:nvSpPr>
        <p:spPr>
          <a:xfrm>
            <a:off x="535938" y="1553108"/>
            <a:ext cx="9276715" cy="1845377"/>
          </a:xfrm>
          <a:prstGeom prst="rect">
            <a:avLst/>
          </a:prstGeom>
        </p:spPr>
        <p:txBody>
          <a:bodyPr vert="horz" wrap="square" lIns="0" tIns="97790" rIns="0" bIns="0" rtlCol="0">
            <a:spAutoFit/>
          </a:bodyPr>
          <a:lstStyle/>
          <a:p>
            <a:pPr marL="240029" indent="-227329">
              <a:lnSpc>
                <a:spcPct val="100000"/>
              </a:lnSpc>
              <a:spcBef>
                <a:spcPts val="770"/>
              </a:spcBef>
              <a:buFont typeface="Arial"/>
              <a:buChar char="•"/>
              <a:tabLst>
                <a:tab pos="240029" algn="l"/>
              </a:tabLst>
            </a:pPr>
            <a:r>
              <a:rPr sz="2400" spc="-40" dirty="0">
                <a:latin typeface="微软雅黑"/>
                <a:cs typeface="微软雅黑"/>
              </a:rPr>
              <a:t>改进小块的划分方式：</a:t>
            </a:r>
            <a:endParaRPr sz="2400" dirty="0">
              <a:latin typeface="微软雅黑"/>
              <a:cs typeface="微软雅黑"/>
            </a:endParaRPr>
          </a:p>
          <a:p>
            <a:pPr marL="735330" lvl="1" indent="-265430">
              <a:lnSpc>
                <a:spcPct val="100000"/>
              </a:lnSpc>
              <a:spcBef>
                <a:spcPts val="675"/>
              </a:spcBef>
              <a:buFont typeface="Arial"/>
              <a:buChar char="•"/>
              <a:tabLst>
                <a:tab pos="735330" algn="l"/>
              </a:tabLst>
            </a:pPr>
            <a:r>
              <a:rPr sz="2400" spc="-40" dirty="0">
                <a:latin typeface="微软雅黑"/>
                <a:cs typeface="微软雅黑"/>
              </a:rPr>
              <a:t>以每个像素为中心划分出一系列相互重叠的稠密块</a:t>
            </a:r>
            <a:endParaRPr sz="2400" dirty="0">
              <a:latin typeface="微软雅黑"/>
              <a:cs typeface="微软雅黑"/>
            </a:endParaRPr>
          </a:p>
          <a:p>
            <a:pPr marL="735330" lvl="1" indent="-265430">
              <a:lnSpc>
                <a:spcPct val="100000"/>
              </a:lnSpc>
              <a:spcBef>
                <a:spcPts val="660"/>
              </a:spcBef>
              <a:buFont typeface="Arial"/>
              <a:buChar char="•"/>
              <a:tabLst>
                <a:tab pos="735330" algn="l"/>
              </a:tabLst>
            </a:pPr>
            <a:r>
              <a:rPr sz="2400" spc="-40" dirty="0">
                <a:latin typeface="微软雅黑"/>
                <a:cs typeface="微软雅黑"/>
              </a:rPr>
              <a:t>相邻块之间的偏移均为一个像素</a:t>
            </a:r>
            <a:endParaRPr sz="2400" dirty="0">
              <a:latin typeface="微软雅黑"/>
              <a:cs typeface="微软雅黑"/>
            </a:endParaRPr>
          </a:p>
          <a:p>
            <a:pPr marL="735330" lvl="1" indent="-265430">
              <a:lnSpc>
                <a:spcPct val="100000"/>
              </a:lnSpc>
              <a:spcBef>
                <a:spcPts val="660"/>
              </a:spcBef>
              <a:buFont typeface="Arial"/>
              <a:buChar char="•"/>
              <a:tabLst>
                <a:tab pos="735330" algn="l"/>
              </a:tabLst>
            </a:pPr>
            <a:r>
              <a:rPr sz="2400" spc="-40" dirty="0">
                <a:latin typeface="微软雅黑"/>
                <a:cs typeface="微软雅黑"/>
              </a:rPr>
              <a:t>将每个块的预测结果作为这个块中心像素点的预测结果</a:t>
            </a:r>
            <a:endParaRPr sz="2400" dirty="0">
              <a:latin typeface="微软雅黑"/>
              <a:cs typeface="微软雅黑"/>
            </a:endParaRPr>
          </a:p>
        </p:txBody>
      </p:sp>
      <p:pic>
        <p:nvPicPr>
          <p:cNvPr id="4" name="object 4"/>
          <p:cNvPicPr/>
          <p:nvPr/>
        </p:nvPicPr>
        <p:blipFill>
          <a:blip r:embed="rId2" cstate="print"/>
          <a:stretch>
            <a:fillRect/>
          </a:stretch>
        </p:blipFill>
        <p:spPr>
          <a:xfrm>
            <a:off x="1738376" y="3652520"/>
            <a:ext cx="8898634" cy="3076676"/>
          </a:xfrm>
          <a:prstGeom prst="rect">
            <a:avLst/>
          </a:prstGeom>
        </p:spPr>
      </p:pic>
      <p:sp>
        <p:nvSpPr>
          <p:cNvPr id="5"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概论</a:t>
            </a:r>
            <a:endParaRPr lang="zh-CN" altLang="en-US" sz="3200" b="1" dirty="0"/>
          </a:p>
        </p:txBody>
      </p:sp>
    </p:spTree>
    <p:extLst>
      <p:ext uri="{BB962C8B-B14F-4D97-AF65-F5344CB8AC3E}">
        <p14:creationId xmlns:p14="http://schemas.microsoft.com/office/powerpoint/2010/main" val="25488429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217" y="974519"/>
            <a:ext cx="2557782" cy="382156"/>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1F4E79"/>
                </a:solidFill>
                <a:latin typeface="微软雅黑"/>
                <a:cs typeface="微软雅黑"/>
              </a:rPr>
              <a:t>卷积</a:t>
            </a:r>
          </a:p>
        </p:txBody>
      </p:sp>
      <p:sp>
        <p:nvSpPr>
          <p:cNvPr id="3" name="object 3"/>
          <p:cNvSpPr txBox="1"/>
          <p:nvPr/>
        </p:nvSpPr>
        <p:spPr>
          <a:xfrm>
            <a:off x="184585" y="1464843"/>
            <a:ext cx="3945254" cy="1845377"/>
          </a:xfrm>
          <a:prstGeom prst="rect">
            <a:avLst/>
          </a:prstGeom>
        </p:spPr>
        <p:txBody>
          <a:bodyPr vert="horz" wrap="square" lIns="0" tIns="97790" rIns="0" bIns="0" rtlCol="0">
            <a:spAutoFit/>
          </a:bodyPr>
          <a:lstStyle/>
          <a:p>
            <a:pPr marL="240029" indent="-227329">
              <a:lnSpc>
                <a:spcPct val="100000"/>
              </a:lnSpc>
              <a:spcBef>
                <a:spcPts val="770"/>
              </a:spcBef>
              <a:buFont typeface="Arial"/>
              <a:buChar char="•"/>
              <a:tabLst>
                <a:tab pos="240029" algn="l"/>
              </a:tabLst>
            </a:pPr>
            <a:r>
              <a:rPr sz="2400" spc="-40" dirty="0">
                <a:latin typeface="微软雅黑"/>
                <a:cs typeface="微软雅黑"/>
              </a:rPr>
              <a:t>如何处理每个小块？</a:t>
            </a:r>
            <a:endParaRPr sz="2400" dirty="0">
              <a:latin typeface="微软雅黑"/>
              <a:cs typeface="微软雅黑"/>
            </a:endParaRPr>
          </a:p>
          <a:p>
            <a:pPr marL="735330" lvl="1" indent="-265430">
              <a:lnSpc>
                <a:spcPct val="100000"/>
              </a:lnSpc>
              <a:spcBef>
                <a:spcPts val="675"/>
              </a:spcBef>
              <a:buFont typeface="Arial"/>
              <a:buChar char="•"/>
              <a:tabLst>
                <a:tab pos="735330" algn="l"/>
              </a:tabLst>
            </a:pPr>
            <a:r>
              <a:rPr sz="2400" spc="-35" dirty="0">
                <a:latin typeface="微软雅黑"/>
                <a:cs typeface="微软雅黑"/>
              </a:rPr>
              <a:t>卷积核: 权重矩阵</a:t>
            </a:r>
            <a:r>
              <a:rPr sz="2400" spc="-50" dirty="0">
                <a:latin typeface="微软雅黑"/>
                <a:cs typeface="微软雅黑"/>
              </a:rPr>
              <a:t>W</a:t>
            </a:r>
            <a:endParaRPr sz="2400" dirty="0">
              <a:latin typeface="微软雅黑"/>
              <a:cs typeface="微软雅黑"/>
            </a:endParaRPr>
          </a:p>
          <a:p>
            <a:pPr marL="735330" lvl="1" indent="-265430">
              <a:lnSpc>
                <a:spcPct val="100000"/>
              </a:lnSpc>
              <a:spcBef>
                <a:spcPts val="660"/>
              </a:spcBef>
              <a:buFont typeface="Arial"/>
              <a:buChar char="•"/>
              <a:tabLst>
                <a:tab pos="735330" algn="l"/>
              </a:tabLst>
            </a:pPr>
            <a:r>
              <a:rPr sz="2400" spc="-40" dirty="0">
                <a:latin typeface="微软雅黑"/>
                <a:cs typeface="微软雅黑"/>
              </a:rPr>
              <a:t>卷积操作：加权求和</a:t>
            </a:r>
            <a:endParaRPr sz="2400" dirty="0">
              <a:latin typeface="微软雅黑"/>
              <a:cs typeface="微软雅黑"/>
            </a:endParaRPr>
          </a:p>
          <a:p>
            <a:pPr marL="240029" indent="-227329">
              <a:lnSpc>
                <a:spcPct val="100000"/>
              </a:lnSpc>
              <a:spcBef>
                <a:spcPts val="660"/>
              </a:spcBef>
              <a:buFont typeface="Arial"/>
              <a:buChar char="•"/>
              <a:tabLst>
                <a:tab pos="240029" algn="l"/>
              </a:tabLst>
            </a:pPr>
            <a:r>
              <a:rPr sz="2400" spc="-40" dirty="0">
                <a:latin typeface="微软雅黑"/>
                <a:cs typeface="微软雅黑"/>
              </a:rPr>
              <a:t>权重共享</a:t>
            </a:r>
            <a:endParaRPr sz="2400" dirty="0">
              <a:latin typeface="微软雅黑"/>
              <a:cs typeface="微软雅黑"/>
            </a:endParaRPr>
          </a:p>
        </p:txBody>
      </p:sp>
      <p:sp>
        <p:nvSpPr>
          <p:cNvPr id="4" name="object 4"/>
          <p:cNvSpPr txBox="1"/>
          <p:nvPr/>
        </p:nvSpPr>
        <p:spPr>
          <a:xfrm>
            <a:off x="235385" y="4206113"/>
            <a:ext cx="3721100" cy="1148715"/>
          </a:xfrm>
          <a:prstGeom prst="rect">
            <a:avLst/>
          </a:prstGeom>
        </p:spPr>
        <p:txBody>
          <a:bodyPr vert="horz" wrap="square" lIns="0" tIns="113030" rIns="0" bIns="0" rtlCol="0">
            <a:spAutoFit/>
          </a:bodyPr>
          <a:lstStyle/>
          <a:p>
            <a:pPr marL="240665" indent="-227965">
              <a:lnSpc>
                <a:spcPct val="100000"/>
              </a:lnSpc>
              <a:spcBef>
                <a:spcPts val="890"/>
              </a:spcBef>
              <a:buFont typeface="Arial"/>
              <a:buChar char="•"/>
              <a:tabLst>
                <a:tab pos="240665" algn="l"/>
              </a:tabLst>
            </a:pPr>
            <a:r>
              <a:rPr sz="1800" spc="-10" dirty="0">
                <a:latin typeface="微软雅黑"/>
                <a:cs typeface="微软雅黑"/>
              </a:rPr>
              <a:t>为何叫做“卷积”？</a:t>
            </a:r>
            <a:endParaRPr sz="1800" dirty="0">
              <a:latin typeface="微软雅黑"/>
              <a:cs typeface="微软雅黑"/>
            </a:endParaRPr>
          </a:p>
          <a:p>
            <a:pPr marL="735965" lvl="1" indent="-266065">
              <a:lnSpc>
                <a:spcPct val="100000"/>
              </a:lnSpc>
              <a:spcBef>
                <a:spcPts val="795"/>
              </a:spcBef>
              <a:buFont typeface="Arial"/>
              <a:buChar char="•"/>
              <a:tabLst>
                <a:tab pos="735965" algn="l"/>
              </a:tabLst>
            </a:pPr>
            <a:r>
              <a:rPr sz="1800" spc="-5" dirty="0">
                <a:latin typeface="微软雅黑"/>
                <a:cs typeface="微软雅黑"/>
              </a:rPr>
              <a:t>无需翻转，本质是“互相关”</a:t>
            </a:r>
            <a:endParaRPr sz="1800" dirty="0">
              <a:latin typeface="微软雅黑"/>
              <a:cs typeface="微软雅黑"/>
            </a:endParaRPr>
          </a:p>
          <a:p>
            <a:pPr marL="735965" lvl="1" indent="-266065">
              <a:lnSpc>
                <a:spcPct val="100000"/>
              </a:lnSpc>
              <a:spcBef>
                <a:spcPts val="780"/>
              </a:spcBef>
              <a:buFont typeface="Arial"/>
              <a:buChar char="•"/>
              <a:tabLst>
                <a:tab pos="735965" algn="l"/>
              </a:tabLst>
            </a:pPr>
            <a:r>
              <a:rPr sz="1800" spc="-5" dirty="0">
                <a:latin typeface="微软雅黑"/>
                <a:cs typeface="微软雅黑"/>
              </a:rPr>
              <a:t>早期受信号处理领域启发</a:t>
            </a:r>
            <a:endParaRPr sz="1800" dirty="0">
              <a:latin typeface="微软雅黑"/>
              <a:cs typeface="微软雅黑"/>
            </a:endParaRPr>
          </a:p>
        </p:txBody>
      </p:sp>
      <p:pic>
        <p:nvPicPr>
          <p:cNvPr id="5" name="object 5"/>
          <p:cNvPicPr/>
          <p:nvPr/>
        </p:nvPicPr>
        <p:blipFill>
          <a:blip r:embed="rId2" cstate="print"/>
          <a:stretch>
            <a:fillRect/>
          </a:stretch>
        </p:blipFill>
        <p:spPr>
          <a:xfrm>
            <a:off x="4422647" y="2365248"/>
            <a:ext cx="7478266" cy="4290059"/>
          </a:xfrm>
          <a:prstGeom prst="rect">
            <a:avLst/>
          </a:prstGeom>
        </p:spPr>
      </p:pic>
      <p:sp>
        <p:nvSpPr>
          <p:cNvPr id="6"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Tree>
    <p:extLst>
      <p:ext uri="{BB962C8B-B14F-4D97-AF65-F5344CB8AC3E}">
        <p14:creationId xmlns:p14="http://schemas.microsoft.com/office/powerpoint/2010/main" val="29725269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6057" y="1158020"/>
            <a:ext cx="5031740" cy="382156"/>
          </a:xfrm>
          <a:prstGeom prst="rect">
            <a:avLst/>
          </a:prstGeom>
        </p:spPr>
        <p:txBody>
          <a:bodyPr vert="horz" wrap="square" lIns="0" tIns="12700" rIns="0" bIns="0" rtlCol="0">
            <a:spAutoFit/>
          </a:bodyPr>
          <a:lstStyle/>
          <a:p>
            <a:pPr marL="12700">
              <a:lnSpc>
                <a:spcPct val="100000"/>
              </a:lnSpc>
              <a:spcBef>
                <a:spcPts val="100"/>
              </a:spcBef>
            </a:pPr>
            <a:r>
              <a:rPr sz="2400" dirty="0"/>
              <a:t>全连接层 vs</a:t>
            </a:r>
            <a:r>
              <a:rPr sz="2400" spc="-20" dirty="0"/>
              <a:t>. 局部连接层</a:t>
            </a:r>
          </a:p>
        </p:txBody>
      </p:sp>
      <p:pic>
        <p:nvPicPr>
          <p:cNvPr id="3" name="object 3"/>
          <p:cNvPicPr/>
          <p:nvPr/>
        </p:nvPicPr>
        <p:blipFill>
          <a:blip r:embed="rId2" cstate="print"/>
          <a:stretch>
            <a:fillRect/>
          </a:stretch>
        </p:blipFill>
        <p:spPr>
          <a:xfrm>
            <a:off x="735603" y="3317110"/>
            <a:ext cx="4012649" cy="2765951"/>
          </a:xfrm>
          <a:prstGeom prst="rect">
            <a:avLst/>
          </a:prstGeom>
        </p:spPr>
      </p:pic>
      <p:pic>
        <p:nvPicPr>
          <p:cNvPr id="4" name="object 4"/>
          <p:cNvPicPr/>
          <p:nvPr/>
        </p:nvPicPr>
        <p:blipFill>
          <a:blip r:embed="rId3" cstate="print"/>
          <a:stretch>
            <a:fillRect/>
          </a:stretch>
        </p:blipFill>
        <p:spPr>
          <a:xfrm>
            <a:off x="5843523" y="3087693"/>
            <a:ext cx="4896611" cy="3224784"/>
          </a:xfrm>
          <a:prstGeom prst="rect">
            <a:avLst/>
          </a:prstGeom>
        </p:spPr>
      </p:pic>
      <p:sp>
        <p:nvSpPr>
          <p:cNvPr id="5" name="object 5"/>
          <p:cNvSpPr txBox="1"/>
          <p:nvPr/>
        </p:nvSpPr>
        <p:spPr>
          <a:xfrm>
            <a:off x="6169023" y="2171390"/>
            <a:ext cx="5207000" cy="628377"/>
          </a:xfrm>
          <a:prstGeom prst="rect">
            <a:avLst/>
          </a:prstGeom>
        </p:spPr>
        <p:txBody>
          <a:bodyPr vert="horz" wrap="square" lIns="0" tIns="12700" rIns="0" bIns="0" rtlCol="0">
            <a:spAutoFit/>
          </a:bodyPr>
          <a:lstStyle/>
          <a:p>
            <a:pPr marL="12700" marR="5080">
              <a:lnSpc>
                <a:spcPct val="100000"/>
              </a:lnSpc>
              <a:spcBef>
                <a:spcPts val="100"/>
              </a:spcBef>
            </a:pPr>
            <a:r>
              <a:rPr sz="2000" b="1" dirty="0">
                <a:latin typeface="微软雅黑"/>
                <a:cs typeface="微软雅黑"/>
              </a:rPr>
              <a:t>局部连接：</a:t>
            </a:r>
            <a:r>
              <a:rPr sz="2000" spc="-5" dirty="0">
                <a:latin typeface="微软雅黑"/>
                <a:cs typeface="微软雅黑"/>
              </a:rPr>
              <a:t>输出仅和个别输入分量相关</a:t>
            </a:r>
            <a:r>
              <a:rPr sz="2000" dirty="0">
                <a:latin typeface="微软雅黑"/>
                <a:cs typeface="微软雅黑"/>
              </a:rPr>
              <a:t>权重</a:t>
            </a:r>
            <a:r>
              <a:rPr sz="2000" spc="-10" dirty="0">
                <a:latin typeface="Calibri"/>
                <a:cs typeface="Calibri"/>
              </a:rPr>
              <a:t>/</a:t>
            </a:r>
            <a:r>
              <a:rPr sz="2000" dirty="0">
                <a:latin typeface="微软雅黑"/>
                <a:cs typeface="微软雅黑"/>
              </a:rPr>
              <a:t>参数共享：局部参数</a:t>
            </a:r>
            <a:r>
              <a:rPr sz="2000" spc="-30" dirty="0">
                <a:latin typeface="Calibri"/>
                <a:cs typeface="Calibri"/>
              </a:rPr>
              <a:t>W</a:t>
            </a:r>
            <a:r>
              <a:rPr sz="2000" spc="-15" dirty="0">
                <a:latin typeface="微软雅黑"/>
                <a:cs typeface="微软雅黑"/>
              </a:rPr>
              <a:t>是共享的</a:t>
            </a:r>
            <a:endParaRPr sz="2000" dirty="0">
              <a:latin typeface="微软雅黑"/>
              <a:cs typeface="微软雅黑"/>
            </a:endParaRPr>
          </a:p>
        </p:txBody>
      </p:sp>
      <p:sp>
        <p:nvSpPr>
          <p:cNvPr id="6" name="object 6"/>
          <p:cNvSpPr txBox="1"/>
          <p:nvPr/>
        </p:nvSpPr>
        <p:spPr>
          <a:xfrm>
            <a:off x="288212" y="2171390"/>
            <a:ext cx="5207000" cy="719556"/>
          </a:xfrm>
          <a:prstGeom prst="rect">
            <a:avLst/>
          </a:prstGeom>
        </p:spPr>
        <p:txBody>
          <a:bodyPr vert="horz" wrap="square" lIns="0" tIns="29845" rIns="0" bIns="0" rtlCol="0">
            <a:spAutoFit/>
          </a:bodyPr>
          <a:lstStyle/>
          <a:p>
            <a:pPr marL="12700" marR="5080">
              <a:lnSpc>
                <a:spcPts val="2830"/>
              </a:lnSpc>
              <a:spcBef>
                <a:spcPts val="235"/>
              </a:spcBef>
            </a:pPr>
            <a:r>
              <a:rPr sz="2000" b="1" dirty="0">
                <a:latin typeface="微软雅黑"/>
                <a:cs typeface="微软雅黑"/>
              </a:rPr>
              <a:t>全连接：</a:t>
            </a:r>
            <a:r>
              <a:rPr sz="2000" spc="-5" dirty="0">
                <a:latin typeface="微软雅黑"/>
                <a:cs typeface="微软雅黑"/>
              </a:rPr>
              <a:t>相关每个神经元都与前一层所</a:t>
            </a:r>
            <a:r>
              <a:rPr sz="2000" spc="-10" dirty="0">
                <a:latin typeface="微软雅黑"/>
                <a:cs typeface="微软雅黑"/>
              </a:rPr>
              <a:t>有神经元相关。</a:t>
            </a:r>
            <a:endParaRPr sz="2000" dirty="0">
              <a:latin typeface="微软雅黑"/>
              <a:cs typeface="微软雅黑"/>
            </a:endParaRPr>
          </a:p>
        </p:txBody>
      </p:sp>
      <p:sp>
        <p:nvSpPr>
          <p:cNvPr id="7"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Tree>
    <p:extLst>
      <p:ext uri="{BB962C8B-B14F-4D97-AF65-F5344CB8AC3E}">
        <p14:creationId xmlns:p14="http://schemas.microsoft.com/office/powerpoint/2010/main" val="18625214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063" y="1136960"/>
            <a:ext cx="6327142"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1F4E79"/>
                </a:solidFill>
                <a:latin typeface="微软雅黑"/>
                <a:cs typeface="微软雅黑"/>
              </a:rPr>
              <a:t>从局部连接到卷积层</a:t>
            </a:r>
          </a:p>
        </p:txBody>
      </p:sp>
      <p:grpSp>
        <p:nvGrpSpPr>
          <p:cNvPr id="3" name="object 3"/>
          <p:cNvGrpSpPr/>
          <p:nvPr/>
        </p:nvGrpSpPr>
        <p:grpSpPr>
          <a:xfrm>
            <a:off x="234063" y="2291440"/>
            <a:ext cx="3847465" cy="2270760"/>
            <a:chOff x="234063" y="2291440"/>
            <a:chExt cx="3847465" cy="2270760"/>
          </a:xfrm>
        </p:grpSpPr>
        <p:pic>
          <p:nvPicPr>
            <p:cNvPr id="4" name="object 4"/>
            <p:cNvPicPr/>
            <p:nvPr/>
          </p:nvPicPr>
          <p:blipFill>
            <a:blip r:embed="rId2" cstate="print"/>
            <a:stretch>
              <a:fillRect/>
            </a:stretch>
          </p:blipFill>
          <p:spPr>
            <a:xfrm>
              <a:off x="234063" y="2291440"/>
              <a:ext cx="3291601" cy="2270557"/>
            </a:xfrm>
            <a:prstGeom prst="rect">
              <a:avLst/>
            </a:prstGeom>
          </p:spPr>
        </p:pic>
        <p:sp>
          <p:nvSpPr>
            <p:cNvPr id="5" name="object 5"/>
            <p:cNvSpPr/>
            <p:nvPr/>
          </p:nvSpPr>
          <p:spPr>
            <a:xfrm>
              <a:off x="3503675" y="3011424"/>
              <a:ext cx="577850" cy="647700"/>
            </a:xfrm>
            <a:custGeom>
              <a:avLst/>
              <a:gdLst/>
              <a:ahLst/>
              <a:cxnLst/>
              <a:rect l="l" t="t" r="r" b="b"/>
              <a:pathLst>
                <a:path w="577850" h="647700">
                  <a:moveTo>
                    <a:pt x="288798" y="0"/>
                  </a:moveTo>
                  <a:lnTo>
                    <a:pt x="288798" y="161925"/>
                  </a:lnTo>
                  <a:lnTo>
                    <a:pt x="0" y="161925"/>
                  </a:lnTo>
                  <a:lnTo>
                    <a:pt x="0" y="485775"/>
                  </a:lnTo>
                  <a:lnTo>
                    <a:pt x="288798" y="485775"/>
                  </a:lnTo>
                  <a:lnTo>
                    <a:pt x="288798" y="647700"/>
                  </a:lnTo>
                  <a:lnTo>
                    <a:pt x="577596" y="323850"/>
                  </a:lnTo>
                  <a:lnTo>
                    <a:pt x="288798" y="0"/>
                  </a:lnTo>
                  <a:close/>
                </a:path>
              </a:pathLst>
            </a:custGeom>
            <a:solidFill>
              <a:srgbClr val="404040"/>
            </a:solidFill>
          </p:spPr>
          <p:txBody>
            <a:bodyPr wrap="square" lIns="0" tIns="0" rIns="0" bIns="0" rtlCol="0"/>
            <a:lstStyle/>
            <a:p>
              <a:endParaRPr/>
            </a:p>
          </p:txBody>
        </p:sp>
      </p:grpSp>
      <p:pic>
        <p:nvPicPr>
          <p:cNvPr id="6" name="object 6"/>
          <p:cNvPicPr/>
          <p:nvPr/>
        </p:nvPicPr>
        <p:blipFill>
          <a:blip r:embed="rId3" cstate="print"/>
          <a:stretch>
            <a:fillRect/>
          </a:stretch>
        </p:blipFill>
        <p:spPr>
          <a:xfrm>
            <a:off x="4180632" y="1742677"/>
            <a:ext cx="3360714" cy="3411960"/>
          </a:xfrm>
          <a:prstGeom prst="rect">
            <a:avLst/>
          </a:prstGeom>
        </p:spPr>
      </p:pic>
      <p:sp>
        <p:nvSpPr>
          <p:cNvPr id="7" name="object 7"/>
          <p:cNvSpPr/>
          <p:nvPr/>
        </p:nvSpPr>
        <p:spPr>
          <a:xfrm>
            <a:off x="7607807" y="3011423"/>
            <a:ext cx="567055" cy="647700"/>
          </a:xfrm>
          <a:custGeom>
            <a:avLst/>
            <a:gdLst/>
            <a:ahLst/>
            <a:cxnLst/>
            <a:rect l="l" t="t" r="r" b="b"/>
            <a:pathLst>
              <a:path w="567054" h="647700">
                <a:moveTo>
                  <a:pt x="283464" y="0"/>
                </a:moveTo>
                <a:lnTo>
                  <a:pt x="283464" y="161925"/>
                </a:lnTo>
                <a:lnTo>
                  <a:pt x="0" y="161925"/>
                </a:lnTo>
                <a:lnTo>
                  <a:pt x="0" y="485775"/>
                </a:lnTo>
                <a:lnTo>
                  <a:pt x="283464" y="485775"/>
                </a:lnTo>
                <a:lnTo>
                  <a:pt x="283464" y="647700"/>
                </a:lnTo>
                <a:lnTo>
                  <a:pt x="566928" y="323850"/>
                </a:lnTo>
                <a:lnTo>
                  <a:pt x="283464" y="0"/>
                </a:lnTo>
                <a:close/>
              </a:path>
            </a:pathLst>
          </a:custGeom>
          <a:solidFill>
            <a:srgbClr val="404040"/>
          </a:solidFill>
        </p:spPr>
        <p:txBody>
          <a:bodyPr wrap="square" lIns="0" tIns="0" rIns="0" bIns="0" rtlCol="0"/>
          <a:lstStyle/>
          <a:p>
            <a:endParaRPr/>
          </a:p>
        </p:txBody>
      </p:sp>
      <p:pic>
        <p:nvPicPr>
          <p:cNvPr id="8" name="object 8"/>
          <p:cNvPicPr/>
          <p:nvPr/>
        </p:nvPicPr>
        <p:blipFill>
          <a:blip r:embed="rId4" cstate="print"/>
          <a:stretch>
            <a:fillRect/>
          </a:stretch>
        </p:blipFill>
        <p:spPr>
          <a:xfrm>
            <a:off x="8255508" y="1591055"/>
            <a:ext cx="3631691" cy="3595115"/>
          </a:xfrm>
          <a:prstGeom prst="rect">
            <a:avLst/>
          </a:prstGeom>
        </p:spPr>
      </p:pic>
      <p:sp>
        <p:nvSpPr>
          <p:cNvPr id="9" name="object 9"/>
          <p:cNvSpPr txBox="1"/>
          <p:nvPr/>
        </p:nvSpPr>
        <p:spPr>
          <a:xfrm>
            <a:off x="8931656" y="5388102"/>
            <a:ext cx="2104390" cy="755650"/>
          </a:xfrm>
          <a:prstGeom prst="rect">
            <a:avLst/>
          </a:prstGeom>
        </p:spPr>
        <p:txBody>
          <a:bodyPr vert="horz" wrap="square" lIns="0" tIns="12700" rIns="0" bIns="0" rtlCol="0">
            <a:spAutoFit/>
          </a:bodyPr>
          <a:lstStyle/>
          <a:p>
            <a:pPr algn="ctr">
              <a:lnSpc>
                <a:spcPts val="2875"/>
              </a:lnSpc>
              <a:spcBef>
                <a:spcPts val="100"/>
              </a:spcBef>
            </a:pPr>
            <a:r>
              <a:rPr sz="2400" spc="-15" dirty="0">
                <a:latin typeface="微软雅黑"/>
                <a:cs typeface="微软雅黑"/>
              </a:rPr>
              <a:t>参数共享</a:t>
            </a:r>
            <a:endParaRPr sz="2400">
              <a:latin typeface="微软雅黑"/>
              <a:cs typeface="微软雅黑"/>
            </a:endParaRPr>
          </a:p>
          <a:p>
            <a:pPr algn="ctr">
              <a:lnSpc>
                <a:spcPts val="2875"/>
              </a:lnSpc>
            </a:pPr>
            <a:r>
              <a:rPr sz="2400" dirty="0">
                <a:latin typeface="Calibri"/>
                <a:cs typeface="Calibri"/>
              </a:rPr>
              <a:t>(Weight</a:t>
            </a:r>
            <a:r>
              <a:rPr sz="2400" spc="-50" dirty="0">
                <a:latin typeface="Calibri"/>
                <a:cs typeface="Calibri"/>
              </a:rPr>
              <a:t> </a:t>
            </a:r>
            <a:r>
              <a:rPr sz="2400" spc="-10" dirty="0">
                <a:latin typeface="Calibri"/>
                <a:cs typeface="Calibri"/>
              </a:rPr>
              <a:t>Sharing)</a:t>
            </a:r>
            <a:endParaRPr sz="2400">
              <a:latin typeface="Calibri"/>
              <a:cs typeface="Calibri"/>
            </a:endParaRPr>
          </a:p>
        </p:txBody>
      </p:sp>
      <p:sp>
        <p:nvSpPr>
          <p:cNvPr id="10"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Tree>
    <p:extLst>
      <p:ext uri="{BB962C8B-B14F-4D97-AF65-F5344CB8AC3E}">
        <p14:creationId xmlns:p14="http://schemas.microsoft.com/office/powerpoint/2010/main" val="5816402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760" y="1018164"/>
            <a:ext cx="10515600" cy="647554"/>
          </a:xfrm>
          <a:prstGeom prst="rect">
            <a:avLst/>
          </a:prstGeom>
        </p:spPr>
        <p:txBody>
          <a:bodyPr vert="horz" wrap="square" lIns="0" tIns="275531" rIns="0" bIns="0" rtlCol="0">
            <a:spAutoFit/>
          </a:bodyPr>
          <a:lstStyle/>
          <a:p>
            <a:pPr marL="12700">
              <a:lnSpc>
                <a:spcPct val="100000"/>
              </a:lnSpc>
              <a:spcBef>
                <a:spcPts val="100"/>
              </a:spcBef>
            </a:pPr>
            <a:r>
              <a:rPr sz="2400" b="1" dirty="0">
                <a:solidFill>
                  <a:srgbClr val="1F4E79"/>
                </a:solidFill>
                <a:latin typeface="微软雅黑"/>
                <a:cs typeface="微软雅黑"/>
              </a:rPr>
              <a:t>卷积核：Conv2D</a:t>
            </a:r>
          </a:p>
        </p:txBody>
      </p:sp>
      <p:pic>
        <p:nvPicPr>
          <p:cNvPr id="3" name="object 3"/>
          <p:cNvPicPr/>
          <p:nvPr/>
        </p:nvPicPr>
        <p:blipFill>
          <a:blip r:embed="rId2" cstate="print"/>
          <a:stretch>
            <a:fillRect/>
          </a:stretch>
        </p:blipFill>
        <p:spPr>
          <a:xfrm>
            <a:off x="611464" y="2707640"/>
            <a:ext cx="10445483" cy="3665220"/>
          </a:xfrm>
          <a:prstGeom prst="rect">
            <a:avLst/>
          </a:prstGeom>
        </p:spPr>
      </p:pic>
      <p:sp>
        <p:nvSpPr>
          <p:cNvPr id="4" name="object 4"/>
          <p:cNvSpPr txBox="1"/>
          <p:nvPr/>
        </p:nvSpPr>
        <p:spPr>
          <a:xfrm>
            <a:off x="490090" y="1830284"/>
            <a:ext cx="11002010" cy="474980"/>
          </a:xfrm>
          <a:prstGeom prst="rect">
            <a:avLst/>
          </a:prstGeom>
        </p:spPr>
        <p:txBody>
          <a:bodyPr vert="horz" wrap="square" lIns="0" tIns="12065" rIns="0" bIns="0" rtlCol="0">
            <a:spAutoFit/>
          </a:bodyPr>
          <a:lstStyle/>
          <a:p>
            <a:pPr marL="379095" indent="-366395">
              <a:lnSpc>
                <a:spcPct val="100000"/>
              </a:lnSpc>
              <a:spcBef>
                <a:spcPts val="95"/>
              </a:spcBef>
              <a:buFont typeface="Wingdings"/>
              <a:buChar char=""/>
              <a:tabLst>
                <a:tab pos="379095" algn="l"/>
              </a:tabLst>
            </a:pPr>
            <a:r>
              <a:rPr sz="2800" spc="-35" dirty="0">
                <a:latin typeface="微软雅黑"/>
                <a:cs typeface="微软雅黑"/>
              </a:rPr>
              <a:t>线性、平移不变的计算操作</a:t>
            </a:r>
            <a:r>
              <a:rPr sz="2950" i="1" spc="-185" dirty="0">
                <a:latin typeface="微软雅黑"/>
                <a:cs typeface="微软雅黑"/>
              </a:rPr>
              <a:t>（</a:t>
            </a:r>
            <a:r>
              <a:rPr sz="2950" i="1" spc="-150" dirty="0">
                <a:latin typeface="微软雅黑"/>
                <a:cs typeface="微软雅黑"/>
              </a:rPr>
              <a:t>算子，</a:t>
            </a:r>
            <a:r>
              <a:rPr sz="2800" i="1" spc="-65" dirty="0">
                <a:latin typeface="Calibri"/>
                <a:cs typeface="Calibri"/>
              </a:rPr>
              <a:t>Operator</a:t>
            </a:r>
            <a:r>
              <a:rPr sz="2950" i="1" spc="-65" dirty="0">
                <a:latin typeface="微软雅黑"/>
                <a:cs typeface="微软雅黑"/>
              </a:rPr>
              <a:t>）</a:t>
            </a:r>
            <a:r>
              <a:rPr sz="2950" i="1" spc="-145" dirty="0">
                <a:latin typeface="微软雅黑"/>
                <a:cs typeface="微软雅黑"/>
              </a:rPr>
              <a:t>，也成为滤波器 </a:t>
            </a:r>
            <a:r>
              <a:rPr sz="2800" i="1" spc="-10" dirty="0">
                <a:latin typeface="Calibri"/>
                <a:cs typeface="Calibri"/>
              </a:rPr>
              <a:t>filter</a:t>
            </a:r>
            <a:endParaRPr sz="2800" dirty="0">
              <a:latin typeface="Calibri"/>
              <a:cs typeface="Calibri"/>
            </a:endParaRPr>
          </a:p>
        </p:txBody>
      </p:sp>
      <p:sp>
        <p:nvSpPr>
          <p:cNvPr id="5" name="object 5"/>
          <p:cNvSpPr txBox="1"/>
          <p:nvPr/>
        </p:nvSpPr>
        <p:spPr>
          <a:xfrm>
            <a:off x="9637900" y="3352018"/>
            <a:ext cx="1854200" cy="1116965"/>
          </a:xfrm>
          <a:prstGeom prst="rect">
            <a:avLst/>
          </a:prstGeom>
        </p:spPr>
        <p:txBody>
          <a:bodyPr vert="horz" wrap="square" lIns="0" tIns="15240" rIns="0" bIns="0" rtlCol="0">
            <a:spAutoFit/>
          </a:bodyPr>
          <a:lstStyle/>
          <a:p>
            <a:pPr marL="12700" marR="5080" algn="just">
              <a:lnSpc>
                <a:spcPct val="99200"/>
              </a:lnSpc>
              <a:spcBef>
                <a:spcPts val="120"/>
              </a:spcBef>
            </a:pPr>
            <a:r>
              <a:rPr sz="2400" spc="-10" dirty="0">
                <a:latin typeface="微软雅黑"/>
                <a:cs typeface="微软雅黑"/>
              </a:rPr>
              <a:t>示例：一个提取边缘信息的</a:t>
            </a:r>
            <a:r>
              <a:rPr sz="2400" spc="-20" dirty="0">
                <a:latin typeface="微软雅黑"/>
                <a:cs typeface="微软雅黑"/>
              </a:rPr>
              <a:t>卷积核</a:t>
            </a:r>
            <a:endParaRPr sz="2400" dirty="0">
              <a:latin typeface="微软雅黑"/>
              <a:cs typeface="微软雅黑"/>
            </a:endParaRPr>
          </a:p>
        </p:txBody>
      </p:sp>
      <p:sp>
        <p:nvSpPr>
          <p:cNvPr id="6" name="object 6"/>
          <p:cNvSpPr txBox="1"/>
          <p:nvPr/>
        </p:nvSpPr>
        <p:spPr>
          <a:xfrm>
            <a:off x="10091420" y="5795194"/>
            <a:ext cx="1244600" cy="391160"/>
          </a:xfrm>
          <a:prstGeom prst="rect">
            <a:avLst/>
          </a:prstGeom>
        </p:spPr>
        <p:txBody>
          <a:bodyPr vert="horz" wrap="square" lIns="0" tIns="12700" rIns="0" bIns="0" rtlCol="0">
            <a:spAutoFit/>
          </a:bodyPr>
          <a:lstStyle/>
          <a:p>
            <a:pPr marL="12700">
              <a:lnSpc>
                <a:spcPct val="100000"/>
              </a:lnSpc>
              <a:spcBef>
                <a:spcPts val="100"/>
              </a:spcBef>
            </a:pPr>
            <a:r>
              <a:rPr sz="2400" spc="-15" dirty="0">
                <a:latin typeface="微软雅黑"/>
                <a:cs typeface="微软雅黑"/>
              </a:rPr>
              <a:t>计算公式</a:t>
            </a:r>
            <a:endParaRPr sz="2400" dirty="0">
              <a:latin typeface="微软雅黑"/>
              <a:cs typeface="微软雅黑"/>
            </a:endParaRPr>
          </a:p>
        </p:txBody>
      </p:sp>
      <p:sp>
        <p:nvSpPr>
          <p:cNvPr id="8"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Tree>
    <p:extLst>
      <p:ext uri="{BB962C8B-B14F-4D97-AF65-F5344CB8AC3E}">
        <p14:creationId xmlns:p14="http://schemas.microsoft.com/office/powerpoint/2010/main" val="379928323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858" y="1050600"/>
            <a:ext cx="2768600" cy="382156"/>
          </a:xfrm>
          <a:prstGeom prst="rect">
            <a:avLst/>
          </a:prstGeom>
        </p:spPr>
        <p:txBody>
          <a:bodyPr vert="horz" wrap="square" lIns="0" tIns="12700" rIns="0" bIns="0" rtlCol="0">
            <a:spAutoFit/>
          </a:bodyPr>
          <a:lstStyle/>
          <a:p>
            <a:pPr marL="12700">
              <a:lnSpc>
                <a:spcPct val="100000"/>
              </a:lnSpc>
              <a:spcBef>
                <a:spcPts val="100"/>
              </a:spcBef>
            </a:pPr>
            <a:r>
              <a:rPr sz="2400" spc="-10" dirty="0"/>
              <a:t>卷积计算过程</a:t>
            </a:r>
          </a:p>
        </p:txBody>
      </p:sp>
      <p:pic>
        <p:nvPicPr>
          <p:cNvPr id="3" name="object 3"/>
          <p:cNvPicPr/>
          <p:nvPr/>
        </p:nvPicPr>
        <p:blipFill>
          <a:blip r:embed="rId2" cstate="print"/>
          <a:stretch>
            <a:fillRect/>
          </a:stretch>
        </p:blipFill>
        <p:spPr>
          <a:xfrm>
            <a:off x="514703" y="2239047"/>
            <a:ext cx="4579229" cy="4219775"/>
          </a:xfrm>
          <a:prstGeom prst="rect">
            <a:avLst/>
          </a:prstGeom>
        </p:spPr>
      </p:pic>
      <p:pic>
        <p:nvPicPr>
          <p:cNvPr id="4" name="object 4"/>
          <p:cNvPicPr/>
          <p:nvPr/>
        </p:nvPicPr>
        <p:blipFill>
          <a:blip r:embed="rId3" cstate="print"/>
          <a:stretch>
            <a:fillRect/>
          </a:stretch>
        </p:blipFill>
        <p:spPr>
          <a:xfrm>
            <a:off x="5635244" y="2239047"/>
            <a:ext cx="5573267" cy="4069067"/>
          </a:xfrm>
          <a:prstGeom prst="rect">
            <a:avLst/>
          </a:prstGeom>
        </p:spPr>
      </p:pic>
      <p:sp>
        <p:nvSpPr>
          <p:cNvPr id="6"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Tree>
    <p:extLst>
      <p:ext uri="{BB962C8B-B14F-4D97-AF65-F5344CB8AC3E}">
        <p14:creationId xmlns:p14="http://schemas.microsoft.com/office/powerpoint/2010/main" val="14238233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2950" y="1558204"/>
            <a:ext cx="9315449" cy="5096242"/>
          </a:xfrm>
          <a:prstGeom prst="rect">
            <a:avLst/>
          </a:prstGeom>
        </p:spPr>
      </p:pic>
      <p:sp>
        <p:nvSpPr>
          <p:cNvPr id="3" name="object 3"/>
          <p:cNvSpPr txBox="1">
            <a:spLocks noGrp="1"/>
          </p:cNvSpPr>
          <p:nvPr>
            <p:ph type="title"/>
          </p:nvPr>
        </p:nvSpPr>
        <p:spPr>
          <a:xfrm>
            <a:off x="233680" y="856529"/>
            <a:ext cx="10515600" cy="647554"/>
          </a:xfrm>
          <a:prstGeom prst="rect">
            <a:avLst/>
          </a:prstGeom>
        </p:spPr>
        <p:txBody>
          <a:bodyPr vert="horz" wrap="square" lIns="0" tIns="275531" rIns="0" bIns="0" rtlCol="0">
            <a:spAutoFit/>
          </a:bodyPr>
          <a:lstStyle/>
          <a:p>
            <a:pPr marL="12700">
              <a:lnSpc>
                <a:spcPct val="100000"/>
              </a:lnSpc>
              <a:spcBef>
                <a:spcPts val="100"/>
              </a:spcBef>
            </a:pPr>
            <a:r>
              <a:rPr sz="2400" dirty="0"/>
              <a:t>卷积：填充</a:t>
            </a:r>
            <a:r>
              <a:rPr sz="2400" spc="-10" dirty="0"/>
              <a:t>（Padding）</a:t>
            </a:r>
          </a:p>
        </p:txBody>
      </p:sp>
      <p:sp>
        <p:nvSpPr>
          <p:cNvPr id="4"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Tree>
    <p:extLst>
      <p:ext uri="{BB962C8B-B14F-4D97-AF65-F5344CB8AC3E}">
        <p14:creationId xmlns:p14="http://schemas.microsoft.com/office/powerpoint/2010/main" val="3433548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3652" y="1039409"/>
            <a:ext cx="10515600" cy="647554"/>
          </a:xfrm>
          <a:prstGeom prst="rect">
            <a:avLst/>
          </a:prstGeom>
        </p:spPr>
        <p:txBody>
          <a:bodyPr vert="horz" wrap="square" lIns="0" tIns="275531" rIns="0" bIns="0" rtlCol="0">
            <a:spAutoFit/>
          </a:bodyPr>
          <a:lstStyle/>
          <a:p>
            <a:pPr marL="12700">
              <a:lnSpc>
                <a:spcPct val="100000"/>
              </a:lnSpc>
              <a:spcBef>
                <a:spcPts val="100"/>
              </a:spcBef>
            </a:pPr>
            <a:r>
              <a:rPr sz="2400" dirty="0"/>
              <a:t>卷积：步长</a:t>
            </a:r>
            <a:r>
              <a:rPr sz="2400" spc="-10" dirty="0"/>
              <a:t>（Stride）</a:t>
            </a:r>
          </a:p>
        </p:txBody>
      </p:sp>
      <p:pic>
        <p:nvPicPr>
          <p:cNvPr id="3" name="object 3"/>
          <p:cNvPicPr/>
          <p:nvPr/>
        </p:nvPicPr>
        <p:blipFill>
          <a:blip r:embed="rId2" cstate="print"/>
          <a:stretch>
            <a:fillRect/>
          </a:stretch>
        </p:blipFill>
        <p:spPr>
          <a:xfrm>
            <a:off x="263652" y="2209800"/>
            <a:ext cx="11341607" cy="4329671"/>
          </a:xfrm>
          <a:prstGeom prst="rect">
            <a:avLst/>
          </a:prstGeom>
        </p:spPr>
      </p:pic>
      <p:sp>
        <p:nvSpPr>
          <p:cNvPr id="4"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Tree>
    <p:extLst>
      <p:ext uri="{BB962C8B-B14F-4D97-AF65-F5344CB8AC3E}">
        <p14:creationId xmlns:p14="http://schemas.microsoft.com/office/powerpoint/2010/main" val="2090306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2" cstate="print"/>
          <a:stretch>
            <a:fillRect/>
          </a:stretch>
        </p:blipFill>
        <p:spPr>
          <a:xfrm>
            <a:off x="650240" y="2341879"/>
            <a:ext cx="11125199" cy="4295139"/>
          </a:xfrm>
          <a:prstGeom prst="rect">
            <a:avLst/>
          </a:prstGeom>
        </p:spPr>
      </p:pic>
      <p:sp>
        <p:nvSpPr>
          <p:cNvPr id="5"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卷积</a:t>
            </a:r>
            <a:endParaRPr lang="zh-CN" altLang="en-US" sz="3200" b="1" dirty="0"/>
          </a:p>
        </p:txBody>
      </p:sp>
      <p:sp>
        <p:nvSpPr>
          <p:cNvPr id="6" name="object 3"/>
          <p:cNvSpPr txBox="1">
            <a:spLocks noGrp="1"/>
          </p:cNvSpPr>
          <p:nvPr>
            <p:ph type="title"/>
          </p:nvPr>
        </p:nvSpPr>
        <p:spPr>
          <a:xfrm>
            <a:off x="185418" y="1263960"/>
            <a:ext cx="9959342"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1F4E79"/>
                </a:solidFill>
                <a:latin typeface="微软雅黑"/>
                <a:cs typeface="微软雅黑"/>
              </a:rPr>
              <a:t>同样大小的卷积核可以应用于不同尺寸图像</a:t>
            </a:r>
          </a:p>
        </p:txBody>
      </p:sp>
    </p:spTree>
    <p:extLst>
      <p:ext uri="{BB962C8B-B14F-4D97-AF65-F5344CB8AC3E}">
        <p14:creationId xmlns:p14="http://schemas.microsoft.com/office/powerpoint/2010/main" val="1524816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45042"/>
            <a:ext cx="10515600" cy="687377"/>
          </a:xfrm>
        </p:spPr>
        <p:txBody>
          <a:bodyPr>
            <a:normAutofit/>
          </a:bodyPr>
          <a:lstStyle/>
          <a:p>
            <a:r>
              <a:rPr lang="zh-CN" altLang="en-US" sz="3200" b="1" dirty="0"/>
              <a:t>卷积神经网络</a:t>
            </a:r>
            <a:r>
              <a:rPr lang="en-US" altLang="zh-CN" sz="3200" b="1" dirty="0" smtClean="0"/>
              <a:t>---</a:t>
            </a:r>
            <a:r>
              <a:rPr lang="zh-CN" altLang="en-US" sz="3200" b="1" dirty="0" smtClean="0"/>
              <a:t>卷积</a:t>
            </a:r>
            <a:endParaRPr lang="zh-CN" altLang="en-US" sz="3200" b="1" dirty="0"/>
          </a:p>
        </p:txBody>
      </p:sp>
      <p:pic>
        <p:nvPicPr>
          <p:cNvPr id="4" name="object 4"/>
          <p:cNvPicPr>
            <a:picLocks noGrp="1"/>
          </p:cNvPicPr>
          <p:nvPr>
            <p:ph idx="1"/>
          </p:nvPr>
        </p:nvPicPr>
        <p:blipFill>
          <a:blip r:embed="rId2" cstate="print"/>
          <a:stretch>
            <a:fillRect/>
          </a:stretch>
        </p:blipFill>
        <p:spPr>
          <a:xfrm>
            <a:off x="1763987" y="1625425"/>
            <a:ext cx="8593929" cy="4537338"/>
          </a:xfrm>
          <a:prstGeom prst="rect">
            <a:avLst/>
          </a:prstGeom>
        </p:spPr>
      </p:pic>
      <p:sp>
        <p:nvSpPr>
          <p:cNvPr id="6" name="矩形 5"/>
          <p:cNvSpPr/>
          <p:nvPr/>
        </p:nvSpPr>
        <p:spPr>
          <a:xfrm>
            <a:off x="211959" y="1106945"/>
            <a:ext cx="2085443" cy="461665"/>
          </a:xfrm>
          <a:prstGeom prst="rect">
            <a:avLst/>
          </a:prstGeom>
        </p:spPr>
        <p:txBody>
          <a:bodyPr wrap="none">
            <a:spAutoFit/>
          </a:bodyPr>
          <a:lstStyle/>
          <a:p>
            <a:pPr marL="12700">
              <a:spcBef>
                <a:spcPts val="100"/>
              </a:spcBef>
            </a:pPr>
            <a:r>
              <a:rPr lang="en-US" altLang="zh-CN" sz="2400" b="1" dirty="0">
                <a:solidFill>
                  <a:srgbClr val="1F4E79"/>
                </a:solidFill>
                <a:latin typeface="微软雅黑"/>
                <a:ea typeface="+mj-ea"/>
                <a:cs typeface="微软雅黑"/>
              </a:rPr>
              <a:t>RGB</a:t>
            </a:r>
            <a:r>
              <a:rPr lang="zh-CN" altLang="en-US" sz="2400" b="1" dirty="0">
                <a:solidFill>
                  <a:srgbClr val="1F4E79"/>
                </a:solidFill>
                <a:latin typeface="微软雅黑"/>
                <a:ea typeface="+mj-ea"/>
                <a:cs typeface="微软雅黑"/>
              </a:rPr>
              <a:t>图像格式</a:t>
            </a:r>
          </a:p>
        </p:txBody>
      </p:sp>
    </p:spTree>
    <p:extLst>
      <p:ext uri="{BB962C8B-B14F-4D97-AF65-F5344CB8AC3E}">
        <p14:creationId xmlns:p14="http://schemas.microsoft.com/office/powerpoint/2010/main" val="33959348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p:cNvPicPr>
            <a:picLocks noGrp="1"/>
          </p:cNvPicPr>
          <p:nvPr>
            <p:ph idx="1"/>
          </p:nvPr>
        </p:nvPicPr>
        <p:blipFill>
          <a:blip r:embed="rId2" cstate="print"/>
          <a:stretch>
            <a:fillRect/>
          </a:stretch>
        </p:blipFill>
        <p:spPr>
          <a:xfrm>
            <a:off x="739878" y="1737338"/>
            <a:ext cx="10100491" cy="4776974"/>
          </a:xfrm>
          <a:prstGeom prst="rect">
            <a:avLst/>
          </a:prstGeom>
        </p:spPr>
      </p:pic>
      <p:sp>
        <p:nvSpPr>
          <p:cNvPr id="5" name="object 2"/>
          <p:cNvSpPr txBox="1">
            <a:spLocks noGrp="1"/>
          </p:cNvSpPr>
          <p:nvPr>
            <p:ph type="title"/>
          </p:nvPr>
        </p:nvSpPr>
        <p:spPr>
          <a:xfrm>
            <a:off x="183841" y="953044"/>
            <a:ext cx="9969151"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1F4E79"/>
                </a:solidFill>
                <a:latin typeface="微软雅黑"/>
                <a:cs typeface="微软雅黑"/>
              </a:rPr>
              <a:t>卷积算子：多输入通道&amp;单输出通道</a:t>
            </a:r>
          </a:p>
        </p:txBody>
      </p:sp>
      <p:sp>
        <p:nvSpPr>
          <p:cNvPr id="6" name="标题 1"/>
          <p:cNvSpPr txBox="1">
            <a:spLocks/>
          </p:cNvSpPr>
          <p:nvPr/>
        </p:nvSpPr>
        <p:spPr>
          <a:xfrm>
            <a:off x="0" y="145042"/>
            <a:ext cx="10515600" cy="6873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smtClean="0"/>
              <a:t>卷积神经网络</a:t>
            </a:r>
            <a:r>
              <a:rPr lang="en-US" altLang="zh-CN" sz="3200" b="1" smtClean="0"/>
              <a:t>---</a:t>
            </a:r>
            <a:r>
              <a:rPr lang="zh-CN" altLang="en-US" sz="3200" b="1" smtClean="0"/>
              <a:t>卷积</a:t>
            </a:r>
            <a:endParaRPr lang="zh-CN" altLang="en-US" sz="3200" b="1" dirty="0"/>
          </a:p>
        </p:txBody>
      </p:sp>
    </p:spTree>
    <p:extLst>
      <p:ext uri="{BB962C8B-B14F-4D97-AF65-F5344CB8AC3E}">
        <p14:creationId xmlns:p14="http://schemas.microsoft.com/office/powerpoint/2010/main" val="3065366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7F94A04E-0008-446A-80AA-02438CDD86A3}"/>
              </a:ext>
            </a:extLst>
          </p:cNvPr>
          <p:cNvSpPr/>
          <p:nvPr/>
        </p:nvSpPr>
        <p:spPr>
          <a:xfrm>
            <a:off x="323881" y="908962"/>
            <a:ext cx="5566115" cy="4947316"/>
          </a:xfrm>
          <a:prstGeom prst="rect">
            <a:avLst/>
          </a:prstGeom>
          <a:solidFill>
            <a:srgbClr val="004F8A"/>
          </a:solidFill>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最大池化（</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max pooling</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：从输入特征图的某个区域子块中选择值最大的像素点作为最大池化结果（见图</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平均池化（</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average pooling</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计算区域子块所包含所有像素点的均值，将均值作为平均池化结果。</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b="1" dirty="0">
              <a:solidFill>
                <a:srgbClr val="0070C0"/>
              </a:solidFill>
              <a:latin typeface="微软雅黑"/>
              <a:ea typeface="+mj-ea"/>
              <a:cs typeface="微软雅黑"/>
            </a:endParaRPr>
          </a:p>
          <a:p>
            <a:pPr marL="342900" indent="-342900">
              <a:lnSpc>
                <a:spcPct val="150000"/>
              </a:lnSpc>
              <a:buClr>
                <a:schemeClr val="bg1"/>
              </a:buClr>
              <a:buSzPct val="80000"/>
              <a:buFont typeface="Wingdings" panose="05000000000000000000" pitchFamily="2" charset="2"/>
              <a:buChar char="u"/>
            </a:pP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k-max</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池化（</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k-max pooling</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：对输入特征图区域子块中的像素点取前</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个最大值。如图</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5.13</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所示，从包含</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个取值的每一列中选取前</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个最大值就得到了</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k-max</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池化结果。</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63B4447A-FD09-4DC3-BCF5-4B2181952D5E}"/>
              </a:ext>
            </a:extLst>
          </p:cNvPr>
          <p:cNvPicPr>
            <a:picLocks noChangeAspect="1"/>
          </p:cNvPicPr>
          <p:nvPr/>
        </p:nvPicPr>
        <p:blipFill>
          <a:blip r:embed="rId2"/>
          <a:stretch>
            <a:fillRect/>
          </a:stretch>
        </p:blipFill>
        <p:spPr>
          <a:xfrm>
            <a:off x="6735030" y="655295"/>
            <a:ext cx="4376508" cy="6162428"/>
          </a:xfrm>
          <a:prstGeom prst="rect">
            <a:avLst/>
          </a:prstGeom>
        </p:spPr>
      </p:pic>
      <p:sp>
        <p:nvSpPr>
          <p:cNvPr id="8"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dirty="0" smtClean="0">
                <a:solidFill>
                  <a:schemeClr val="tx1">
                    <a:lumMod val="95000"/>
                    <a:lumOff val="5000"/>
                  </a:schemeClr>
                </a:solidFill>
                <a:latin typeface="微软雅黑" panose="020B0503020204020204" pitchFamily="34" charset="-122"/>
                <a:ea typeface="微软雅黑" panose="020B0503020204020204" pitchFamily="34" charset="-122"/>
              </a:rPr>
              <a:t>池化</a:t>
            </a:r>
          </a:p>
          <a:p>
            <a:endParaRPr lang="zh-CN" altLang="en-US" sz="3200" b="1" dirty="0"/>
          </a:p>
        </p:txBody>
      </p:sp>
    </p:spTree>
    <p:extLst>
      <p:ext uri="{BB962C8B-B14F-4D97-AF65-F5344CB8AC3E}">
        <p14:creationId xmlns:p14="http://schemas.microsoft.com/office/powerpoint/2010/main" val="20073514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FFC596E6-AE1C-45D5-9D50-5F2ED93F0544}"/>
              </a:ext>
            </a:extLst>
          </p:cNvPr>
          <p:cNvPicPr>
            <a:picLocks noGrp="1" noChangeAspect="1"/>
          </p:cNvPicPr>
          <p:nvPr>
            <p:ph idx="1"/>
          </p:nvPr>
        </p:nvPicPr>
        <p:blipFill>
          <a:blip r:embed="rId2"/>
          <a:stretch>
            <a:fillRect/>
          </a:stretch>
        </p:blipFill>
        <p:spPr>
          <a:xfrm>
            <a:off x="289559" y="1179262"/>
            <a:ext cx="10306437" cy="3620448"/>
          </a:xfrm>
          <a:prstGeom prst="rect">
            <a:avLst/>
          </a:prstGeom>
        </p:spPr>
      </p:pic>
      <p:sp>
        <p:nvSpPr>
          <p:cNvPr id="5" name="标题 1">
            <a:extLst>
              <a:ext uri="{FF2B5EF4-FFF2-40B4-BE49-F238E27FC236}">
                <a16:creationId xmlns:a16="http://schemas.microsoft.com/office/drawing/2014/main" id="{A1BABAE5-CE23-E738-5B71-C2169A05176B}"/>
              </a:ext>
            </a:extLst>
          </p:cNvPr>
          <p:cNvSpPr txBox="1">
            <a:spLocks/>
          </p:cNvSpPr>
          <p:nvPr/>
        </p:nvSpPr>
        <p:spPr>
          <a:xfrm>
            <a:off x="87322" y="207287"/>
            <a:ext cx="11191240" cy="7016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a:t>网络结构</a:t>
            </a:r>
          </a:p>
          <a:p>
            <a:endParaRPr lang="zh-CN" altLang="en-US" sz="3200" b="1" dirty="0"/>
          </a:p>
        </p:txBody>
      </p:sp>
      <p:sp>
        <p:nvSpPr>
          <p:cNvPr id="6" name="矩形 5"/>
          <p:cNvSpPr/>
          <p:nvPr/>
        </p:nvSpPr>
        <p:spPr>
          <a:xfrm>
            <a:off x="289559" y="5070010"/>
            <a:ext cx="10989003" cy="1200329"/>
          </a:xfrm>
          <a:prstGeom prst="rect">
            <a:avLst/>
          </a:prstGeom>
        </p:spPr>
        <p:txBody>
          <a:bodyPr wrap="square">
            <a:spAutoFit/>
          </a:bodyPr>
          <a:lstStyle/>
          <a:p>
            <a:pPr algn="ctr">
              <a:lnSpc>
                <a:spcPct val="150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5.14</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所示，对于</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32 × 32 × 3</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的彩色图像，先用</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 × 5 × 3</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的卷积核对其进行卷积操作（步长为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，无填充），得到</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28 × 28</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的卷积结果（特征图），然后以</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 × 2</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大小进行池化，得到</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14 × 14</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大小的特征图。最后通过若干个全连接层得到原始图像的向量表达，再对这个向量表达通过</a:t>
            </a:r>
            <a:r>
              <a:rPr lang="en-US" altLang="zh-CN" sz="1600" dirty="0" err="1">
                <a:latin typeface="Times New Roman" panose="02020603050405020304" pitchFamily="18" charset="0"/>
                <a:ea typeface="微软雅黑" panose="020B0503020204020204" pitchFamily="34" charset="-122"/>
                <a:cs typeface="Times New Roman" panose="02020603050405020304" pitchFamily="18" charset="0"/>
              </a:rPr>
              <a:t>softmax</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函数进行分类识别，得到输入图像隶属于</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个类别的概率。</a:t>
            </a:r>
          </a:p>
        </p:txBody>
      </p:sp>
    </p:spTree>
    <p:extLst>
      <p:ext uri="{BB962C8B-B14F-4D97-AF65-F5344CB8AC3E}">
        <p14:creationId xmlns:p14="http://schemas.microsoft.com/office/powerpoint/2010/main" val="1375124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p:cNvPicPr>
            <a:picLocks noGrp="1"/>
          </p:cNvPicPr>
          <p:nvPr>
            <p:ph idx="1"/>
          </p:nvPr>
        </p:nvPicPr>
        <p:blipFill>
          <a:blip r:embed="rId2" cstate="print"/>
          <a:stretch>
            <a:fillRect/>
          </a:stretch>
        </p:blipFill>
        <p:spPr>
          <a:xfrm>
            <a:off x="499660" y="1276984"/>
            <a:ext cx="10239809" cy="4884179"/>
          </a:xfrm>
          <a:prstGeom prst="rect">
            <a:avLst/>
          </a:prstGeom>
        </p:spPr>
      </p:pic>
      <p:sp>
        <p:nvSpPr>
          <p:cNvPr id="5" name="标题 1">
            <a:extLst>
              <a:ext uri="{FF2B5EF4-FFF2-40B4-BE49-F238E27FC236}">
                <a16:creationId xmlns:a16="http://schemas.microsoft.com/office/drawing/2014/main" id="{A1BABAE5-CE23-E738-5B71-C2169A05176B}"/>
              </a:ext>
            </a:extLst>
          </p:cNvPr>
          <p:cNvSpPr txBox="1">
            <a:spLocks noGrp="1"/>
          </p:cNvSpPr>
          <p:nvPr>
            <p:ph type="title"/>
          </p:nvPr>
        </p:nvSpPr>
        <p:spPr>
          <a:xfrm>
            <a:off x="123825" y="138113"/>
            <a:ext cx="10515600" cy="132556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a:t>网络结构</a:t>
            </a:r>
          </a:p>
          <a:p>
            <a:endParaRPr lang="zh-CN" altLang="en-US" sz="3200" b="1" dirty="0"/>
          </a:p>
        </p:txBody>
      </p:sp>
    </p:spTree>
    <p:extLst>
      <p:ext uri="{BB962C8B-B14F-4D97-AF65-F5344CB8AC3E}">
        <p14:creationId xmlns:p14="http://schemas.microsoft.com/office/powerpoint/2010/main" val="2350606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a:picLocks noGrp="1"/>
          </p:cNvPicPr>
          <p:nvPr>
            <p:ph idx="1"/>
          </p:nvPr>
        </p:nvPicPr>
        <p:blipFill>
          <a:blip r:embed="rId2" cstate="print"/>
          <a:stretch>
            <a:fillRect/>
          </a:stretch>
        </p:blipFill>
        <p:spPr>
          <a:xfrm>
            <a:off x="838200" y="1459864"/>
            <a:ext cx="9131913" cy="5243633"/>
          </a:xfrm>
          <a:prstGeom prst="rect">
            <a:avLst/>
          </a:prstGeom>
        </p:spPr>
      </p:pic>
      <p:sp>
        <p:nvSpPr>
          <p:cNvPr id="5" name="标题 1">
            <a:extLst>
              <a:ext uri="{FF2B5EF4-FFF2-40B4-BE49-F238E27FC236}">
                <a16:creationId xmlns:a16="http://schemas.microsoft.com/office/drawing/2014/main" id="{A1BABAE5-CE23-E738-5B71-C2169A05176B}"/>
              </a:ext>
            </a:extLst>
          </p:cNvPr>
          <p:cNvSpPr txBox="1">
            <a:spLocks noGrp="1"/>
          </p:cNvSpPr>
          <p:nvPr>
            <p:ph type="title"/>
          </p:nvPr>
        </p:nvSpPr>
        <p:spPr>
          <a:xfrm>
            <a:off x="146356" y="295757"/>
            <a:ext cx="10515600" cy="7151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a:t>网络结构</a:t>
            </a:r>
          </a:p>
          <a:p>
            <a:endParaRPr lang="zh-CN" altLang="en-US" sz="3200" b="1" dirty="0"/>
          </a:p>
        </p:txBody>
      </p:sp>
    </p:spTree>
    <p:extLst>
      <p:ext uri="{BB962C8B-B14F-4D97-AF65-F5344CB8AC3E}">
        <p14:creationId xmlns:p14="http://schemas.microsoft.com/office/powerpoint/2010/main" val="12084254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6105144" y="4088891"/>
            <a:ext cx="4232275" cy="795655"/>
          </a:xfrm>
          <a:custGeom>
            <a:avLst/>
            <a:gdLst/>
            <a:ahLst/>
            <a:cxnLst/>
            <a:rect l="l" t="t" r="r" b="b"/>
            <a:pathLst>
              <a:path w="4232275" h="795654">
                <a:moveTo>
                  <a:pt x="0" y="0"/>
                </a:moveTo>
                <a:lnTo>
                  <a:pt x="4232148" y="0"/>
                </a:lnTo>
                <a:lnTo>
                  <a:pt x="4232148" y="795527"/>
                </a:lnTo>
                <a:lnTo>
                  <a:pt x="0" y="795527"/>
                </a:lnTo>
                <a:lnTo>
                  <a:pt x="0" y="0"/>
                </a:lnTo>
                <a:close/>
              </a:path>
            </a:pathLst>
          </a:custGeom>
          <a:ln w="12192">
            <a:solidFill>
              <a:srgbClr val="C5DFB4"/>
            </a:solidFill>
          </a:ln>
        </p:spPr>
        <p:txBody>
          <a:bodyPr wrap="square" lIns="0" tIns="0" rIns="0" bIns="0" rtlCol="0"/>
          <a:lstStyle/>
          <a:p>
            <a:endParaRPr/>
          </a:p>
        </p:txBody>
      </p:sp>
      <p:sp>
        <p:nvSpPr>
          <p:cNvPr id="5" name="object 3"/>
          <p:cNvSpPr txBox="1"/>
          <p:nvPr/>
        </p:nvSpPr>
        <p:spPr>
          <a:xfrm>
            <a:off x="8718313" y="4559156"/>
            <a:ext cx="1539240" cy="269240"/>
          </a:xfrm>
          <a:prstGeom prst="rect">
            <a:avLst/>
          </a:prstGeom>
        </p:spPr>
        <p:txBody>
          <a:bodyPr vert="horz" wrap="square" lIns="0" tIns="12065" rIns="0" bIns="0" rtlCol="0">
            <a:spAutoFit/>
          </a:bodyPr>
          <a:lstStyle/>
          <a:p>
            <a:pPr marL="12700">
              <a:lnSpc>
                <a:spcPct val="100000"/>
              </a:lnSpc>
              <a:spcBef>
                <a:spcPts val="95"/>
              </a:spcBef>
            </a:pPr>
            <a:r>
              <a:rPr sz="1600" dirty="0">
                <a:latin typeface="华文楷体"/>
                <a:cs typeface="华文楷体"/>
              </a:rPr>
              <a:t>2014</a:t>
            </a:r>
            <a:r>
              <a:rPr sz="1600" spc="-10" dirty="0">
                <a:latin typeface="华文楷体"/>
                <a:cs typeface="华文楷体"/>
              </a:rPr>
              <a:t> ILSVRC</a:t>
            </a:r>
            <a:r>
              <a:rPr sz="1600" spc="-40" dirty="0">
                <a:latin typeface="华文楷体"/>
                <a:cs typeface="华文楷体"/>
              </a:rPr>
              <a:t>冠军</a:t>
            </a:r>
            <a:endParaRPr sz="1600">
              <a:latin typeface="华文楷体"/>
              <a:cs typeface="华文楷体"/>
            </a:endParaRPr>
          </a:p>
        </p:txBody>
      </p:sp>
      <p:sp>
        <p:nvSpPr>
          <p:cNvPr id="6" name="object 4"/>
          <p:cNvSpPr/>
          <p:nvPr/>
        </p:nvSpPr>
        <p:spPr>
          <a:xfrm>
            <a:off x="2354579" y="3015995"/>
            <a:ext cx="2255520" cy="230504"/>
          </a:xfrm>
          <a:custGeom>
            <a:avLst/>
            <a:gdLst/>
            <a:ahLst/>
            <a:cxnLst/>
            <a:rect l="l" t="t" r="r" b="b"/>
            <a:pathLst>
              <a:path w="2255520" h="230505">
                <a:moveTo>
                  <a:pt x="2255520" y="0"/>
                </a:moveTo>
                <a:lnTo>
                  <a:pt x="0" y="0"/>
                </a:lnTo>
                <a:lnTo>
                  <a:pt x="0" y="230124"/>
                </a:lnTo>
                <a:lnTo>
                  <a:pt x="2255520" y="230124"/>
                </a:lnTo>
                <a:lnTo>
                  <a:pt x="2255520" y="0"/>
                </a:lnTo>
                <a:close/>
              </a:path>
            </a:pathLst>
          </a:custGeom>
          <a:solidFill>
            <a:srgbClr val="DEEBF7"/>
          </a:solidFill>
        </p:spPr>
        <p:txBody>
          <a:bodyPr wrap="square" lIns="0" tIns="0" rIns="0" bIns="0" rtlCol="0"/>
          <a:lstStyle/>
          <a:p>
            <a:endParaRPr/>
          </a:p>
        </p:txBody>
      </p:sp>
      <p:sp>
        <p:nvSpPr>
          <p:cNvPr id="7" name="object 5"/>
          <p:cNvSpPr txBox="1"/>
          <p:nvPr/>
        </p:nvSpPr>
        <p:spPr>
          <a:xfrm>
            <a:off x="2446441" y="3041350"/>
            <a:ext cx="723478" cy="197490"/>
          </a:xfrm>
          <a:prstGeom prst="rect">
            <a:avLst/>
          </a:prstGeom>
        </p:spPr>
        <p:txBody>
          <a:bodyPr vert="horz" wrap="square" lIns="0" tIns="12700" rIns="0" bIns="0" rtlCol="0">
            <a:spAutoFit/>
          </a:bodyPr>
          <a:lstStyle/>
          <a:p>
            <a:pPr>
              <a:lnSpc>
                <a:spcPct val="100000"/>
              </a:lnSpc>
              <a:spcBef>
                <a:spcPts val="100"/>
              </a:spcBef>
            </a:pPr>
            <a:r>
              <a:rPr sz="1200" spc="-10" dirty="0">
                <a:latin typeface="Calibri"/>
                <a:cs typeface="Calibri"/>
              </a:rPr>
              <a:t>LeNet</a:t>
            </a:r>
            <a:endParaRPr sz="1200" dirty="0">
              <a:latin typeface="Calibri"/>
              <a:cs typeface="Calibri"/>
            </a:endParaRPr>
          </a:p>
        </p:txBody>
      </p:sp>
      <p:sp>
        <p:nvSpPr>
          <p:cNvPr id="8" name="object 6"/>
          <p:cNvSpPr txBox="1"/>
          <p:nvPr/>
        </p:nvSpPr>
        <p:spPr>
          <a:xfrm>
            <a:off x="2199641" y="2012307"/>
            <a:ext cx="1117600"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Hubel</a:t>
            </a:r>
            <a:r>
              <a:rPr sz="1200" spc="-5" dirty="0">
                <a:latin typeface="Calibri"/>
                <a:cs typeface="Calibri"/>
              </a:rPr>
              <a:t> </a:t>
            </a:r>
            <a:r>
              <a:rPr sz="1200" dirty="0">
                <a:latin typeface="Calibri"/>
                <a:cs typeface="Calibri"/>
              </a:rPr>
              <a:t>&amp;</a:t>
            </a:r>
            <a:r>
              <a:rPr sz="1200" spc="-25" dirty="0">
                <a:latin typeface="Calibri"/>
                <a:cs typeface="Calibri"/>
              </a:rPr>
              <a:t> </a:t>
            </a:r>
            <a:r>
              <a:rPr sz="1200" spc="-10" dirty="0">
                <a:latin typeface="Calibri"/>
                <a:cs typeface="Calibri"/>
              </a:rPr>
              <a:t>Wiesel</a:t>
            </a:r>
            <a:endParaRPr sz="1200" dirty="0">
              <a:latin typeface="Calibri"/>
              <a:cs typeface="Calibri"/>
            </a:endParaRPr>
          </a:p>
        </p:txBody>
      </p:sp>
      <p:sp>
        <p:nvSpPr>
          <p:cNvPr id="9" name="object 7"/>
          <p:cNvSpPr txBox="1"/>
          <p:nvPr/>
        </p:nvSpPr>
        <p:spPr>
          <a:xfrm>
            <a:off x="2333956" y="1647347"/>
            <a:ext cx="796379" cy="197490"/>
          </a:xfrm>
          <a:prstGeom prst="rect">
            <a:avLst/>
          </a:prstGeom>
        </p:spPr>
        <p:txBody>
          <a:bodyPr vert="horz" wrap="square" lIns="0" tIns="12700" rIns="0" bIns="0" rtlCol="0">
            <a:spAutoFit/>
          </a:bodyPr>
          <a:lstStyle/>
          <a:p>
            <a:pPr marL="12700">
              <a:lnSpc>
                <a:spcPct val="100000"/>
              </a:lnSpc>
              <a:spcBef>
                <a:spcPts val="100"/>
              </a:spcBef>
            </a:pPr>
            <a:r>
              <a:rPr sz="1200" b="1" spc="-15" dirty="0">
                <a:solidFill>
                  <a:srgbClr val="9DC3E6"/>
                </a:solidFill>
                <a:latin typeface="微软雅黑"/>
                <a:cs typeface="微软雅黑"/>
              </a:rPr>
              <a:t>早期尝试</a:t>
            </a:r>
            <a:endParaRPr sz="1200" b="1" dirty="0">
              <a:latin typeface="微软雅黑"/>
              <a:cs typeface="微软雅黑"/>
            </a:endParaRPr>
          </a:p>
        </p:txBody>
      </p:sp>
      <p:sp>
        <p:nvSpPr>
          <p:cNvPr id="10" name="object 8"/>
          <p:cNvSpPr txBox="1"/>
          <p:nvPr/>
        </p:nvSpPr>
        <p:spPr>
          <a:xfrm>
            <a:off x="5963411" y="2641092"/>
            <a:ext cx="2272665" cy="231775"/>
          </a:xfrm>
          <a:prstGeom prst="rect">
            <a:avLst/>
          </a:prstGeom>
          <a:solidFill>
            <a:srgbClr val="FF0000">
              <a:alpha val="39999"/>
            </a:srgbClr>
          </a:solidFill>
        </p:spPr>
        <p:txBody>
          <a:bodyPr vert="horz" wrap="square" lIns="0" tIns="38100" rIns="0" bIns="0" rtlCol="0">
            <a:spAutoFit/>
          </a:bodyPr>
          <a:lstStyle/>
          <a:p>
            <a:pPr marL="45085">
              <a:lnSpc>
                <a:spcPct val="100000"/>
              </a:lnSpc>
              <a:spcBef>
                <a:spcPts val="300"/>
              </a:spcBef>
            </a:pPr>
            <a:r>
              <a:rPr sz="1200" spc="-10" dirty="0">
                <a:latin typeface="Calibri"/>
                <a:cs typeface="Calibri"/>
              </a:rPr>
              <a:t>AlexNet</a:t>
            </a:r>
            <a:endParaRPr sz="1200" dirty="0">
              <a:latin typeface="Calibri"/>
              <a:cs typeface="Calibri"/>
            </a:endParaRPr>
          </a:p>
        </p:txBody>
      </p:sp>
      <p:sp>
        <p:nvSpPr>
          <p:cNvPr id="11" name="object 9"/>
          <p:cNvSpPr/>
          <p:nvPr/>
        </p:nvSpPr>
        <p:spPr>
          <a:xfrm>
            <a:off x="4546586" y="2944359"/>
            <a:ext cx="1440180" cy="558800"/>
          </a:xfrm>
          <a:custGeom>
            <a:avLst/>
            <a:gdLst/>
            <a:ahLst/>
            <a:cxnLst/>
            <a:rect l="l" t="t" r="r" b="b"/>
            <a:pathLst>
              <a:path w="1440179" h="558800">
                <a:moveTo>
                  <a:pt x="1440116" y="0"/>
                </a:moveTo>
                <a:lnTo>
                  <a:pt x="1403959" y="42669"/>
                </a:lnTo>
                <a:lnTo>
                  <a:pt x="1366889" y="83784"/>
                </a:lnTo>
                <a:lnTo>
                  <a:pt x="1328967" y="123326"/>
                </a:lnTo>
                <a:lnTo>
                  <a:pt x="1290254" y="161278"/>
                </a:lnTo>
                <a:lnTo>
                  <a:pt x="1250812" y="197621"/>
                </a:lnTo>
                <a:lnTo>
                  <a:pt x="1210700" y="232337"/>
                </a:lnTo>
                <a:lnTo>
                  <a:pt x="1169982" y="265408"/>
                </a:lnTo>
                <a:lnTo>
                  <a:pt x="1128717" y="296816"/>
                </a:lnTo>
                <a:lnTo>
                  <a:pt x="1086967" y="326542"/>
                </a:lnTo>
                <a:lnTo>
                  <a:pt x="1044794" y="354569"/>
                </a:lnTo>
                <a:lnTo>
                  <a:pt x="1002258" y="380878"/>
                </a:lnTo>
                <a:lnTo>
                  <a:pt x="959421" y="405451"/>
                </a:lnTo>
                <a:lnTo>
                  <a:pt x="916343" y="428270"/>
                </a:lnTo>
                <a:lnTo>
                  <a:pt x="873086" y="449318"/>
                </a:lnTo>
                <a:lnTo>
                  <a:pt x="829712" y="468574"/>
                </a:lnTo>
                <a:lnTo>
                  <a:pt x="786281" y="486023"/>
                </a:lnTo>
                <a:lnTo>
                  <a:pt x="742854" y="501644"/>
                </a:lnTo>
                <a:lnTo>
                  <a:pt x="699493" y="515421"/>
                </a:lnTo>
                <a:lnTo>
                  <a:pt x="656259" y="527335"/>
                </a:lnTo>
                <a:lnTo>
                  <a:pt x="613214" y="537368"/>
                </a:lnTo>
                <a:lnTo>
                  <a:pt x="570417" y="545501"/>
                </a:lnTo>
                <a:lnTo>
                  <a:pt x="527931" y="551718"/>
                </a:lnTo>
                <a:lnTo>
                  <a:pt x="485817" y="555998"/>
                </a:lnTo>
                <a:lnTo>
                  <a:pt x="444136" y="558325"/>
                </a:lnTo>
                <a:lnTo>
                  <a:pt x="402949" y="558680"/>
                </a:lnTo>
                <a:lnTo>
                  <a:pt x="362317" y="557046"/>
                </a:lnTo>
                <a:lnTo>
                  <a:pt x="322301" y="553403"/>
                </a:lnTo>
                <a:lnTo>
                  <a:pt x="282963" y="547733"/>
                </a:lnTo>
                <a:lnTo>
                  <a:pt x="244365" y="540019"/>
                </a:lnTo>
                <a:lnTo>
                  <a:pt x="206566" y="530243"/>
                </a:lnTo>
                <a:lnTo>
                  <a:pt x="169628" y="518386"/>
                </a:lnTo>
                <a:lnTo>
                  <a:pt x="133613" y="504430"/>
                </a:lnTo>
                <a:lnTo>
                  <a:pt x="98581" y="488357"/>
                </a:lnTo>
                <a:lnTo>
                  <a:pt x="64594" y="470148"/>
                </a:lnTo>
                <a:lnTo>
                  <a:pt x="31713" y="449786"/>
                </a:lnTo>
                <a:lnTo>
                  <a:pt x="0" y="427253"/>
                </a:lnTo>
              </a:path>
            </a:pathLst>
          </a:custGeom>
          <a:ln w="12700">
            <a:solidFill>
              <a:srgbClr val="FF9999"/>
            </a:solidFill>
          </a:ln>
        </p:spPr>
        <p:txBody>
          <a:bodyPr wrap="square" lIns="0" tIns="0" rIns="0" bIns="0" rtlCol="0"/>
          <a:lstStyle/>
          <a:p>
            <a:endParaRPr/>
          </a:p>
        </p:txBody>
      </p:sp>
      <p:sp>
        <p:nvSpPr>
          <p:cNvPr id="12" name="object 10"/>
          <p:cNvSpPr txBox="1"/>
          <p:nvPr/>
        </p:nvSpPr>
        <p:spPr>
          <a:xfrm>
            <a:off x="5970286" y="2291657"/>
            <a:ext cx="847074" cy="197490"/>
          </a:xfrm>
          <a:prstGeom prst="rect">
            <a:avLst/>
          </a:prstGeom>
        </p:spPr>
        <p:txBody>
          <a:bodyPr vert="horz" wrap="square" lIns="0" tIns="12700" rIns="0" bIns="0" rtlCol="0">
            <a:spAutoFit/>
          </a:bodyPr>
          <a:lstStyle/>
          <a:p>
            <a:pPr marL="12700">
              <a:lnSpc>
                <a:spcPct val="100000"/>
              </a:lnSpc>
              <a:spcBef>
                <a:spcPts val="100"/>
              </a:spcBef>
            </a:pPr>
            <a:r>
              <a:rPr sz="1200" b="1" spc="-15" dirty="0">
                <a:solidFill>
                  <a:srgbClr val="FF9999"/>
                </a:solidFill>
                <a:latin typeface="微软雅黑"/>
                <a:cs typeface="微软雅黑"/>
              </a:rPr>
              <a:t>历史突破</a:t>
            </a:r>
            <a:endParaRPr sz="1200" b="1" dirty="0">
              <a:latin typeface="微软雅黑"/>
              <a:cs typeface="微软雅黑"/>
            </a:endParaRPr>
          </a:p>
        </p:txBody>
      </p:sp>
      <p:sp>
        <p:nvSpPr>
          <p:cNvPr id="13" name="object 11"/>
          <p:cNvSpPr txBox="1"/>
          <p:nvPr/>
        </p:nvSpPr>
        <p:spPr>
          <a:xfrm>
            <a:off x="5007766" y="2728741"/>
            <a:ext cx="691028" cy="382156"/>
          </a:xfrm>
          <a:prstGeom prst="rect">
            <a:avLst/>
          </a:prstGeom>
        </p:spPr>
        <p:txBody>
          <a:bodyPr vert="horz" wrap="square" lIns="0" tIns="12700" rIns="0" bIns="0" rtlCol="0">
            <a:spAutoFit/>
          </a:bodyPr>
          <a:lstStyle/>
          <a:p>
            <a:pPr marL="12700" marR="5080">
              <a:lnSpc>
                <a:spcPct val="100000"/>
              </a:lnSpc>
              <a:spcBef>
                <a:spcPts val="100"/>
              </a:spcBef>
            </a:pPr>
            <a:r>
              <a:rPr sz="1200" spc="-10" dirty="0">
                <a:solidFill>
                  <a:srgbClr val="FF9999"/>
                </a:solidFill>
                <a:latin typeface="Calibri"/>
                <a:cs typeface="Calibri"/>
              </a:rPr>
              <a:t>Dropout</a:t>
            </a:r>
            <a:r>
              <a:rPr sz="1200" spc="500" dirty="0">
                <a:solidFill>
                  <a:srgbClr val="FF9999"/>
                </a:solidFill>
                <a:latin typeface="Calibri"/>
                <a:cs typeface="Calibri"/>
              </a:rPr>
              <a:t> </a:t>
            </a:r>
            <a:r>
              <a:rPr sz="1200" spc="-20" dirty="0">
                <a:solidFill>
                  <a:srgbClr val="FF9999"/>
                </a:solidFill>
                <a:latin typeface="Calibri"/>
                <a:cs typeface="Calibri"/>
              </a:rPr>
              <a:t>ReLU</a:t>
            </a:r>
            <a:endParaRPr sz="1200" dirty="0">
              <a:latin typeface="Calibri"/>
              <a:cs typeface="Calibri"/>
            </a:endParaRPr>
          </a:p>
        </p:txBody>
      </p:sp>
      <p:sp>
        <p:nvSpPr>
          <p:cNvPr id="14" name="object 12"/>
          <p:cNvSpPr txBox="1"/>
          <p:nvPr/>
        </p:nvSpPr>
        <p:spPr>
          <a:xfrm>
            <a:off x="6129163" y="4115657"/>
            <a:ext cx="418957" cy="182101"/>
          </a:xfrm>
          <a:prstGeom prst="rect">
            <a:avLst/>
          </a:prstGeom>
        </p:spPr>
        <p:txBody>
          <a:bodyPr vert="horz" wrap="square" lIns="0" tIns="12700" rIns="0" bIns="0" rtlCol="0">
            <a:spAutoFit/>
          </a:bodyPr>
          <a:lstStyle/>
          <a:p>
            <a:pPr marL="12700">
              <a:lnSpc>
                <a:spcPct val="100000"/>
              </a:lnSpc>
              <a:spcBef>
                <a:spcPts val="100"/>
              </a:spcBef>
            </a:pPr>
            <a:r>
              <a:rPr sz="1100" spc="-25" dirty="0">
                <a:latin typeface="Calibri"/>
                <a:cs typeface="Calibri"/>
              </a:rPr>
              <a:t>NIN</a:t>
            </a:r>
            <a:endParaRPr sz="1100" dirty="0">
              <a:latin typeface="Calibri"/>
              <a:cs typeface="Calibri"/>
            </a:endParaRPr>
          </a:p>
        </p:txBody>
      </p:sp>
      <p:sp>
        <p:nvSpPr>
          <p:cNvPr id="15" name="object 13"/>
          <p:cNvSpPr txBox="1"/>
          <p:nvPr/>
        </p:nvSpPr>
        <p:spPr>
          <a:xfrm>
            <a:off x="6129163" y="4500733"/>
            <a:ext cx="880220"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libri"/>
                <a:cs typeface="Calibri"/>
              </a:rPr>
              <a:t>GoogLeNet</a:t>
            </a:r>
            <a:endParaRPr sz="1200" dirty="0">
              <a:latin typeface="Calibri"/>
              <a:cs typeface="Calibri"/>
            </a:endParaRPr>
          </a:p>
        </p:txBody>
      </p:sp>
      <p:sp>
        <p:nvSpPr>
          <p:cNvPr id="16" name="object 14"/>
          <p:cNvSpPr txBox="1"/>
          <p:nvPr/>
        </p:nvSpPr>
        <p:spPr>
          <a:xfrm>
            <a:off x="6129163" y="4890154"/>
            <a:ext cx="76644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Calibri"/>
                <a:cs typeface="Calibri"/>
              </a:rPr>
              <a:t>Inception</a:t>
            </a:r>
            <a:r>
              <a:rPr sz="900" spc="-45" dirty="0">
                <a:latin typeface="Calibri"/>
                <a:cs typeface="Calibri"/>
              </a:rPr>
              <a:t> </a:t>
            </a:r>
            <a:r>
              <a:rPr sz="900" spc="-10" dirty="0">
                <a:latin typeface="Calibri"/>
                <a:cs typeface="Calibri"/>
              </a:rPr>
              <a:t>V3,V4</a:t>
            </a:r>
            <a:endParaRPr sz="900">
              <a:latin typeface="Calibri"/>
              <a:cs typeface="Calibri"/>
            </a:endParaRPr>
          </a:p>
        </p:txBody>
      </p:sp>
      <p:sp>
        <p:nvSpPr>
          <p:cNvPr id="17" name="object 15"/>
          <p:cNvSpPr txBox="1"/>
          <p:nvPr/>
        </p:nvSpPr>
        <p:spPr>
          <a:xfrm>
            <a:off x="3989823" y="4115657"/>
            <a:ext cx="221615" cy="162560"/>
          </a:xfrm>
          <a:prstGeom prst="rect">
            <a:avLst/>
          </a:prstGeom>
        </p:spPr>
        <p:txBody>
          <a:bodyPr vert="horz" wrap="square" lIns="0" tIns="12700" rIns="0" bIns="0" rtlCol="0">
            <a:spAutoFit/>
          </a:bodyPr>
          <a:lstStyle/>
          <a:p>
            <a:pPr>
              <a:lnSpc>
                <a:spcPct val="100000"/>
              </a:lnSpc>
              <a:spcBef>
                <a:spcPts val="100"/>
              </a:spcBef>
            </a:pPr>
            <a:r>
              <a:rPr sz="900" spc="-25" dirty="0">
                <a:latin typeface="Calibri"/>
                <a:cs typeface="Calibri"/>
              </a:rPr>
              <a:t>VGG</a:t>
            </a:r>
            <a:endParaRPr sz="900">
              <a:latin typeface="Calibri"/>
              <a:cs typeface="Calibri"/>
            </a:endParaRPr>
          </a:p>
        </p:txBody>
      </p:sp>
      <p:sp>
        <p:nvSpPr>
          <p:cNvPr id="18" name="object 16"/>
          <p:cNvSpPr/>
          <p:nvPr/>
        </p:nvSpPr>
        <p:spPr>
          <a:xfrm>
            <a:off x="3944111" y="3738371"/>
            <a:ext cx="2068195" cy="0"/>
          </a:xfrm>
          <a:custGeom>
            <a:avLst/>
            <a:gdLst/>
            <a:ahLst/>
            <a:cxnLst/>
            <a:rect l="l" t="t" r="r" b="b"/>
            <a:pathLst>
              <a:path w="2068195">
                <a:moveTo>
                  <a:pt x="0" y="0"/>
                </a:moveTo>
                <a:lnTo>
                  <a:pt x="2068068" y="0"/>
                </a:lnTo>
                <a:lnTo>
                  <a:pt x="0" y="0"/>
                </a:lnTo>
                <a:close/>
              </a:path>
            </a:pathLst>
          </a:custGeom>
          <a:ln w="12192">
            <a:solidFill>
              <a:srgbClr val="A9D18E"/>
            </a:solidFill>
          </a:ln>
        </p:spPr>
        <p:txBody>
          <a:bodyPr wrap="square" lIns="0" tIns="0" rIns="0" bIns="0" rtlCol="0"/>
          <a:lstStyle/>
          <a:p>
            <a:endParaRPr/>
          </a:p>
        </p:txBody>
      </p:sp>
      <p:sp>
        <p:nvSpPr>
          <p:cNvPr id="19" name="object 17"/>
          <p:cNvSpPr txBox="1"/>
          <p:nvPr/>
        </p:nvSpPr>
        <p:spPr>
          <a:xfrm>
            <a:off x="3977048" y="3764712"/>
            <a:ext cx="902927" cy="182101"/>
          </a:xfrm>
          <a:prstGeom prst="rect">
            <a:avLst/>
          </a:prstGeom>
        </p:spPr>
        <p:txBody>
          <a:bodyPr vert="horz" wrap="square" lIns="0" tIns="12700" rIns="0" bIns="0" rtlCol="0">
            <a:spAutoFit/>
          </a:bodyPr>
          <a:lstStyle/>
          <a:p>
            <a:pPr marL="12700">
              <a:lnSpc>
                <a:spcPct val="100000"/>
              </a:lnSpc>
              <a:spcBef>
                <a:spcPts val="100"/>
              </a:spcBef>
            </a:pPr>
            <a:r>
              <a:rPr sz="1100" spc="-15" dirty="0">
                <a:latin typeface="微软雅黑"/>
                <a:cs typeface="微软雅黑"/>
              </a:rPr>
              <a:t>网络加深</a:t>
            </a:r>
            <a:endParaRPr sz="1100" dirty="0">
              <a:latin typeface="微软雅黑"/>
              <a:cs typeface="微软雅黑"/>
            </a:endParaRPr>
          </a:p>
        </p:txBody>
      </p:sp>
      <p:sp>
        <p:nvSpPr>
          <p:cNvPr id="20" name="object 18"/>
          <p:cNvSpPr txBox="1"/>
          <p:nvPr/>
        </p:nvSpPr>
        <p:spPr>
          <a:xfrm>
            <a:off x="8291188" y="4106240"/>
            <a:ext cx="1183012" cy="197490"/>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Inception</a:t>
            </a:r>
            <a:r>
              <a:rPr sz="1200" spc="-45" dirty="0">
                <a:latin typeface="Calibri"/>
                <a:cs typeface="Calibri"/>
              </a:rPr>
              <a:t> </a:t>
            </a:r>
            <a:r>
              <a:rPr sz="1200" spc="-10" dirty="0">
                <a:latin typeface="Calibri"/>
                <a:cs typeface="Calibri"/>
              </a:rPr>
              <a:t>V2</a:t>
            </a:r>
            <a:r>
              <a:rPr sz="1200" spc="-10" dirty="0">
                <a:latin typeface="微软雅黑"/>
                <a:cs typeface="微软雅黑"/>
              </a:rPr>
              <a:t>，</a:t>
            </a:r>
            <a:r>
              <a:rPr sz="1200" spc="-10" dirty="0">
                <a:latin typeface="Calibri"/>
                <a:cs typeface="Calibri"/>
              </a:rPr>
              <a:t>BN</a:t>
            </a:r>
            <a:endParaRPr sz="1200" dirty="0">
              <a:latin typeface="Calibri"/>
              <a:cs typeface="Calibri"/>
            </a:endParaRPr>
          </a:p>
        </p:txBody>
      </p:sp>
      <p:sp>
        <p:nvSpPr>
          <p:cNvPr id="21" name="object 19"/>
          <p:cNvSpPr/>
          <p:nvPr/>
        </p:nvSpPr>
        <p:spPr>
          <a:xfrm>
            <a:off x="8258556" y="3732276"/>
            <a:ext cx="2078989" cy="0"/>
          </a:xfrm>
          <a:custGeom>
            <a:avLst/>
            <a:gdLst/>
            <a:ahLst/>
            <a:cxnLst/>
            <a:rect l="l" t="t" r="r" b="b"/>
            <a:pathLst>
              <a:path w="2078990">
                <a:moveTo>
                  <a:pt x="0" y="0"/>
                </a:moveTo>
                <a:lnTo>
                  <a:pt x="2078736" y="0"/>
                </a:lnTo>
                <a:lnTo>
                  <a:pt x="0" y="0"/>
                </a:lnTo>
                <a:close/>
              </a:path>
            </a:pathLst>
          </a:custGeom>
          <a:ln w="12192">
            <a:solidFill>
              <a:srgbClr val="E1EFD9"/>
            </a:solidFill>
          </a:ln>
        </p:spPr>
        <p:txBody>
          <a:bodyPr wrap="square" lIns="0" tIns="0" rIns="0" bIns="0" rtlCol="0"/>
          <a:lstStyle/>
          <a:p>
            <a:endParaRPr/>
          </a:p>
        </p:txBody>
      </p:sp>
      <p:sp>
        <p:nvSpPr>
          <p:cNvPr id="22" name="object 20"/>
          <p:cNvSpPr txBox="1"/>
          <p:nvPr/>
        </p:nvSpPr>
        <p:spPr>
          <a:xfrm>
            <a:off x="8291186" y="3758815"/>
            <a:ext cx="1411613" cy="197490"/>
          </a:xfrm>
          <a:prstGeom prst="rect">
            <a:avLst/>
          </a:prstGeom>
        </p:spPr>
        <p:txBody>
          <a:bodyPr vert="horz" wrap="square" lIns="0" tIns="12700" rIns="0" bIns="0" rtlCol="0">
            <a:spAutoFit/>
          </a:bodyPr>
          <a:lstStyle/>
          <a:p>
            <a:pPr marL="12700">
              <a:lnSpc>
                <a:spcPct val="100000"/>
              </a:lnSpc>
              <a:spcBef>
                <a:spcPts val="100"/>
              </a:spcBef>
            </a:pPr>
            <a:r>
              <a:rPr sz="1200" spc="-10" dirty="0">
                <a:latin typeface="微软雅黑"/>
                <a:cs typeface="微软雅黑"/>
              </a:rPr>
              <a:t>增加新的功能单元</a:t>
            </a:r>
            <a:endParaRPr sz="1200" dirty="0">
              <a:latin typeface="微软雅黑"/>
              <a:cs typeface="微软雅黑"/>
            </a:endParaRPr>
          </a:p>
        </p:txBody>
      </p:sp>
      <p:sp>
        <p:nvSpPr>
          <p:cNvPr id="23" name="object 21"/>
          <p:cNvSpPr/>
          <p:nvPr/>
        </p:nvSpPr>
        <p:spPr>
          <a:xfrm>
            <a:off x="6096000" y="3738371"/>
            <a:ext cx="2068195" cy="0"/>
          </a:xfrm>
          <a:custGeom>
            <a:avLst/>
            <a:gdLst/>
            <a:ahLst/>
            <a:cxnLst/>
            <a:rect l="l" t="t" r="r" b="b"/>
            <a:pathLst>
              <a:path w="2068195">
                <a:moveTo>
                  <a:pt x="0" y="0"/>
                </a:moveTo>
                <a:lnTo>
                  <a:pt x="2068068" y="0"/>
                </a:lnTo>
                <a:lnTo>
                  <a:pt x="0" y="0"/>
                </a:lnTo>
                <a:close/>
              </a:path>
            </a:pathLst>
          </a:custGeom>
          <a:ln w="12192">
            <a:solidFill>
              <a:srgbClr val="C5DFB4"/>
            </a:solidFill>
          </a:ln>
        </p:spPr>
        <p:txBody>
          <a:bodyPr wrap="square" lIns="0" tIns="0" rIns="0" bIns="0" rtlCol="0"/>
          <a:lstStyle/>
          <a:p>
            <a:endParaRPr/>
          </a:p>
        </p:txBody>
      </p:sp>
      <p:sp>
        <p:nvSpPr>
          <p:cNvPr id="24" name="object 22"/>
          <p:cNvSpPr txBox="1"/>
          <p:nvPr/>
        </p:nvSpPr>
        <p:spPr>
          <a:xfrm>
            <a:off x="6129122" y="3764712"/>
            <a:ext cx="1307997" cy="182101"/>
          </a:xfrm>
          <a:prstGeom prst="rect">
            <a:avLst/>
          </a:prstGeom>
        </p:spPr>
        <p:txBody>
          <a:bodyPr vert="horz" wrap="square" lIns="0" tIns="12700" rIns="0" bIns="0" rtlCol="0">
            <a:spAutoFit/>
          </a:bodyPr>
          <a:lstStyle/>
          <a:p>
            <a:pPr marL="12700">
              <a:lnSpc>
                <a:spcPct val="100000"/>
              </a:lnSpc>
              <a:spcBef>
                <a:spcPts val="100"/>
              </a:spcBef>
            </a:pPr>
            <a:r>
              <a:rPr sz="1100" spc="-10" dirty="0">
                <a:latin typeface="微软雅黑"/>
                <a:cs typeface="微软雅黑"/>
              </a:rPr>
              <a:t>增强卷积模块功能</a:t>
            </a:r>
            <a:endParaRPr sz="1100" dirty="0">
              <a:latin typeface="微软雅黑"/>
              <a:cs typeface="微软雅黑"/>
            </a:endParaRPr>
          </a:p>
        </p:txBody>
      </p:sp>
      <p:sp>
        <p:nvSpPr>
          <p:cNvPr id="25" name="object 23"/>
          <p:cNvSpPr txBox="1"/>
          <p:nvPr/>
        </p:nvSpPr>
        <p:spPr>
          <a:xfrm>
            <a:off x="5228908" y="5859030"/>
            <a:ext cx="506065" cy="182101"/>
          </a:xfrm>
          <a:prstGeom prst="rect">
            <a:avLst/>
          </a:prstGeom>
        </p:spPr>
        <p:txBody>
          <a:bodyPr vert="horz" wrap="square" lIns="0" tIns="12700" rIns="0" bIns="0" rtlCol="0">
            <a:spAutoFit/>
          </a:bodyPr>
          <a:lstStyle/>
          <a:p>
            <a:pPr>
              <a:lnSpc>
                <a:spcPct val="100000"/>
              </a:lnSpc>
              <a:spcBef>
                <a:spcPts val="100"/>
              </a:spcBef>
            </a:pPr>
            <a:r>
              <a:rPr sz="1100" spc="-10" dirty="0">
                <a:latin typeface="Calibri"/>
                <a:cs typeface="Calibri"/>
              </a:rPr>
              <a:t>ResNet</a:t>
            </a:r>
            <a:endParaRPr sz="1100" dirty="0">
              <a:latin typeface="Calibri"/>
              <a:cs typeface="Calibri"/>
            </a:endParaRPr>
          </a:p>
        </p:txBody>
      </p:sp>
      <p:sp>
        <p:nvSpPr>
          <p:cNvPr id="26" name="object 24"/>
          <p:cNvSpPr txBox="1"/>
          <p:nvPr/>
        </p:nvSpPr>
        <p:spPr>
          <a:xfrm>
            <a:off x="6129123" y="5859030"/>
            <a:ext cx="120650"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C5DFB4"/>
                </a:solidFill>
                <a:latin typeface="Calibri"/>
                <a:cs typeface="Calibri"/>
              </a:rPr>
              <a:t>et</a:t>
            </a:r>
            <a:endParaRPr sz="900">
              <a:latin typeface="Calibri"/>
              <a:cs typeface="Calibri"/>
            </a:endParaRPr>
          </a:p>
        </p:txBody>
      </p:sp>
      <p:grpSp>
        <p:nvGrpSpPr>
          <p:cNvPr id="27" name="object 25"/>
          <p:cNvGrpSpPr/>
          <p:nvPr/>
        </p:nvGrpSpPr>
        <p:grpSpPr>
          <a:xfrm>
            <a:off x="5183123" y="4442459"/>
            <a:ext cx="1826260" cy="1019810"/>
            <a:chOff x="5183123" y="4442459"/>
            <a:chExt cx="1826260" cy="1019810"/>
          </a:xfrm>
        </p:grpSpPr>
        <p:sp>
          <p:nvSpPr>
            <p:cNvPr id="28" name="object 26"/>
            <p:cNvSpPr/>
            <p:nvPr/>
          </p:nvSpPr>
          <p:spPr>
            <a:xfrm>
              <a:off x="5183123" y="5455919"/>
              <a:ext cx="1826260" cy="0"/>
            </a:xfrm>
            <a:custGeom>
              <a:avLst/>
              <a:gdLst/>
              <a:ahLst/>
              <a:cxnLst/>
              <a:rect l="l" t="t" r="r" b="b"/>
              <a:pathLst>
                <a:path w="1826259">
                  <a:moveTo>
                    <a:pt x="0" y="0"/>
                  </a:moveTo>
                  <a:lnTo>
                    <a:pt x="1825752" y="0"/>
                  </a:lnTo>
                  <a:lnTo>
                    <a:pt x="0" y="0"/>
                  </a:lnTo>
                  <a:close/>
                </a:path>
              </a:pathLst>
            </a:custGeom>
            <a:ln w="12192">
              <a:solidFill>
                <a:srgbClr val="A9D18E"/>
              </a:solidFill>
            </a:ln>
          </p:spPr>
          <p:txBody>
            <a:bodyPr wrap="square" lIns="0" tIns="0" rIns="0" bIns="0" rtlCol="0"/>
            <a:lstStyle/>
            <a:p>
              <a:endParaRPr/>
            </a:p>
          </p:txBody>
        </p:sp>
        <p:sp>
          <p:nvSpPr>
            <p:cNvPr id="29" name="object 27"/>
            <p:cNvSpPr/>
            <p:nvPr/>
          </p:nvSpPr>
          <p:spPr>
            <a:xfrm>
              <a:off x="5513831" y="4448555"/>
              <a:ext cx="1905" cy="1007744"/>
            </a:xfrm>
            <a:custGeom>
              <a:avLst/>
              <a:gdLst/>
              <a:ahLst/>
              <a:cxnLst/>
              <a:rect l="l" t="t" r="r" b="b"/>
              <a:pathLst>
                <a:path w="1904" h="1007745">
                  <a:moveTo>
                    <a:pt x="1524" y="0"/>
                  </a:moveTo>
                  <a:lnTo>
                    <a:pt x="0" y="1007364"/>
                  </a:lnTo>
                </a:path>
              </a:pathLst>
            </a:custGeom>
            <a:ln w="12192">
              <a:solidFill>
                <a:srgbClr val="6FAC46"/>
              </a:solidFill>
            </a:ln>
          </p:spPr>
          <p:txBody>
            <a:bodyPr wrap="square" lIns="0" tIns="0" rIns="0" bIns="0" rtlCol="0"/>
            <a:lstStyle/>
            <a:p>
              <a:endParaRPr/>
            </a:p>
          </p:txBody>
        </p:sp>
        <p:sp>
          <p:nvSpPr>
            <p:cNvPr id="30" name="object 28"/>
            <p:cNvSpPr/>
            <p:nvPr/>
          </p:nvSpPr>
          <p:spPr>
            <a:xfrm>
              <a:off x="6737603" y="5196839"/>
              <a:ext cx="1905" cy="259079"/>
            </a:xfrm>
            <a:custGeom>
              <a:avLst/>
              <a:gdLst/>
              <a:ahLst/>
              <a:cxnLst/>
              <a:rect l="l" t="t" r="r" b="b"/>
              <a:pathLst>
                <a:path w="1904" h="259079">
                  <a:moveTo>
                    <a:pt x="0" y="0"/>
                  </a:moveTo>
                  <a:lnTo>
                    <a:pt x="1524" y="259079"/>
                  </a:lnTo>
                </a:path>
              </a:pathLst>
            </a:custGeom>
            <a:ln w="12191">
              <a:solidFill>
                <a:srgbClr val="6FAC46"/>
              </a:solidFill>
            </a:ln>
          </p:spPr>
          <p:txBody>
            <a:bodyPr wrap="square" lIns="0" tIns="0" rIns="0" bIns="0" rtlCol="0"/>
            <a:lstStyle/>
            <a:p>
              <a:endParaRPr/>
            </a:p>
          </p:txBody>
        </p:sp>
      </p:grpSp>
      <p:sp>
        <p:nvSpPr>
          <p:cNvPr id="31" name="object 29"/>
          <p:cNvSpPr txBox="1"/>
          <p:nvPr/>
        </p:nvSpPr>
        <p:spPr>
          <a:xfrm>
            <a:off x="5216194" y="5482210"/>
            <a:ext cx="796112" cy="182101"/>
          </a:xfrm>
          <a:prstGeom prst="rect">
            <a:avLst/>
          </a:prstGeom>
        </p:spPr>
        <p:txBody>
          <a:bodyPr vert="horz" wrap="square" lIns="0" tIns="12700" rIns="0" bIns="0" rtlCol="0">
            <a:spAutoFit/>
          </a:bodyPr>
          <a:lstStyle/>
          <a:p>
            <a:pPr marL="12700">
              <a:lnSpc>
                <a:spcPct val="100000"/>
              </a:lnSpc>
              <a:spcBef>
                <a:spcPts val="100"/>
              </a:spcBef>
            </a:pPr>
            <a:r>
              <a:rPr sz="1100" spc="-15" dirty="0">
                <a:latin typeface="微软雅黑"/>
                <a:cs typeface="微软雅黑"/>
              </a:rPr>
              <a:t>跳跃连接</a:t>
            </a:r>
            <a:endParaRPr sz="1100" dirty="0">
              <a:latin typeface="微软雅黑"/>
              <a:cs typeface="微软雅黑"/>
            </a:endParaRPr>
          </a:p>
        </p:txBody>
      </p:sp>
      <p:sp>
        <p:nvSpPr>
          <p:cNvPr id="32" name="object 30"/>
          <p:cNvSpPr txBox="1"/>
          <p:nvPr/>
        </p:nvSpPr>
        <p:spPr>
          <a:xfrm>
            <a:off x="9764991" y="3396464"/>
            <a:ext cx="1187056" cy="197490"/>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A9D18E"/>
                </a:solidFill>
                <a:latin typeface="微软雅黑"/>
                <a:cs typeface="微软雅黑"/>
              </a:rPr>
              <a:t>发展和演化</a:t>
            </a:r>
            <a:endParaRPr sz="1200" b="1" dirty="0">
              <a:latin typeface="微软雅黑"/>
              <a:cs typeface="微软雅黑"/>
            </a:endParaRPr>
          </a:p>
        </p:txBody>
      </p:sp>
      <p:grpSp>
        <p:nvGrpSpPr>
          <p:cNvPr id="33" name="object 31"/>
          <p:cNvGrpSpPr/>
          <p:nvPr/>
        </p:nvGrpSpPr>
        <p:grpSpPr>
          <a:xfrm>
            <a:off x="7081888" y="2845054"/>
            <a:ext cx="76200" cy="819150"/>
            <a:chOff x="7081888" y="2845054"/>
            <a:chExt cx="76200" cy="819150"/>
          </a:xfrm>
        </p:grpSpPr>
        <p:sp>
          <p:nvSpPr>
            <p:cNvPr id="34" name="object 32"/>
            <p:cNvSpPr/>
            <p:nvPr/>
          </p:nvSpPr>
          <p:spPr>
            <a:xfrm>
              <a:off x="7118604" y="2851404"/>
              <a:ext cx="1905" cy="749300"/>
            </a:xfrm>
            <a:custGeom>
              <a:avLst/>
              <a:gdLst/>
              <a:ahLst/>
              <a:cxnLst/>
              <a:rect l="l" t="t" r="r" b="b"/>
              <a:pathLst>
                <a:path w="1904" h="749300">
                  <a:moveTo>
                    <a:pt x="0" y="0"/>
                  </a:moveTo>
                  <a:lnTo>
                    <a:pt x="1409" y="748792"/>
                  </a:lnTo>
                </a:path>
              </a:pathLst>
            </a:custGeom>
            <a:ln w="12700">
              <a:solidFill>
                <a:srgbClr val="FF9999"/>
              </a:solidFill>
            </a:ln>
          </p:spPr>
          <p:txBody>
            <a:bodyPr wrap="square" lIns="0" tIns="0" rIns="0" bIns="0" rtlCol="0"/>
            <a:lstStyle/>
            <a:p>
              <a:endParaRPr/>
            </a:p>
          </p:txBody>
        </p:sp>
        <p:sp>
          <p:nvSpPr>
            <p:cNvPr id="35" name="object 33"/>
            <p:cNvSpPr/>
            <p:nvPr/>
          </p:nvSpPr>
          <p:spPr>
            <a:xfrm>
              <a:off x="7081888" y="3587426"/>
              <a:ext cx="76200" cy="76835"/>
            </a:xfrm>
            <a:custGeom>
              <a:avLst/>
              <a:gdLst/>
              <a:ahLst/>
              <a:cxnLst/>
              <a:rect l="l" t="t" r="r" b="b"/>
              <a:pathLst>
                <a:path w="76200" h="76835">
                  <a:moveTo>
                    <a:pt x="76200" y="0"/>
                  </a:moveTo>
                  <a:lnTo>
                    <a:pt x="0" y="139"/>
                  </a:lnTo>
                  <a:lnTo>
                    <a:pt x="38239" y="76263"/>
                  </a:lnTo>
                  <a:lnTo>
                    <a:pt x="76200" y="0"/>
                  </a:lnTo>
                  <a:close/>
                </a:path>
              </a:pathLst>
            </a:custGeom>
            <a:solidFill>
              <a:srgbClr val="FF9999"/>
            </a:solidFill>
          </p:spPr>
          <p:txBody>
            <a:bodyPr wrap="square" lIns="0" tIns="0" rIns="0" bIns="0" rtlCol="0"/>
            <a:lstStyle/>
            <a:p>
              <a:endParaRPr/>
            </a:p>
          </p:txBody>
        </p:sp>
      </p:grpSp>
      <p:sp>
        <p:nvSpPr>
          <p:cNvPr id="36" name="object 41"/>
          <p:cNvSpPr/>
          <p:nvPr/>
        </p:nvSpPr>
        <p:spPr>
          <a:xfrm>
            <a:off x="1054608" y="4079747"/>
            <a:ext cx="3235960" cy="1165860"/>
          </a:xfrm>
          <a:custGeom>
            <a:avLst/>
            <a:gdLst/>
            <a:ahLst/>
            <a:cxnLst/>
            <a:rect l="l" t="t" r="r" b="b"/>
            <a:pathLst>
              <a:path w="3235960" h="1165860">
                <a:moveTo>
                  <a:pt x="0" y="0"/>
                </a:moveTo>
                <a:lnTo>
                  <a:pt x="3235452" y="0"/>
                </a:lnTo>
                <a:lnTo>
                  <a:pt x="3235452" y="1165860"/>
                </a:lnTo>
                <a:lnTo>
                  <a:pt x="0" y="1165860"/>
                </a:lnTo>
                <a:lnTo>
                  <a:pt x="0" y="0"/>
                </a:lnTo>
                <a:close/>
              </a:path>
            </a:pathLst>
          </a:custGeom>
          <a:ln w="12192">
            <a:solidFill>
              <a:srgbClr val="A9D18E"/>
            </a:solidFill>
          </a:ln>
        </p:spPr>
        <p:txBody>
          <a:bodyPr wrap="square" lIns="0" tIns="0" rIns="0" bIns="0" rtlCol="0"/>
          <a:lstStyle/>
          <a:p>
            <a:endParaRPr/>
          </a:p>
        </p:txBody>
      </p:sp>
      <p:sp>
        <p:nvSpPr>
          <p:cNvPr id="37" name="object 42"/>
          <p:cNvSpPr txBox="1"/>
          <p:nvPr/>
        </p:nvSpPr>
        <p:spPr>
          <a:xfrm>
            <a:off x="1145894" y="4184880"/>
            <a:ext cx="2742565" cy="269240"/>
          </a:xfrm>
          <a:prstGeom prst="rect">
            <a:avLst/>
          </a:prstGeom>
        </p:spPr>
        <p:txBody>
          <a:bodyPr vert="horz" wrap="square" lIns="0" tIns="12065" rIns="0" bIns="0" rtlCol="0">
            <a:spAutoFit/>
          </a:bodyPr>
          <a:lstStyle/>
          <a:p>
            <a:pPr>
              <a:lnSpc>
                <a:spcPct val="100000"/>
              </a:lnSpc>
              <a:spcBef>
                <a:spcPts val="95"/>
              </a:spcBef>
            </a:pPr>
            <a:r>
              <a:rPr sz="1600" dirty="0">
                <a:latin typeface="华文楷体"/>
                <a:cs typeface="华文楷体"/>
              </a:rPr>
              <a:t>2014</a:t>
            </a:r>
            <a:r>
              <a:rPr sz="1600" spc="30" dirty="0">
                <a:latin typeface="华文楷体"/>
                <a:cs typeface="华文楷体"/>
              </a:rPr>
              <a:t> </a:t>
            </a:r>
            <a:r>
              <a:rPr sz="1600" spc="-10" dirty="0">
                <a:latin typeface="华文楷体"/>
                <a:cs typeface="华文楷体"/>
              </a:rPr>
              <a:t>ILSVRC</a:t>
            </a:r>
            <a:r>
              <a:rPr sz="1600" spc="-30" dirty="0">
                <a:latin typeface="华文楷体"/>
                <a:cs typeface="华文楷体"/>
              </a:rPr>
              <a:t>，图像识别略差于</a:t>
            </a:r>
            <a:endParaRPr sz="1600">
              <a:latin typeface="华文楷体"/>
              <a:cs typeface="华文楷体"/>
            </a:endParaRPr>
          </a:p>
        </p:txBody>
      </p:sp>
      <p:sp>
        <p:nvSpPr>
          <p:cNvPr id="38" name="object 43"/>
          <p:cNvSpPr txBox="1"/>
          <p:nvPr/>
        </p:nvSpPr>
        <p:spPr>
          <a:xfrm>
            <a:off x="1145894" y="4428111"/>
            <a:ext cx="3009265" cy="757555"/>
          </a:xfrm>
          <a:prstGeom prst="rect">
            <a:avLst/>
          </a:prstGeom>
        </p:spPr>
        <p:txBody>
          <a:bodyPr vert="horz" wrap="square" lIns="0" tIns="12700" rIns="0" bIns="0" rtlCol="0">
            <a:spAutoFit/>
          </a:bodyPr>
          <a:lstStyle/>
          <a:p>
            <a:pPr marR="5080">
              <a:lnSpc>
                <a:spcPct val="150000"/>
              </a:lnSpc>
              <a:spcBef>
                <a:spcPts val="100"/>
              </a:spcBef>
            </a:pPr>
            <a:r>
              <a:rPr sz="1600" spc="-10" dirty="0">
                <a:latin typeface="华文楷体"/>
                <a:cs typeface="华文楷体"/>
              </a:rPr>
              <a:t>GoogLeNet</a:t>
            </a:r>
            <a:r>
              <a:rPr sz="1600" spc="-30" dirty="0">
                <a:latin typeface="华文楷体"/>
                <a:cs typeface="华文楷体"/>
              </a:rPr>
              <a:t>，但是在很多图像分析</a:t>
            </a:r>
            <a:r>
              <a:rPr sz="1600" spc="-25" dirty="0">
                <a:latin typeface="华文楷体"/>
                <a:cs typeface="华文楷体"/>
              </a:rPr>
              <a:t>问题(比如</a:t>
            </a:r>
            <a:r>
              <a:rPr sz="1600" dirty="0">
                <a:latin typeface="华文楷体"/>
                <a:cs typeface="华文楷体"/>
              </a:rPr>
              <a:t>object</a:t>
            </a:r>
            <a:r>
              <a:rPr sz="1600" spc="100" dirty="0">
                <a:latin typeface="华文楷体"/>
                <a:cs typeface="华文楷体"/>
              </a:rPr>
              <a:t> </a:t>
            </a:r>
            <a:r>
              <a:rPr sz="1600" spc="-10" dirty="0">
                <a:latin typeface="华文楷体"/>
                <a:cs typeface="华文楷体"/>
              </a:rPr>
              <a:t>detection</a:t>
            </a:r>
            <a:r>
              <a:rPr sz="1600" spc="-30" dirty="0">
                <a:latin typeface="华文楷体"/>
                <a:cs typeface="华文楷体"/>
              </a:rPr>
              <a:t>)上效果好</a:t>
            </a:r>
            <a:endParaRPr sz="1600" dirty="0">
              <a:latin typeface="华文楷体"/>
              <a:cs typeface="华文楷体"/>
            </a:endParaRPr>
          </a:p>
        </p:txBody>
      </p:sp>
      <p:sp>
        <p:nvSpPr>
          <p:cNvPr id="39" name="object 44"/>
          <p:cNvSpPr/>
          <p:nvPr/>
        </p:nvSpPr>
        <p:spPr>
          <a:xfrm>
            <a:off x="3575303" y="5807964"/>
            <a:ext cx="2245360" cy="795655"/>
          </a:xfrm>
          <a:custGeom>
            <a:avLst/>
            <a:gdLst/>
            <a:ahLst/>
            <a:cxnLst/>
            <a:rect l="l" t="t" r="r" b="b"/>
            <a:pathLst>
              <a:path w="2245360" h="795654">
                <a:moveTo>
                  <a:pt x="0" y="0"/>
                </a:moveTo>
                <a:lnTo>
                  <a:pt x="2244852" y="0"/>
                </a:lnTo>
                <a:lnTo>
                  <a:pt x="2244852" y="795528"/>
                </a:lnTo>
                <a:lnTo>
                  <a:pt x="0" y="795528"/>
                </a:lnTo>
                <a:lnTo>
                  <a:pt x="0" y="0"/>
                </a:lnTo>
                <a:close/>
              </a:path>
            </a:pathLst>
          </a:custGeom>
          <a:ln w="12191">
            <a:solidFill>
              <a:srgbClr val="A9D18E"/>
            </a:solidFill>
          </a:ln>
        </p:spPr>
        <p:txBody>
          <a:bodyPr wrap="square" lIns="0" tIns="0" rIns="0" bIns="0" rtlCol="0"/>
          <a:lstStyle/>
          <a:p>
            <a:endParaRPr/>
          </a:p>
        </p:txBody>
      </p:sp>
      <p:sp>
        <p:nvSpPr>
          <p:cNvPr id="40" name="object 45"/>
          <p:cNvSpPr txBox="1"/>
          <p:nvPr/>
        </p:nvSpPr>
        <p:spPr>
          <a:xfrm>
            <a:off x="3667414" y="5912437"/>
            <a:ext cx="1314450" cy="269240"/>
          </a:xfrm>
          <a:prstGeom prst="rect">
            <a:avLst/>
          </a:prstGeom>
        </p:spPr>
        <p:txBody>
          <a:bodyPr vert="horz" wrap="square" lIns="0" tIns="12065" rIns="0" bIns="0" rtlCol="0">
            <a:spAutoFit/>
          </a:bodyPr>
          <a:lstStyle/>
          <a:p>
            <a:pPr>
              <a:lnSpc>
                <a:spcPct val="100000"/>
              </a:lnSpc>
              <a:spcBef>
                <a:spcPts val="95"/>
              </a:spcBef>
            </a:pPr>
            <a:r>
              <a:rPr sz="1600" spc="-20" dirty="0">
                <a:latin typeface="华文楷体"/>
                <a:cs typeface="华文楷体"/>
              </a:rPr>
              <a:t>2015</a:t>
            </a:r>
            <a:r>
              <a:rPr sz="1600" spc="-25" dirty="0">
                <a:latin typeface="华文楷体"/>
                <a:cs typeface="华文楷体"/>
              </a:rPr>
              <a:t>年</a:t>
            </a:r>
            <a:r>
              <a:rPr sz="1600" spc="-10" dirty="0">
                <a:latin typeface="华文楷体"/>
                <a:cs typeface="华文楷体"/>
              </a:rPr>
              <a:t>ILSVRC,</a:t>
            </a:r>
            <a:endParaRPr sz="1600">
              <a:latin typeface="华文楷体"/>
              <a:cs typeface="华文楷体"/>
            </a:endParaRPr>
          </a:p>
        </p:txBody>
      </p:sp>
      <p:sp>
        <p:nvSpPr>
          <p:cNvPr id="41" name="object 46"/>
          <p:cNvSpPr txBox="1"/>
          <p:nvPr/>
        </p:nvSpPr>
        <p:spPr>
          <a:xfrm>
            <a:off x="3667414" y="6278297"/>
            <a:ext cx="2067560" cy="269240"/>
          </a:xfrm>
          <a:prstGeom prst="rect">
            <a:avLst/>
          </a:prstGeom>
        </p:spPr>
        <p:txBody>
          <a:bodyPr vert="horz" wrap="square" lIns="0" tIns="12065" rIns="0" bIns="0" rtlCol="0">
            <a:spAutoFit/>
          </a:bodyPr>
          <a:lstStyle/>
          <a:p>
            <a:pPr>
              <a:lnSpc>
                <a:spcPct val="100000"/>
              </a:lnSpc>
              <a:spcBef>
                <a:spcPts val="95"/>
              </a:spcBef>
            </a:pPr>
            <a:r>
              <a:rPr sz="1600" spc="-10" dirty="0">
                <a:latin typeface="华文楷体"/>
                <a:cs typeface="华文楷体"/>
              </a:rPr>
              <a:t>Classification</a:t>
            </a:r>
            <a:r>
              <a:rPr sz="1600" spc="-30" dirty="0">
                <a:latin typeface="华文楷体"/>
                <a:cs typeface="华文楷体"/>
              </a:rPr>
              <a:t>获得第一名</a:t>
            </a:r>
            <a:endParaRPr sz="1600">
              <a:latin typeface="华文楷体"/>
              <a:cs typeface="华文楷体"/>
            </a:endParaRPr>
          </a:p>
        </p:txBody>
      </p:sp>
      <p:sp>
        <p:nvSpPr>
          <p:cNvPr id="42" name="object 47"/>
          <p:cNvSpPr/>
          <p:nvPr/>
        </p:nvSpPr>
        <p:spPr>
          <a:xfrm>
            <a:off x="7219188" y="4796028"/>
            <a:ext cx="966469" cy="658495"/>
          </a:xfrm>
          <a:custGeom>
            <a:avLst/>
            <a:gdLst/>
            <a:ahLst/>
            <a:cxnLst/>
            <a:rect l="l" t="t" r="r" b="b"/>
            <a:pathLst>
              <a:path w="966470" h="658495">
                <a:moveTo>
                  <a:pt x="0" y="0"/>
                </a:moveTo>
                <a:lnTo>
                  <a:pt x="966216" y="658368"/>
                </a:lnTo>
              </a:path>
            </a:pathLst>
          </a:custGeom>
          <a:ln w="12192">
            <a:solidFill>
              <a:srgbClr val="6FAC46"/>
            </a:solidFill>
          </a:ln>
        </p:spPr>
        <p:txBody>
          <a:bodyPr wrap="square" lIns="0" tIns="0" rIns="0" bIns="0" rtlCol="0"/>
          <a:lstStyle/>
          <a:p>
            <a:endParaRPr/>
          </a:p>
        </p:txBody>
      </p:sp>
      <p:graphicFrame>
        <p:nvGraphicFramePr>
          <p:cNvPr id="43" name="object 48"/>
          <p:cNvGraphicFramePr>
            <a:graphicFrameLocks noGrp="1"/>
          </p:cNvGraphicFramePr>
          <p:nvPr>
            <p:extLst>
              <p:ext uri="{D42A27DB-BD31-4B8C-83A1-F6EECF244321}">
                <p14:modId xmlns:p14="http://schemas.microsoft.com/office/powerpoint/2010/main" val="395940694"/>
              </p:ext>
            </p:extLst>
          </p:nvPr>
        </p:nvGraphicFramePr>
        <p:xfrm>
          <a:off x="7575804" y="5846064"/>
          <a:ext cx="3213735" cy="795020"/>
        </p:xfrm>
        <a:graphic>
          <a:graphicData uri="http://schemas.openxmlformats.org/drawingml/2006/table">
            <a:tbl>
              <a:tblPr firstRow="1" bandRow="1">
                <a:tableStyleId>{2D5ABB26-0587-4C30-8999-92F81FD0307C}</a:tableStyleId>
              </a:tblPr>
              <a:tblGrid>
                <a:gridCol w="1825625">
                  <a:extLst>
                    <a:ext uri="{9D8B030D-6E8A-4147-A177-3AD203B41FA5}">
                      <a16:colId xmlns:a16="http://schemas.microsoft.com/office/drawing/2014/main" val="20000"/>
                    </a:ext>
                  </a:extLst>
                </a:gridCol>
                <a:gridCol w="1388110">
                  <a:extLst>
                    <a:ext uri="{9D8B030D-6E8A-4147-A177-3AD203B41FA5}">
                      <a16:colId xmlns:a16="http://schemas.microsoft.com/office/drawing/2014/main" val="20001"/>
                    </a:ext>
                  </a:extLst>
                </a:gridCol>
              </a:tblGrid>
              <a:tr h="213360">
                <a:tc>
                  <a:txBody>
                    <a:bodyPr/>
                    <a:lstStyle/>
                    <a:p>
                      <a:pPr marL="91440">
                        <a:lnSpc>
                          <a:spcPct val="100000"/>
                        </a:lnSpc>
                        <a:spcBef>
                          <a:spcPts val="165"/>
                        </a:spcBef>
                      </a:pPr>
                      <a:r>
                        <a:rPr sz="1100" spc="-10" dirty="0">
                          <a:latin typeface="Calibri"/>
                          <a:cs typeface="Calibri"/>
                        </a:rPr>
                        <a:t>DenseNet</a:t>
                      </a:r>
                      <a:endParaRPr sz="1100" dirty="0">
                        <a:latin typeface="Calibri"/>
                        <a:cs typeface="Calibri"/>
                      </a:endParaRPr>
                    </a:p>
                  </a:txBody>
                  <a:tcPr marL="0" marR="0" marT="20955" marB="0">
                    <a:lnL w="12700">
                      <a:solidFill>
                        <a:srgbClr val="A9D18E"/>
                      </a:solidFill>
                      <a:prstDash val="solid"/>
                    </a:lnL>
                    <a:lnT w="12700">
                      <a:solidFill>
                        <a:srgbClr val="A9D18E"/>
                      </a:solidFill>
                      <a:prstDash val="solid"/>
                    </a:lnT>
                    <a:solidFill>
                      <a:srgbClr val="A9D18E"/>
                    </a:solidFill>
                  </a:tcPr>
                </a:tc>
                <a:tc>
                  <a:txBody>
                    <a:bodyPr/>
                    <a:lstStyle/>
                    <a:p>
                      <a:pPr>
                        <a:lnSpc>
                          <a:spcPct val="100000"/>
                        </a:lnSpc>
                      </a:pPr>
                      <a:endParaRPr sz="1200">
                        <a:latin typeface="Times New Roman"/>
                        <a:cs typeface="Times New Roman"/>
                      </a:endParaRPr>
                    </a:p>
                  </a:txBody>
                  <a:tcPr marL="0" marR="0" marT="0" marB="0">
                    <a:lnR w="12700">
                      <a:solidFill>
                        <a:srgbClr val="A9D18E"/>
                      </a:solidFill>
                      <a:prstDash val="solid"/>
                    </a:lnR>
                    <a:lnT w="12700">
                      <a:solidFill>
                        <a:srgbClr val="A9D18E"/>
                      </a:solidFill>
                      <a:prstDash val="solid"/>
                    </a:lnT>
                  </a:tcPr>
                </a:tc>
                <a:extLst>
                  <a:ext uri="{0D108BD9-81ED-4DB2-BD59-A6C34878D82A}">
                    <a16:rowId xmlns:a16="http://schemas.microsoft.com/office/drawing/2014/main" val="10000"/>
                  </a:ext>
                </a:extLst>
              </a:tr>
              <a:tr h="581660">
                <a:tc gridSpan="2">
                  <a:txBody>
                    <a:bodyPr/>
                    <a:lstStyle/>
                    <a:p>
                      <a:pPr marL="1863725">
                        <a:lnSpc>
                          <a:spcPts val="1160"/>
                        </a:lnSpc>
                      </a:pPr>
                      <a:r>
                        <a:rPr sz="1600" spc="-20" dirty="0">
                          <a:latin typeface="华文楷体"/>
                          <a:cs typeface="华文楷体"/>
                        </a:rPr>
                        <a:t>2017</a:t>
                      </a:r>
                      <a:r>
                        <a:rPr sz="1600" spc="-25" dirty="0">
                          <a:latin typeface="华文楷体"/>
                          <a:cs typeface="华文楷体"/>
                        </a:rPr>
                        <a:t>年</a:t>
                      </a:r>
                      <a:r>
                        <a:rPr sz="1600" spc="-10" dirty="0">
                          <a:latin typeface="华文楷体"/>
                          <a:cs typeface="华文楷体"/>
                        </a:rPr>
                        <a:t>ILSVRC</a:t>
                      </a:r>
                      <a:endParaRPr sz="1600" dirty="0">
                        <a:latin typeface="华文楷体"/>
                        <a:cs typeface="华文楷体"/>
                      </a:endParaRPr>
                    </a:p>
                    <a:p>
                      <a:pPr marL="366395" algn="ctr">
                        <a:lnSpc>
                          <a:spcPct val="100000"/>
                        </a:lnSpc>
                        <a:spcBef>
                          <a:spcPts val="960"/>
                        </a:spcBef>
                      </a:pPr>
                      <a:r>
                        <a:rPr sz="1600" spc="-25" dirty="0">
                          <a:latin typeface="华文楷体"/>
                          <a:cs typeface="华文楷体"/>
                        </a:rPr>
                        <a:t>进一步降低</a:t>
                      </a:r>
                      <a:r>
                        <a:rPr sz="1600" spc="-10" dirty="0">
                          <a:latin typeface="华文楷体"/>
                          <a:cs typeface="华文楷体"/>
                        </a:rPr>
                        <a:t>Classification</a:t>
                      </a:r>
                      <a:r>
                        <a:rPr sz="1600" spc="-35" dirty="0">
                          <a:latin typeface="华文楷体"/>
                          <a:cs typeface="华文楷体"/>
                        </a:rPr>
                        <a:t>错误率</a:t>
                      </a:r>
                      <a:endParaRPr sz="1600" dirty="0">
                        <a:latin typeface="华文楷体"/>
                        <a:cs typeface="华文楷体"/>
                      </a:endParaRPr>
                    </a:p>
                  </a:txBody>
                  <a:tcPr marL="0" marR="0" marT="0" marB="0">
                    <a:lnL w="12700">
                      <a:solidFill>
                        <a:srgbClr val="A9D18E"/>
                      </a:solidFill>
                      <a:prstDash val="solid"/>
                    </a:lnL>
                    <a:lnR w="12700">
                      <a:solidFill>
                        <a:srgbClr val="A9D18E"/>
                      </a:solidFill>
                      <a:prstDash val="solid"/>
                    </a:lnR>
                    <a:lnB w="12700">
                      <a:solidFill>
                        <a:srgbClr val="A9D18E"/>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44" name="object 49"/>
          <p:cNvSpPr txBox="1"/>
          <p:nvPr/>
        </p:nvSpPr>
        <p:spPr>
          <a:xfrm>
            <a:off x="7581900" y="5457444"/>
            <a:ext cx="1826260" cy="209031"/>
          </a:xfrm>
          <a:prstGeom prst="rect">
            <a:avLst/>
          </a:prstGeom>
          <a:ln w="12192">
            <a:solidFill>
              <a:srgbClr val="A9D18E"/>
            </a:solidFill>
          </a:ln>
        </p:spPr>
        <p:txBody>
          <a:bodyPr vert="horz" wrap="square" lIns="0" tIns="39369" rIns="0" bIns="0" rtlCol="0">
            <a:spAutoFit/>
          </a:bodyPr>
          <a:lstStyle/>
          <a:p>
            <a:pPr marL="91440">
              <a:lnSpc>
                <a:spcPct val="100000"/>
              </a:lnSpc>
              <a:spcBef>
                <a:spcPts val="309"/>
              </a:spcBef>
            </a:pPr>
            <a:r>
              <a:rPr sz="1100" spc="-15" dirty="0">
                <a:latin typeface="微软雅黑"/>
                <a:cs typeface="微软雅黑"/>
              </a:rPr>
              <a:t>密集连接</a:t>
            </a:r>
            <a:endParaRPr sz="1100" dirty="0">
              <a:latin typeface="微软雅黑"/>
              <a:cs typeface="微软雅黑"/>
            </a:endParaRPr>
          </a:p>
        </p:txBody>
      </p:sp>
      <p:sp>
        <p:nvSpPr>
          <p:cNvPr id="45" name="标题 1">
            <a:extLst>
              <a:ext uri="{FF2B5EF4-FFF2-40B4-BE49-F238E27FC236}">
                <a16:creationId xmlns:a16="http://schemas.microsoft.com/office/drawing/2014/main" id="{A1BABAE5-CE23-E738-5B71-C2169A05176B}"/>
              </a:ext>
            </a:extLst>
          </p:cNvPr>
          <p:cNvSpPr txBox="1">
            <a:spLocks noGrp="1"/>
          </p:cNvSpPr>
          <p:nvPr>
            <p:ph type="title"/>
          </p:nvPr>
        </p:nvSpPr>
        <p:spPr>
          <a:xfrm>
            <a:off x="146356" y="295757"/>
            <a:ext cx="10515600" cy="7151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发展</a:t>
            </a:r>
            <a:endParaRPr lang="zh-CN" altLang="en-US" sz="3200" b="1" dirty="0"/>
          </a:p>
        </p:txBody>
      </p:sp>
    </p:spTree>
    <p:extLst>
      <p:ext uri="{BB962C8B-B14F-4D97-AF65-F5344CB8AC3E}">
        <p14:creationId xmlns:p14="http://schemas.microsoft.com/office/powerpoint/2010/main" val="30530506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200" y="678528"/>
            <a:ext cx="1757680" cy="647554"/>
          </a:xfrm>
          <a:prstGeom prst="rect">
            <a:avLst/>
          </a:prstGeom>
        </p:spPr>
        <p:txBody>
          <a:bodyPr vert="horz" wrap="square" lIns="0" tIns="275531" rIns="0" bIns="0" rtlCol="0">
            <a:spAutoFit/>
          </a:bodyPr>
          <a:lstStyle/>
          <a:p>
            <a:pPr marL="12700">
              <a:lnSpc>
                <a:spcPct val="100000"/>
              </a:lnSpc>
              <a:spcBef>
                <a:spcPts val="100"/>
              </a:spcBef>
            </a:pPr>
            <a:r>
              <a:rPr sz="2400" b="1" dirty="0">
                <a:solidFill>
                  <a:srgbClr val="1F4E79"/>
                </a:solidFill>
                <a:latin typeface="微软雅黑"/>
                <a:cs typeface="微软雅黑"/>
              </a:rPr>
              <a:t>AlphaGo</a:t>
            </a:r>
          </a:p>
        </p:txBody>
      </p:sp>
      <p:pic>
        <p:nvPicPr>
          <p:cNvPr id="3" name="object 3"/>
          <p:cNvPicPr/>
          <p:nvPr/>
        </p:nvPicPr>
        <p:blipFill>
          <a:blip r:embed="rId2" cstate="print"/>
          <a:stretch>
            <a:fillRect/>
          </a:stretch>
        </p:blipFill>
        <p:spPr>
          <a:xfrm>
            <a:off x="265979" y="3429000"/>
            <a:ext cx="7622855" cy="2941319"/>
          </a:xfrm>
          <a:prstGeom prst="rect">
            <a:avLst/>
          </a:prstGeom>
        </p:spPr>
      </p:pic>
      <p:pic>
        <p:nvPicPr>
          <p:cNvPr id="4" name="object 4"/>
          <p:cNvPicPr/>
          <p:nvPr/>
        </p:nvPicPr>
        <p:blipFill>
          <a:blip r:embed="rId3" cstate="print"/>
          <a:stretch>
            <a:fillRect/>
          </a:stretch>
        </p:blipFill>
        <p:spPr>
          <a:xfrm>
            <a:off x="560831" y="1395092"/>
            <a:ext cx="6536423" cy="1818106"/>
          </a:xfrm>
          <a:prstGeom prst="rect">
            <a:avLst/>
          </a:prstGeom>
        </p:spPr>
      </p:pic>
      <p:sp>
        <p:nvSpPr>
          <p:cNvPr id="5" name="object 5"/>
          <p:cNvSpPr txBox="1"/>
          <p:nvPr/>
        </p:nvSpPr>
        <p:spPr>
          <a:xfrm>
            <a:off x="8001689" y="4680387"/>
            <a:ext cx="3846829" cy="848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FF0000"/>
                </a:solidFill>
                <a:latin typeface="微软雅黑"/>
                <a:cs typeface="微软雅黑"/>
              </a:rPr>
              <a:t>分布式系统：</a:t>
            </a:r>
            <a:r>
              <a:rPr sz="1800" dirty="0">
                <a:solidFill>
                  <a:srgbClr val="FF0000"/>
                </a:solidFill>
                <a:latin typeface="Calibri"/>
                <a:cs typeface="Calibri"/>
              </a:rPr>
              <a:t>1202</a:t>
            </a:r>
            <a:r>
              <a:rPr sz="1800" spc="-30" dirty="0">
                <a:solidFill>
                  <a:srgbClr val="FF0000"/>
                </a:solidFill>
                <a:latin typeface="Calibri"/>
                <a:cs typeface="Calibri"/>
              </a:rPr>
              <a:t> </a:t>
            </a:r>
            <a:r>
              <a:rPr sz="1800" dirty="0">
                <a:solidFill>
                  <a:srgbClr val="FF0000"/>
                </a:solidFill>
                <a:latin typeface="微软雅黑"/>
                <a:cs typeface="微软雅黑"/>
              </a:rPr>
              <a:t>个</a:t>
            </a:r>
            <a:r>
              <a:rPr sz="1800" dirty="0">
                <a:solidFill>
                  <a:srgbClr val="FF0000"/>
                </a:solidFill>
                <a:latin typeface="Calibri"/>
                <a:cs typeface="Calibri"/>
              </a:rPr>
              <a:t>CPU</a:t>
            </a:r>
            <a:r>
              <a:rPr sz="1800" spc="-45" dirty="0">
                <a:solidFill>
                  <a:srgbClr val="FF0000"/>
                </a:solidFill>
                <a:latin typeface="Calibri"/>
                <a:cs typeface="Calibri"/>
              </a:rPr>
              <a:t> </a:t>
            </a:r>
            <a:r>
              <a:rPr sz="1800" dirty="0">
                <a:solidFill>
                  <a:srgbClr val="FF0000"/>
                </a:solidFill>
                <a:latin typeface="微软雅黑"/>
                <a:cs typeface="微软雅黑"/>
              </a:rPr>
              <a:t>和</a:t>
            </a:r>
            <a:r>
              <a:rPr sz="1800" dirty="0">
                <a:solidFill>
                  <a:srgbClr val="FF0000"/>
                </a:solidFill>
                <a:latin typeface="Calibri"/>
                <a:cs typeface="Calibri"/>
              </a:rPr>
              <a:t>176</a:t>
            </a:r>
            <a:r>
              <a:rPr sz="1800" spc="-30" dirty="0">
                <a:solidFill>
                  <a:srgbClr val="FF0000"/>
                </a:solidFill>
                <a:latin typeface="Calibri"/>
                <a:cs typeface="Calibri"/>
              </a:rPr>
              <a:t> </a:t>
            </a:r>
            <a:r>
              <a:rPr sz="1800" dirty="0">
                <a:solidFill>
                  <a:srgbClr val="FF0000"/>
                </a:solidFill>
                <a:latin typeface="微软雅黑"/>
                <a:cs typeface="微软雅黑"/>
              </a:rPr>
              <a:t>块</a:t>
            </a:r>
            <a:r>
              <a:rPr sz="1800" spc="-25" dirty="0">
                <a:solidFill>
                  <a:srgbClr val="FF0000"/>
                </a:solidFill>
                <a:latin typeface="Calibri"/>
                <a:cs typeface="Calibri"/>
              </a:rPr>
              <a:t>GPU</a:t>
            </a:r>
            <a:r>
              <a:rPr sz="1800" dirty="0">
                <a:solidFill>
                  <a:srgbClr val="FF0000"/>
                </a:solidFill>
                <a:latin typeface="微软雅黑"/>
                <a:cs typeface="微软雅黑"/>
              </a:rPr>
              <a:t>单机版：</a:t>
            </a:r>
            <a:r>
              <a:rPr sz="1800" dirty="0">
                <a:solidFill>
                  <a:srgbClr val="FF0000"/>
                </a:solidFill>
                <a:latin typeface="Calibri"/>
                <a:cs typeface="Calibri"/>
              </a:rPr>
              <a:t>48</a:t>
            </a:r>
            <a:r>
              <a:rPr sz="1800" spc="-20" dirty="0">
                <a:solidFill>
                  <a:srgbClr val="FF0000"/>
                </a:solidFill>
                <a:latin typeface="Calibri"/>
                <a:cs typeface="Calibri"/>
              </a:rPr>
              <a:t> </a:t>
            </a:r>
            <a:r>
              <a:rPr sz="1800" dirty="0">
                <a:solidFill>
                  <a:srgbClr val="FF0000"/>
                </a:solidFill>
                <a:latin typeface="微软雅黑"/>
                <a:cs typeface="微软雅黑"/>
              </a:rPr>
              <a:t>个</a:t>
            </a:r>
            <a:r>
              <a:rPr sz="1800" dirty="0">
                <a:solidFill>
                  <a:srgbClr val="FF0000"/>
                </a:solidFill>
                <a:latin typeface="Calibri"/>
                <a:cs typeface="Calibri"/>
              </a:rPr>
              <a:t>CPU</a:t>
            </a:r>
            <a:r>
              <a:rPr sz="1800" spc="-5" dirty="0">
                <a:solidFill>
                  <a:srgbClr val="FF0000"/>
                </a:solidFill>
                <a:latin typeface="Calibri"/>
                <a:cs typeface="Calibri"/>
              </a:rPr>
              <a:t> </a:t>
            </a:r>
            <a:r>
              <a:rPr sz="1800" dirty="0">
                <a:solidFill>
                  <a:srgbClr val="FF0000"/>
                </a:solidFill>
                <a:latin typeface="微软雅黑"/>
                <a:cs typeface="微软雅黑"/>
              </a:rPr>
              <a:t>和</a:t>
            </a:r>
            <a:r>
              <a:rPr sz="1800" dirty="0">
                <a:solidFill>
                  <a:srgbClr val="FF0000"/>
                </a:solidFill>
                <a:latin typeface="Calibri"/>
                <a:cs typeface="Calibri"/>
              </a:rPr>
              <a:t>8</a:t>
            </a:r>
            <a:r>
              <a:rPr sz="1800" spc="-15" dirty="0">
                <a:solidFill>
                  <a:srgbClr val="FF0000"/>
                </a:solidFill>
                <a:latin typeface="Calibri"/>
                <a:cs typeface="Calibri"/>
              </a:rPr>
              <a:t> </a:t>
            </a:r>
            <a:r>
              <a:rPr sz="1800" dirty="0">
                <a:solidFill>
                  <a:srgbClr val="FF0000"/>
                </a:solidFill>
                <a:latin typeface="微软雅黑"/>
                <a:cs typeface="微软雅黑"/>
              </a:rPr>
              <a:t>块</a:t>
            </a:r>
            <a:r>
              <a:rPr sz="1800" spc="-25" dirty="0">
                <a:solidFill>
                  <a:srgbClr val="FF0000"/>
                </a:solidFill>
                <a:latin typeface="Calibri"/>
                <a:cs typeface="Calibri"/>
              </a:rPr>
              <a:t>GPU</a:t>
            </a:r>
            <a:endParaRPr sz="1800">
              <a:latin typeface="Calibri"/>
              <a:cs typeface="Calibri"/>
            </a:endParaRPr>
          </a:p>
          <a:p>
            <a:pPr marL="12700">
              <a:lnSpc>
                <a:spcPct val="100000"/>
              </a:lnSpc>
            </a:pPr>
            <a:r>
              <a:rPr sz="1800" dirty="0">
                <a:solidFill>
                  <a:srgbClr val="FF0000"/>
                </a:solidFill>
                <a:latin typeface="微软雅黑"/>
                <a:cs typeface="微软雅黑"/>
              </a:rPr>
              <a:t>走子速度：</a:t>
            </a:r>
            <a:r>
              <a:rPr sz="1800" dirty="0">
                <a:solidFill>
                  <a:srgbClr val="FF0000"/>
                </a:solidFill>
                <a:latin typeface="Calibri"/>
                <a:cs typeface="Calibri"/>
              </a:rPr>
              <a:t>3</a:t>
            </a:r>
            <a:r>
              <a:rPr sz="1800" spc="-10" dirty="0">
                <a:solidFill>
                  <a:srgbClr val="FF0000"/>
                </a:solidFill>
                <a:latin typeface="Calibri"/>
                <a:cs typeface="Calibri"/>
              </a:rPr>
              <a:t> </a:t>
            </a:r>
            <a:r>
              <a:rPr sz="1800" dirty="0">
                <a:solidFill>
                  <a:srgbClr val="FF0000"/>
                </a:solidFill>
                <a:latin typeface="微软雅黑"/>
                <a:cs typeface="微软雅黑"/>
              </a:rPr>
              <a:t>毫秒</a:t>
            </a:r>
            <a:r>
              <a:rPr sz="1800" dirty="0">
                <a:solidFill>
                  <a:srgbClr val="FF0000"/>
                </a:solidFill>
                <a:latin typeface="Calibri"/>
                <a:cs typeface="Calibri"/>
              </a:rPr>
              <a:t>-2 </a:t>
            </a:r>
            <a:r>
              <a:rPr sz="1800" spc="-25" dirty="0">
                <a:solidFill>
                  <a:srgbClr val="FF0000"/>
                </a:solidFill>
                <a:latin typeface="微软雅黑"/>
                <a:cs typeface="微软雅黑"/>
              </a:rPr>
              <a:t>微秒</a:t>
            </a:r>
            <a:endParaRPr sz="1800">
              <a:latin typeface="微软雅黑"/>
              <a:cs typeface="微软雅黑"/>
            </a:endParaRPr>
          </a:p>
        </p:txBody>
      </p:sp>
      <p:sp>
        <p:nvSpPr>
          <p:cNvPr id="6"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spTree>
    <p:extLst>
      <p:ext uri="{BB962C8B-B14F-4D97-AF65-F5344CB8AC3E}">
        <p14:creationId xmlns:p14="http://schemas.microsoft.com/office/powerpoint/2010/main" val="11420550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280" y="704129"/>
            <a:ext cx="10515600" cy="647554"/>
          </a:xfrm>
          <a:prstGeom prst="rect">
            <a:avLst/>
          </a:prstGeom>
        </p:spPr>
        <p:txBody>
          <a:bodyPr vert="horz" wrap="square" lIns="0" tIns="275531" rIns="0" bIns="0" rtlCol="0">
            <a:spAutoFit/>
          </a:bodyPr>
          <a:lstStyle/>
          <a:p>
            <a:pPr marL="12700">
              <a:lnSpc>
                <a:spcPct val="100000"/>
              </a:lnSpc>
              <a:spcBef>
                <a:spcPts val="100"/>
              </a:spcBef>
            </a:pPr>
            <a:r>
              <a:rPr sz="2400" dirty="0"/>
              <a:t>目标检测（Object Detection）</a:t>
            </a:r>
          </a:p>
        </p:txBody>
      </p:sp>
      <p:pic>
        <p:nvPicPr>
          <p:cNvPr id="3" name="object 3"/>
          <p:cNvPicPr/>
          <p:nvPr/>
        </p:nvPicPr>
        <p:blipFill>
          <a:blip r:embed="rId2" cstate="print"/>
          <a:stretch>
            <a:fillRect/>
          </a:stretch>
        </p:blipFill>
        <p:spPr>
          <a:xfrm>
            <a:off x="1411744" y="1437133"/>
            <a:ext cx="9032734" cy="5420867"/>
          </a:xfrm>
          <a:prstGeom prst="rect">
            <a:avLst/>
          </a:prstGeom>
        </p:spPr>
      </p:pic>
      <p:sp>
        <p:nvSpPr>
          <p:cNvPr id="4"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spTree>
    <p:extLst>
      <p:ext uri="{BB962C8B-B14F-4D97-AF65-F5344CB8AC3E}">
        <p14:creationId xmlns:p14="http://schemas.microsoft.com/office/powerpoint/2010/main" val="2803628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 y="638089"/>
            <a:ext cx="10515600" cy="647554"/>
          </a:xfrm>
          <a:prstGeom prst="rect">
            <a:avLst/>
          </a:prstGeom>
        </p:spPr>
        <p:txBody>
          <a:bodyPr vert="horz" wrap="square" lIns="0" tIns="275531" rIns="0" bIns="0" rtlCol="0">
            <a:spAutoFit/>
          </a:bodyPr>
          <a:lstStyle/>
          <a:p>
            <a:pPr marL="12700">
              <a:lnSpc>
                <a:spcPct val="100000"/>
              </a:lnSpc>
              <a:spcBef>
                <a:spcPts val="100"/>
              </a:spcBef>
            </a:pPr>
            <a:r>
              <a:rPr sz="2400" dirty="0"/>
              <a:t>Mask</a:t>
            </a:r>
            <a:r>
              <a:rPr sz="2400" spc="-40" dirty="0"/>
              <a:t> </a:t>
            </a:r>
            <a:r>
              <a:rPr sz="2400" spc="-20" dirty="0" smtClean="0"/>
              <a:t>RCNN</a:t>
            </a:r>
            <a:r>
              <a:rPr lang="zh-CN" altLang="en-US" sz="2400" spc="-20" dirty="0"/>
              <a:t>实例分割</a:t>
            </a:r>
            <a:endParaRPr sz="2400" spc="-20" dirty="0"/>
          </a:p>
        </p:txBody>
      </p:sp>
      <p:grpSp>
        <p:nvGrpSpPr>
          <p:cNvPr id="3" name="object 3"/>
          <p:cNvGrpSpPr/>
          <p:nvPr/>
        </p:nvGrpSpPr>
        <p:grpSpPr>
          <a:xfrm>
            <a:off x="1328102" y="1411744"/>
            <a:ext cx="9535795" cy="5306695"/>
            <a:chOff x="1342644" y="1269504"/>
            <a:chExt cx="9535795" cy="5306695"/>
          </a:xfrm>
        </p:grpSpPr>
        <p:pic>
          <p:nvPicPr>
            <p:cNvPr id="4" name="object 4"/>
            <p:cNvPicPr/>
            <p:nvPr/>
          </p:nvPicPr>
          <p:blipFill>
            <a:blip r:embed="rId2" cstate="print"/>
            <a:stretch>
              <a:fillRect/>
            </a:stretch>
          </p:blipFill>
          <p:spPr>
            <a:xfrm>
              <a:off x="2971800" y="1295399"/>
              <a:ext cx="5943224" cy="2667735"/>
            </a:xfrm>
            <a:prstGeom prst="rect">
              <a:avLst/>
            </a:prstGeom>
          </p:spPr>
        </p:pic>
        <p:pic>
          <p:nvPicPr>
            <p:cNvPr id="5" name="object 5"/>
            <p:cNvPicPr/>
            <p:nvPr/>
          </p:nvPicPr>
          <p:blipFill>
            <a:blip r:embed="rId3" cstate="print"/>
            <a:stretch>
              <a:fillRect/>
            </a:stretch>
          </p:blipFill>
          <p:spPr>
            <a:xfrm>
              <a:off x="1342644" y="1269504"/>
              <a:ext cx="9535667" cy="5306554"/>
            </a:xfrm>
            <a:prstGeom prst="rect">
              <a:avLst/>
            </a:prstGeom>
          </p:spPr>
        </p:pic>
      </p:grpSp>
      <p:sp>
        <p:nvSpPr>
          <p:cNvPr id="6" name="矩形 5"/>
          <p:cNvSpPr/>
          <p:nvPr/>
        </p:nvSpPr>
        <p:spPr>
          <a:xfrm>
            <a:off x="4907213" y="3244334"/>
            <a:ext cx="2377574" cy="369332"/>
          </a:xfrm>
          <a:prstGeom prst="rect">
            <a:avLst/>
          </a:prstGeom>
        </p:spPr>
        <p:txBody>
          <a:bodyPr wrap="none">
            <a:spAutoFit/>
          </a:bodyPr>
          <a:lstStyle/>
          <a:p>
            <a:r>
              <a:rPr lang="zh-CN" altLang="en-US" b="1" dirty="0"/>
              <a:t>卷积神经网络</a:t>
            </a:r>
            <a:r>
              <a:rPr lang="en-US" altLang="zh-CN" b="1" dirty="0"/>
              <a:t>---</a:t>
            </a:r>
            <a:r>
              <a:rPr lang="zh-CN" altLang="en-US" b="1" dirty="0"/>
              <a:t>应用</a:t>
            </a:r>
          </a:p>
        </p:txBody>
      </p:sp>
      <p:sp>
        <p:nvSpPr>
          <p:cNvPr id="7" name="矩形 6"/>
          <p:cNvSpPr/>
          <p:nvPr/>
        </p:nvSpPr>
        <p:spPr>
          <a:xfrm>
            <a:off x="4907213" y="3244334"/>
            <a:ext cx="2377574" cy="369332"/>
          </a:xfrm>
          <a:prstGeom prst="rect">
            <a:avLst/>
          </a:prstGeom>
        </p:spPr>
        <p:txBody>
          <a:bodyPr wrap="none">
            <a:spAutoFit/>
          </a:bodyPr>
          <a:lstStyle/>
          <a:p>
            <a:r>
              <a:rPr lang="zh-CN" altLang="en-US" b="1" dirty="0"/>
              <a:t>卷积神经网络</a:t>
            </a:r>
            <a:r>
              <a:rPr lang="en-US" altLang="zh-CN" b="1" dirty="0"/>
              <a:t>---</a:t>
            </a:r>
            <a:r>
              <a:rPr lang="zh-CN" altLang="en-US" b="1" dirty="0"/>
              <a:t>应用</a:t>
            </a:r>
          </a:p>
        </p:txBody>
      </p:sp>
      <p:sp>
        <p:nvSpPr>
          <p:cNvPr id="8"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spTree>
    <p:extLst>
      <p:ext uri="{BB962C8B-B14F-4D97-AF65-F5344CB8AC3E}">
        <p14:creationId xmlns:p14="http://schemas.microsoft.com/office/powerpoint/2010/main" val="42336210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sp>
        <p:nvSpPr>
          <p:cNvPr id="4" name="object 4"/>
          <p:cNvSpPr txBox="1"/>
          <p:nvPr/>
        </p:nvSpPr>
        <p:spPr>
          <a:xfrm>
            <a:off x="246378" y="1054188"/>
            <a:ext cx="2049782" cy="382156"/>
          </a:xfrm>
          <a:prstGeom prst="rect">
            <a:avLst/>
          </a:prstGeom>
        </p:spPr>
        <p:txBody>
          <a:bodyPr vert="horz" wrap="square" lIns="0" tIns="12700" rIns="0" bIns="0" rtlCol="0">
            <a:spAutoFit/>
          </a:bodyPr>
          <a:lstStyle/>
          <a:p>
            <a:pPr marL="12700">
              <a:lnSpc>
                <a:spcPct val="100000"/>
              </a:lnSpc>
              <a:spcBef>
                <a:spcPts val="100"/>
              </a:spcBef>
            </a:pPr>
            <a:r>
              <a:rPr sz="2400" b="1" spc="-25" dirty="0" smtClean="0">
                <a:solidFill>
                  <a:srgbClr val="1F4E79"/>
                </a:solidFill>
                <a:latin typeface="微软雅黑"/>
                <a:cs typeface="微软雅黑"/>
              </a:rPr>
              <a:t>OCR</a:t>
            </a:r>
            <a:r>
              <a:rPr lang="zh-CN" altLang="en-US" sz="2400" b="1" spc="-25" dirty="0" smtClean="0">
                <a:solidFill>
                  <a:srgbClr val="1F4E79"/>
                </a:solidFill>
                <a:latin typeface="微软雅黑"/>
                <a:cs typeface="微软雅黑"/>
              </a:rPr>
              <a:t>文字识别</a:t>
            </a:r>
            <a:endParaRPr sz="2400" dirty="0">
              <a:latin typeface="微软雅黑"/>
              <a:cs typeface="微软雅黑"/>
            </a:endParaRPr>
          </a:p>
        </p:txBody>
      </p:sp>
      <p:pic>
        <p:nvPicPr>
          <p:cNvPr id="5" name="object 5"/>
          <p:cNvPicPr/>
          <p:nvPr/>
        </p:nvPicPr>
        <p:blipFill>
          <a:blip r:embed="rId2" cstate="print"/>
          <a:stretch>
            <a:fillRect/>
          </a:stretch>
        </p:blipFill>
        <p:spPr>
          <a:xfrm>
            <a:off x="1034288" y="1783080"/>
            <a:ext cx="9745978" cy="4588763"/>
          </a:xfrm>
          <a:prstGeom prst="rect">
            <a:avLst/>
          </a:prstGeom>
        </p:spPr>
      </p:pic>
    </p:spTree>
    <p:extLst>
      <p:ext uri="{BB962C8B-B14F-4D97-AF65-F5344CB8AC3E}">
        <p14:creationId xmlns:p14="http://schemas.microsoft.com/office/powerpoint/2010/main" val="17913509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778" y="984560"/>
            <a:ext cx="1854200" cy="382156"/>
          </a:xfrm>
          <a:prstGeom prst="rect">
            <a:avLst/>
          </a:prstGeom>
        </p:spPr>
        <p:txBody>
          <a:bodyPr vert="horz" wrap="square" lIns="0" tIns="12700" rIns="0" bIns="0" rtlCol="0">
            <a:spAutoFit/>
          </a:bodyPr>
          <a:lstStyle/>
          <a:p>
            <a:pPr marL="12700">
              <a:lnSpc>
                <a:spcPct val="100000"/>
              </a:lnSpc>
              <a:spcBef>
                <a:spcPts val="100"/>
              </a:spcBef>
            </a:pPr>
            <a:r>
              <a:rPr sz="2400" spc="-15" dirty="0"/>
              <a:t>图像生成</a:t>
            </a:r>
          </a:p>
        </p:txBody>
      </p:sp>
      <p:pic>
        <p:nvPicPr>
          <p:cNvPr id="3" name="object 3"/>
          <p:cNvPicPr/>
          <p:nvPr/>
        </p:nvPicPr>
        <p:blipFill>
          <a:blip r:embed="rId2" cstate="print"/>
          <a:stretch>
            <a:fillRect/>
          </a:stretch>
        </p:blipFill>
        <p:spPr>
          <a:xfrm>
            <a:off x="2175255" y="1631188"/>
            <a:ext cx="5673839" cy="5015483"/>
          </a:xfrm>
          <a:prstGeom prst="rect">
            <a:avLst/>
          </a:prstGeom>
        </p:spPr>
      </p:pic>
      <p:sp>
        <p:nvSpPr>
          <p:cNvPr id="4"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spTree>
    <p:extLst>
      <p:ext uri="{BB962C8B-B14F-4D97-AF65-F5344CB8AC3E}">
        <p14:creationId xmlns:p14="http://schemas.microsoft.com/office/powerpoint/2010/main" val="18191323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14880" y="1625600"/>
            <a:ext cx="7482840" cy="4958080"/>
            <a:chOff x="2209800" y="1143000"/>
            <a:chExt cx="7644765" cy="5067300"/>
          </a:xfrm>
        </p:grpSpPr>
        <p:pic>
          <p:nvPicPr>
            <p:cNvPr id="3" name="object 3"/>
            <p:cNvPicPr/>
            <p:nvPr/>
          </p:nvPicPr>
          <p:blipFill>
            <a:blip r:embed="rId2" cstate="print"/>
            <a:stretch>
              <a:fillRect/>
            </a:stretch>
          </p:blipFill>
          <p:spPr>
            <a:xfrm>
              <a:off x="2209800" y="1143000"/>
              <a:ext cx="7619999" cy="5067299"/>
            </a:xfrm>
            <a:prstGeom prst="rect">
              <a:avLst/>
            </a:prstGeom>
          </p:spPr>
        </p:pic>
        <p:pic>
          <p:nvPicPr>
            <p:cNvPr id="4" name="object 4"/>
            <p:cNvPicPr/>
            <p:nvPr/>
          </p:nvPicPr>
          <p:blipFill>
            <a:blip r:embed="rId3" cstate="print"/>
            <a:stretch>
              <a:fillRect/>
            </a:stretch>
          </p:blipFill>
          <p:spPr>
            <a:xfrm>
              <a:off x="2223516" y="1143000"/>
              <a:ext cx="7630667" cy="5067299"/>
            </a:xfrm>
            <a:prstGeom prst="rect">
              <a:avLst/>
            </a:prstGeom>
          </p:spPr>
        </p:pic>
      </p:grpSp>
      <p:sp>
        <p:nvSpPr>
          <p:cNvPr id="5" name="object 5"/>
          <p:cNvSpPr txBox="1">
            <a:spLocks noGrp="1"/>
          </p:cNvSpPr>
          <p:nvPr>
            <p:ph type="title"/>
          </p:nvPr>
        </p:nvSpPr>
        <p:spPr>
          <a:xfrm>
            <a:off x="228600" y="732545"/>
            <a:ext cx="5826760" cy="647554"/>
          </a:xfrm>
          <a:prstGeom prst="rect">
            <a:avLst/>
          </a:prstGeom>
        </p:spPr>
        <p:txBody>
          <a:bodyPr vert="horz" wrap="square" lIns="0" tIns="275531" rIns="0" bIns="0" rtlCol="0">
            <a:spAutoFit/>
          </a:bodyPr>
          <a:lstStyle/>
          <a:p>
            <a:pPr marL="12700">
              <a:lnSpc>
                <a:spcPct val="100000"/>
              </a:lnSpc>
              <a:spcBef>
                <a:spcPts val="100"/>
              </a:spcBef>
            </a:pPr>
            <a:r>
              <a:rPr sz="2400" dirty="0"/>
              <a:t>Deep</a:t>
            </a:r>
            <a:r>
              <a:rPr sz="2400" spc="-95" dirty="0"/>
              <a:t> </a:t>
            </a:r>
            <a:r>
              <a:rPr sz="2400" spc="-20" dirty="0" smtClean="0"/>
              <a:t>Dream</a:t>
            </a:r>
            <a:r>
              <a:rPr lang="zh-CN" altLang="en-US" sz="2400" dirty="0"/>
              <a:t>超现实的视觉效果</a:t>
            </a:r>
            <a:endParaRPr sz="2400" spc="-20" dirty="0"/>
          </a:p>
        </p:txBody>
      </p:sp>
      <p:sp>
        <p:nvSpPr>
          <p:cNvPr id="6"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spTree>
    <p:extLst>
      <p:ext uri="{BB962C8B-B14F-4D97-AF65-F5344CB8AC3E}">
        <p14:creationId xmlns:p14="http://schemas.microsoft.com/office/powerpoint/2010/main" val="26648664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58" y="862640"/>
            <a:ext cx="1854200" cy="382156"/>
          </a:xfrm>
          <a:prstGeom prst="rect">
            <a:avLst/>
          </a:prstGeom>
        </p:spPr>
        <p:txBody>
          <a:bodyPr vert="horz" wrap="square" lIns="0" tIns="12700" rIns="0" bIns="0" rtlCol="0">
            <a:spAutoFit/>
          </a:bodyPr>
          <a:lstStyle/>
          <a:p>
            <a:pPr marL="12700">
              <a:lnSpc>
                <a:spcPct val="100000"/>
              </a:lnSpc>
              <a:spcBef>
                <a:spcPts val="100"/>
              </a:spcBef>
            </a:pPr>
            <a:r>
              <a:rPr sz="2400" spc="-15" dirty="0"/>
              <a:t>画风迁移</a:t>
            </a:r>
          </a:p>
        </p:txBody>
      </p:sp>
      <p:pic>
        <p:nvPicPr>
          <p:cNvPr id="3" name="object 3"/>
          <p:cNvPicPr/>
          <p:nvPr/>
        </p:nvPicPr>
        <p:blipFill>
          <a:blip r:embed="rId2" cstate="print"/>
          <a:stretch>
            <a:fillRect/>
          </a:stretch>
        </p:blipFill>
        <p:spPr>
          <a:xfrm>
            <a:off x="1876044" y="1435608"/>
            <a:ext cx="6468700" cy="4810797"/>
          </a:xfrm>
          <a:prstGeom prst="rect">
            <a:avLst/>
          </a:prstGeom>
        </p:spPr>
      </p:pic>
      <p:sp>
        <p:nvSpPr>
          <p:cNvPr id="4"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spTree>
    <p:extLst>
      <p:ext uri="{BB962C8B-B14F-4D97-AF65-F5344CB8AC3E}">
        <p14:creationId xmlns:p14="http://schemas.microsoft.com/office/powerpoint/2010/main" val="4184008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698" y="837240"/>
            <a:ext cx="1854200" cy="382156"/>
          </a:xfrm>
          <a:prstGeom prst="rect">
            <a:avLst/>
          </a:prstGeom>
        </p:spPr>
        <p:txBody>
          <a:bodyPr vert="horz" wrap="square" lIns="0" tIns="12700" rIns="0" bIns="0" rtlCol="0">
            <a:spAutoFit/>
          </a:bodyPr>
          <a:lstStyle/>
          <a:p>
            <a:pPr marL="12700">
              <a:lnSpc>
                <a:spcPct val="100000"/>
              </a:lnSpc>
              <a:spcBef>
                <a:spcPts val="100"/>
              </a:spcBef>
            </a:pPr>
            <a:r>
              <a:rPr sz="2400" spc="-15" dirty="0"/>
              <a:t>对抗样本</a:t>
            </a:r>
          </a:p>
        </p:txBody>
      </p:sp>
      <p:sp>
        <p:nvSpPr>
          <p:cNvPr id="4" name="标题 1">
            <a:extLst>
              <a:ext uri="{FF2B5EF4-FFF2-40B4-BE49-F238E27FC236}">
                <a16:creationId xmlns:a16="http://schemas.microsoft.com/office/drawing/2014/main" id="{A1BABAE5-CE23-E738-5B71-C2169A05176B}"/>
              </a:ext>
            </a:extLst>
          </p:cNvPr>
          <p:cNvSpPr txBox="1">
            <a:spLocks/>
          </p:cNvSpPr>
          <p:nvPr/>
        </p:nvSpPr>
        <p:spPr>
          <a:xfrm>
            <a:off x="166676" y="130745"/>
            <a:ext cx="10515600" cy="7151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smtClean="0"/>
              <a:t>卷积神经网络</a:t>
            </a:r>
            <a:r>
              <a:rPr lang="en-US" altLang="zh-CN" sz="3200" b="1" dirty="0" smtClean="0"/>
              <a:t>---</a:t>
            </a:r>
            <a:r>
              <a:rPr lang="zh-CN" altLang="en-US" sz="3200" b="1" dirty="0" smtClean="0"/>
              <a:t>应用</a:t>
            </a:r>
            <a:endParaRPr lang="zh-CN" altLang="en-US" sz="3200" b="1"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878" y="1844852"/>
            <a:ext cx="8798562" cy="3849828"/>
          </a:xfrm>
          <a:prstGeom prst="rect">
            <a:avLst/>
          </a:prstGeom>
        </p:spPr>
      </p:pic>
    </p:spTree>
    <p:extLst>
      <p:ext uri="{BB962C8B-B14F-4D97-AF65-F5344CB8AC3E}">
        <p14:creationId xmlns:p14="http://schemas.microsoft.com/office/powerpoint/2010/main" val="37526467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 y="182245"/>
            <a:ext cx="4348480" cy="864235"/>
          </a:xfrm>
        </p:spPr>
        <p:txBody>
          <a:bodyPr>
            <a:normAutofit/>
          </a:bodyPr>
          <a:lstStyle/>
          <a:p>
            <a:r>
              <a:rPr lang="zh-CN" altLang="en-US" sz="3200" dirty="0">
                <a:solidFill>
                  <a:schemeClr val="tx1"/>
                </a:solidFill>
                <a:latin typeface="+mj-lt"/>
                <a:cs typeface="+mj-cs"/>
              </a:rPr>
              <a:t>循环神经网络</a:t>
            </a:r>
            <a:r>
              <a:rPr lang="en-US" altLang="zh-CN" sz="3200" dirty="0">
                <a:solidFill>
                  <a:schemeClr val="tx1"/>
                </a:solidFill>
                <a:latin typeface="+mj-lt"/>
                <a:cs typeface="+mj-cs"/>
              </a:rPr>
              <a:t>---</a:t>
            </a:r>
            <a:r>
              <a:rPr lang="zh-CN" altLang="en-US" sz="3200" dirty="0" smtClean="0">
                <a:solidFill>
                  <a:schemeClr val="tx1"/>
                </a:solidFill>
                <a:latin typeface="+mj-lt"/>
                <a:cs typeface="+mj-cs"/>
              </a:rPr>
              <a:t>引入</a:t>
            </a:r>
            <a:endParaRPr lang="zh-CN" altLang="en-US" sz="3200" dirty="0">
              <a:solidFill>
                <a:schemeClr val="tx1"/>
              </a:solidFill>
              <a:latin typeface="+mj-lt"/>
              <a:cs typeface="+mj-cs"/>
            </a:endParaRPr>
          </a:p>
        </p:txBody>
      </p:sp>
      <p:sp>
        <p:nvSpPr>
          <p:cNvPr id="3" name="object 2"/>
          <p:cNvSpPr txBox="1">
            <a:spLocks/>
          </p:cNvSpPr>
          <p:nvPr/>
        </p:nvSpPr>
        <p:spPr>
          <a:xfrm>
            <a:off x="198120" y="1046480"/>
            <a:ext cx="7849870" cy="3821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3600" b="1" i="0" kern="1200">
                <a:solidFill>
                  <a:srgbClr val="1F4E79"/>
                </a:solidFill>
                <a:latin typeface="微软雅黑"/>
                <a:ea typeface="+mj-ea"/>
                <a:cs typeface="微软雅黑"/>
              </a:defRPr>
            </a:lvl1pPr>
          </a:lstStyle>
          <a:p>
            <a:pPr marL="12700">
              <a:lnSpc>
                <a:spcPct val="100000"/>
              </a:lnSpc>
              <a:spcBef>
                <a:spcPts val="100"/>
              </a:spcBef>
            </a:pPr>
            <a:r>
              <a:rPr lang="zh-CN" altLang="en-US" sz="2400" dirty="0">
                <a:latin typeface="+mn-lt"/>
                <a:ea typeface="+mn-ea"/>
                <a:cs typeface="Microsoft YaHei"/>
              </a:rPr>
              <a:t>有限状态自动机</a:t>
            </a:r>
            <a:r>
              <a:rPr lang="zh-CN" altLang="en-US" sz="2400" spc="-5" dirty="0" smtClean="0"/>
              <a:t>（</a:t>
            </a:r>
            <a:r>
              <a:rPr lang="en-US" sz="2400" spc="-5" dirty="0" smtClean="0"/>
              <a:t>Finite</a:t>
            </a:r>
            <a:r>
              <a:rPr lang="en-US" sz="2400" spc="-60" dirty="0" smtClean="0"/>
              <a:t> </a:t>
            </a:r>
            <a:r>
              <a:rPr lang="en-US" sz="2400" spc="-5" dirty="0" smtClean="0"/>
              <a:t>Automata）</a:t>
            </a:r>
            <a:endParaRPr lang="en-US" sz="2400" dirty="0"/>
          </a:p>
        </p:txBody>
      </p:sp>
      <p:pic>
        <p:nvPicPr>
          <p:cNvPr id="4" name="object 3"/>
          <p:cNvPicPr/>
          <p:nvPr/>
        </p:nvPicPr>
        <p:blipFill>
          <a:blip r:embed="rId2" cstate="print"/>
          <a:stretch>
            <a:fillRect/>
          </a:stretch>
        </p:blipFill>
        <p:spPr>
          <a:xfrm>
            <a:off x="2066994" y="1613273"/>
            <a:ext cx="4486206" cy="1770007"/>
          </a:xfrm>
          <a:prstGeom prst="rect">
            <a:avLst/>
          </a:prstGeom>
        </p:spPr>
      </p:pic>
      <p:sp>
        <p:nvSpPr>
          <p:cNvPr id="5" name="object 2"/>
          <p:cNvSpPr txBox="1"/>
          <p:nvPr/>
        </p:nvSpPr>
        <p:spPr>
          <a:xfrm>
            <a:off x="387985" y="3294380"/>
            <a:ext cx="8432165" cy="889987"/>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1F4E79"/>
                </a:solidFill>
                <a:cs typeface="Microsoft YaHei"/>
              </a:rPr>
              <a:t>图灵机</a:t>
            </a:r>
            <a:endParaRPr sz="2400" dirty="0">
              <a:cs typeface="Microsoft YaHei"/>
            </a:endParaRPr>
          </a:p>
          <a:p>
            <a:pPr marL="241300" indent="-228600">
              <a:lnSpc>
                <a:spcPct val="100000"/>
              </a:lnSpc>
              <a:spcBef>
                <a:spcPts val="600"/>
              </a:spcBef>
              <a:buFont typeface="Arial MT"/>
              <a:buChar char="•"/>
              <a:tabLst>
                <a:tab pos="241300" algn="l"/>
              </a:tabLst>
            </a:pPr>
            <a:r>
              <a:rPr sz="2400" dirty="0">
                <a:latin typeface="Microsoft YaHei"/>
                <a:cs typeface="Microsoft YaHei"/>
              </a:rPr>
              <a:t>一种抽象数学模型，可以用来模拟任何可计算问题</a:t>
            </a:r>
            <a:r>
              <a:rPr sz="2800" spc="-5" dirty="0">
                <a:latin typeface="Microsoft YaHei"/>
                <a:cs typeface="Microsoft YaHei"/>
              </a:rPr>
              <a:t>。</a:t>
            </a:r>
            <a:endParaRPr sz="2800" dirty="0">
              <a:latin typeface="Microsoft YaHei"/>
              <a:cs typeface="Microsoft YaHei"/>
            </a:endParaRPr>
          </a:p>
        </p:txBody>
      </p:sp>
      <p:pic>
        <p:nvPicPr>
          <p:cNvPr id="6" name="object 3"/>
          <p:cNvPicPr/>
          <p:nvPr/>
        </p:nvPicPr>
        <p:blipFill>
          <a:blip r:embed="rId3" cstate="print"/>
          <a:stretch>
            <a:fillRect/>
          </a:stretch>
        </p:blipFill>
        <p:spPr>
          <a:xfrm>
            <a:off x="3103880" y="4605525"/>
            <a:ext cx="3851606" cy="1444586"/>
          </a:xfrm>
          <a:prstGeom prst="rect">
            <a:avLst/>
          </a:prstGeom>
        </p:spPr>
      </p:pic>
      <p:sp>
        <p:nvSpPr>
          <p:cNvPr id="7" name="object 24"/>
          <p:cNvSpPr/>
          <p:nvPr/>
        </p:nvSpPr>
        <p:spPr>
          <a:xfrm>
            <a:off x="7620000" y="1168400"/>
            <a:ext cx="863600" cy="4500879"/>
          </a:xfrm>
          <a:custGeom>
            <a:avLst/>
            <a:gdLst/>
            <a:ahLst/>
            <a:cxnLst/>
            <a:rect l="l" t="t" r="r" b="b"/>
            <a:pathLst>
              <a:path w="309879" h="816610">
                <a:moveTo>
                  <a:pt x="152133" y="20320"/>
                </a:moveTo>
                <a:lnTo>
                  <a:pt x="125374" y="20320"/>
                </a:lnTo>
                <a:lnTo>
                  <a:pt x="116598" y="17780"/>
                </a:lnTo>
                <a:lnTo>
                  <a:pt x="116776" y="17780"/>
                </a:lnTo>
                <a:lnTo>
                  <a:pt x="106946" y="16510"/>
                </a:lnTo>
                <a:lnTo>
                  <a:pt x="107086" y="16510"/>
                </a:lnTo>
                <a:lnTo>
                  <a:pt x="96266" y="15240"/>
                </a:lnTo>
                <a:lnTo>
                  <a:pt x="84658" y="12700"/>
                </a:lnTo>
                <a:lnTo>
                  <a:pt x="72199" y="11430"/>
                </a:lnTo>
                <a:lnTo>
                  <a:pt x="59067" y="11430"/>
                </a:lnTo>
                <a:lnTo>
                  <a:pt x="45072" y="10160"/>
                </a:lnTo>
                <a:lnTo>
                  <a:pt x="30543" y="8890"/>
                </a:lnTo>
                <a:lnTo>
                  <a:pt x="0" y="8890"/>
                </a:lnTo>
                <a:lnTo>
                  <a:pt x="76" y="0"/>
                </a:lnTo>
                <a:lnTo>
                  <a:pt x="45643" y="0"/>
                </a:lnTo>
                <a:lnTo>
                  <a:pt x="85839" y="3810"/>
                </a:lnTo>
                <a:lnTo>
                  <a:pt x="108661" y="6350"/>
                </a:lnTo>
                <a:lnTo>
                  <a:pt x="118668" y="8890"/>
                </a:lnTo>
                <a:lnTo>
                  <a:pt x="127673" y="10160"/>
                </a:lnTo>
                <a:lnTo>
                  <a:pt x="150050" y="19050"/>
                </a:lnTo>
                <a:lnTo>
                  <a:pt x="150431" y="19050"/>
                </a:lnTo>
                <a:lnTo>
                  <a:pt x="152133" y="20320"/>
                </a:lnTo>
                <a:close/>
              </a:path>
              <a:path w="309879" h="816610">
                <a:moveTo>
                  <a:pt x="157149" y="29210"/>
                </a:moveTo>
                <a:lnTo>
                  <a:pt x="147866" y="29210"/>
                </a:lnTo>
                <a:lnTo>
                  <a:pt x="146888" y="27940"/>
                </a:lnTo>
                <a:lnTo>
                  <a:pt x="146558" y="27940"/>
                </a:lnTo>
                <a:lnTo>
                  <a:pt x="144856" y="26670"/>
                </a:lnTo>
                <a:lnTo>
                  <a:pt x="143484" y="26670"/>
                </a:lnTo>
                <a:lnTo>
                  <a:pt x="141084" y="25400"/>
                </a:lnTo>
                <a:lnTo>
                  <a:pt x="141338" y="25400"/>
                </a:lnTo>
                <a:lnTo>
                  <a:pt x="138607" y="24130"/>
                </a:lnTo>
                <a:lnTo>
                  <a:pt x="138899" y="24130"/>
                </a:lnTo>
                <a:lnTo>
                  <a:pt x="132486" y="21590"/>
                </a:lnTo>
                <a:lnTo>
                  <a:pt x="132778" y="21590"/>
                </a:lnTo>
                <a:lnTo>
                  <a:pt x="125145" y="20320"/>
                </a:lnTo>
                <a:lnTo>
                  <a:pt x="152590" y="20320"/>
                </a:lnTo>
                <a:lnTo>
                  <a:pt x="153936" y="21590"/>
                </a:lnTo>
                <a:lnTo>
                  <a:pt x="154470" y="22860"/>
                </a:lnTo>
                <a:lnTo>
                  <a:pt x="155435" y="24130"/>
                </a:lnTo>
                <a:lnTo>
                  <a:pt x="155981" y="25400"/>
                </a:lnTo>
                <a:lnTo>
                  <a:pt x="156578" y="26670"/>
                </a:lnTo>
                <a:lnTo>
                  <a:pt x="156946" y="27940"/>
                </a:lnTo>
                <a:lnTo>
                  <a:pt x="157149" y="29210"/>
                </a:lnTo>
                <a:close/>
              </a:path>
              <a:path w="309879" h="816610">
                <a:moveTo>
                  <a:pt x="147434" y="29210"/>
                </a:moveTo>
                <a:lnTo>
                  <a:pt x="146088" y="27940"/>
                </a:lnTo>
                <a:lnTo>
                  <a:pt x="146888" y="27940"/>
                </a:lnTo>
                <a:lnTo>
                  <a:pt x="147434" y="29210"/>
                </a:lnTo>
                <a:close/>
              </a:path>
              <a:path w="309879" h="816610">
                <a:moveTo>
                  <a:pt x="147640" y="29906"/>
                </a:moveTo>
                <a:lnTo>
                  <a:pt x="147320" y="29210"/>
                </a:lnTo>
                <a:lnTo>
                  <a:pt x="147535" y="29210"/>
                </a:lnTo>
                <a:lnTo>
                  <a:pt x="147640" y="29906"/>
                </a:lnTo>
                <a:close/>
              </a:path>
              <a:path w="309879" h="816610">
                <a:moveTo>
                  <a:pt x="147675" y="29983"/>
                </a:moveTo>
                <a:lnTo>
                  <a:pt x="147535" y="29210"/>
                </a:lnTo>
                <a:lnTo>
                  <a:pt x="147675" y="29691"/>
                </a:lnTo>
                <a:lnTo>
                  <a:pt x="147675" y="29983"/>
                </a:lnTo>
                <a:close/>
              </a:path>
              <a:path w="309879" h="816610">
                <a:moveTo>
                  <a:pt x="147675" y="29691"/>
                </a:moveTo>
                <a:lnTo>
                  <a:pt x="147535" y="29210"/>
                </a:lnTo>
                <a:lnTo>
                  <a:pt x="147675" y="29210"/>
                </a:lnTo>
                <a:lnTo>
                  <a:pt x="147675" y="29691"/>
                </a:lnTo>
                <a:close/>
              </a:path>
              <a:path w="309879" h="816610">
                <a:moveTo>
                  <a:pt x="157200" y="30480"/>
                </a:moveTo>
                <a:lnTo>
                  <a:pt x="147904" y="30480"/>
                </a:lnTo>
                <a:lnTo>
                  <a:pt x="147781" y="30056"/>
                </a:lnTo>
                <a:lnTo>
                  <a:pt x="147675" y="29210"/>
                </a:lnTo>
                <a:lnTo>
                  <a:pt x="157200" y="29210"/>
                </a:lnTo>
                <a:lnTo>
                  <a:pt x="157200" y="30480"/>
                </a:lnTo>
                <a:close/>
              </a:path>
              <a:path w="309879" h="816610">
                <a:moveTo>
                  <a:pt x="147904" y="30480"/>
                </a:moveTo>
                <a:lnTo>
                  <a:pt x="147748" y="30141"/>
                </a:lnTo>
                <a:lnTo>
                  <a:pt x="147697" y="29768"/>
                </a:lnTo>
                <a:lnTo>
                  <a:pt x="147904" y="30480"/>
                </a:lnTo>
                <a:close/>
              </a:path>
              <a:path w="309879" h="816610">
                <a:moveTo>
                  <a:pt x="147904" y="30480"/>
                </a:moveTo>
                <a:lnTo>
                  <a:pt x="147726" y="30480"/>
                </a:lnTo>
                <a:lnTo>
                  <a:pt x="147709" y="30056"/>
                </a:lnTo>
                <a:lnTo>
                  <a:pt x="147904" y="30480"/>
                </a:lnTo>
                <a:close/>
              </a:path>
              <a:path w="309879" h="816610">
                <a:moveTo>
                  <a:pt x="172389" y="389890"/>
                </a:moveTo>
                <a:lnTo>
                  <a:pt x="150406" y="389890"/>
                </a:lnTo>
                <a:lnTo>
                  <a:pt x="149440" y="388620"/>
                </a:lnTo>
                <a:lnTo>
                  <a:pt x="148894" y="387350"/>
                </a:lnTo>
                <a:lnTo>
                  <a:pt x="148297" y="386080"/>
                </a:lnTo>
                <a:lnTo>
                  <a:pt x="147929" y="384810"/>
                </a:lnTo>
                <a:lnTo>
                  <a:pt x="147726" y="383540"/>
                </a:lnTo>
                <a:lnTo>
                  <a:pt x="147675" y="30141"/>
                </a:lnTo>
                <a:lnTo>
                  <a:pt x="147726" y="30480"/>
                </a:lnTo>
                <a:lnTo>
                  <a:pt x="157200" y="30480"/>
                </a:lnTo>
                <a:lnTo>
                  <a:pt x="157200" y="382270"/>
                </a:lnTo>
                <a:lnTo>
                  <a:pt x="156972" y="382270"/>
                </a:lnTo>
                <a:lnTo>
                  <a:pt x="157340" y="383540"/>
                </a:lnTo>
                <a:lnTo>
                  <a:pt x="158788" y="384810"/>
                </a:lnTo>
                <a:lnTo>
                  <a:pt x="159651" y="384810"/>
                </a:lnTo>
                <a:lnTo>
                  <a:pt x="161696" y="386080"/>
                </a:lnTo>
                <a:lnTo>
                  <a:pt x="161391" y="386080"/>
                </a:lnTo>
                <a:lnTo>
                  <a:pt x="163791" y="387350"/>
                </a:lnTo>
                <a:lnTo>
                  <a:pt x="163537" y="387350"/>
                </a:lnTo>
                <a:lnTo>
                  <a:pt x="166268" y="388620"/>
                </a:lnTo>
                <a:lnTo>
                  <a:pt x="169183" y="388620"/>
                </a:lnTo>
                <a:lnTo>
                  <a:pt x="172389" y="389890"/>
                </a:lnTo>
                <a:close/>
              </a:path>
              <a:path w="309879" h="816610">
                <a:moveTo>
                  <a:pt x="157340" y="383540"/>
                </a:moveTo>
                <a:lnTo>
                  <a:pt x="156972" y="382270"/>
                </a:lnTo>
                <a:lnTo>
                  <a:pt x="157235" y="382843"/>
                </a:lnTo>
                <a:lnTo>
                  <a:pt x="157340" y="383540"/>
                </a:lnTo>
                <a:close/>
              </a:path>
              <a:path w="309879" h="816610">
                <a:moveTo>
                  <a:pt x="157235" y="382843"/>
                </a:moveTo>
                <a:lnTo>
                  <a:pt x="156972" y="382270"/>
                </a:lnTo>
                <a:lnTo>
                  <a:pt x="157224" y="382768"/>
                </a:lnTo>
                <a:close/>
              </a:path>
              <a:path w="309879" h="816610">
                <a:moveTo>
                  <a:pt x="157224" y="382768"/>
                </a:moveTo>
                <a:lnTo>
                  <a:pt x="157010" y="382270"/>
                </a:lnTo>
                <a:lnTo>
                  <a:pt x="157184" y="382499"/>
                </a:lnTo>
                <a:lnTo>
                  <a:pt x="157224" y="382768"/>
                </a:lnTo>
                <a:close/>
              </a:path>
              <a:path w="309879" h="816610">
                <a:moveTo>
                  <a:pt x="157184" y="382499"/>
                </a:moveTo>
                <a:lnTo>
                  <a:pt x="157010" y="382270"/>
                </a:lnTo>
                <a:lnTo>
                  <a:pt x="157149" y="382270"/>
                </a:lnTo>
                <a:lnTo>
                  <a:pt x="157184" y="382499"/>
                </a:lnTo>
                <a:close/>
              </a:path>
              <a:path w="309879" h="816610">
                <a:moveTo>
                  <a:pt x="157975" y="383540"/>
                </a:moveTo>
                <a:lnTo>
                  <a:pt x="157556" y="383540"/>
                </a:lnTo>
                <a:lnTo>
                  <a:pt x="157256" y="382843"/>
                </a:lnTo>
                <a:lnTo>
                  <a:pt x="157184" y="382499"/>
                </a:lnTo>
                <a:lnTo>
                  <a:pt x="157975" y="383540"/>
                </a:lnTo>
                <a:close/>
              </a:path>
              <a:path w="309879" h="816610">
                <a:moveTo>
                  <a:pt x="157556" y="383540"/>
                </a:moveTo>
                <a:lnTo>
                  <a:pt x="157340" y="383540"/>
                </a:lnTo>
                <a:lnTo>
                  <a:pt x="157235" y="382843"/>
                </a:lnTo>
                <a:lnTo>
                  <a:pt x="157556" y="383540"/>
                </a:lnTo>
                <a:close/>
              </a:path>
              <a:path w="309879" h="816610">
                <a:moveTo>
                  <a:pt x="160020" y="384810"/>
                </a:moveTo>
                <a:lnTo>
                  <a:pt x="158788" y="384810"/>
                </a:lnTo>
                <a:lnTo>
                  <a:pt x="158318" y="383540"/>
                </a:lnTo>
                <a:lnTo>
                  <a:pt x="160020" y="384810"/>
                </a:lnTo>
                <a:close/>
              </a:path>
              <a:path w="309879" h="816610">
                <a:moveTo>
                  <a:pt x="169183" y="388620"/>
                </a:moveTo>
                <a:lnTo>
                  <a:pt x="166268" y="388620"/>
                </a:lnTo>
                <a:lnTo>
                  <a:pt x="165976" y="387350"/>
                </a:lnTo>
                <a:lnTo>
                  <a:pt x="169183" y="388620"/>
                </a:lnTo>
                <a:close/>
              </a:path>
              <a:path w="309879" h="816610">
                <a:moveTo>
                  <a:pt x="179730" y="392430"/>
                </a:moveTo>
                <a:lnTo>
                  <a:pt x="154444" y="392430"/>
                </a:lnTo>
                <a:lnTo>
                  <a:pt x="152742" y="391160"/>
                </a:lnTo>
                <a:lnTo>
                  <a:pt x="152285" y="391160"/>
                </a:lnTo>
                <a:lnTo>
                  <a:pt x="150939" y="389890"/>
                </a:lnTo>
                <a:lnTo>
                  <a:pt x="172085" y="389890"/>
                </a:lnTo>
                <a:lnTo>
                  <a:pt x="179730" y="392430"/>
                </a:lnTo>
                <a:close/>
              </a:path>
              <a:path w="309879" h="816610">
                <a:moveTo>
                  <a:pt x="215125" y="408101"/>
                </a:moveTo>
                <a:lnTo>
                  <a:pt x="207187" y="406400"/>
                </a:lnTo>
                <a:lnTo>
                  <a:pt x="196215" y="405130"/>
                </a:lnTo>
                <a:lnTo>
                  <a:pt x="186207" y="403860"/>
                </a:lnTo>
                <a:lnTo>
                  <a:pt x="154825" y="392430"/>
                </a:lnTo>
                <a:lnTo>
                  <a:pt x="179501" y="392430"/>
                </a:lnTo>
                <a:lnTo>
                  <a:pt x="188277" y="393700"/>
                </a:lnTo>
                <a:lnTo>
                  <a:pt x="188099" y="393700"/>
                </a:lnTo>
                <a:lnTo>
                  <a:pt x="197929" y="396240"/>
                </a:lnTo>
                <a:lnTo>
                  <a:pt x="197789" y="396240"/>
                </a:lnTo>
                <a:lnTo>
                  <a:pt x="208610" y="397510"/>
                </a:lnTo>
                <a:lnTo>
                  <a:pt x="220218" y="398780"/>
                </a:lnTo>
                <a:lnTo>
                  <a:pt x="232676" y="400050"/>
                </a:lnTo>
                <a:lnTo>
                  <a:pt x="245897" y="401320"/>
                </a:lnTo>
                <a:lnTo>
                  <a:pt x="259803" y="402590"/>
                </a:lnTo>
                <a:lnTo>
                  <a:pt x="304800" y="402590"/>
                </a:lnTo>
                <a:lnTo>
                  <a:pt x="289128" y="403860"/>
                </a:lnTo>
                <a:lnTo>
                  <a:pt x="259308" y="403860"/>
                </a:lnTo>
                <a:lnTo>
                  <a:pt x="219151" y="407670"/>
                </a:lnTo>
                <a:lnTo>
                  <a:pt x="215125" y="408101"/>
                </a:lnTo>
                <a:close/>
              </a:path>
              <a:path w="309879" h="816610">
                <a:moveTo>
                  <a:pt x="304800" y="412750"/>
                </a:moveTo>
                <a:lnTo>
                  <a:pt x="274002" y="412750"/>
                </a:lnTo>
                <a:lnTo>
                  <a:pt x="245224" y="410210"/>
                </a:lnTo>
                <a:lnTo>
                  <a:pt x="231813" y="410210"/>
                </a:lnTo>
                <a:lnTo>
                  <a:pt x="219036" y="408940"/>
                </a:lnTo>
                <a:lnTo>
                  <a:pt x="215125" y="408101"/>
                </a:lnTo>
                <a:lnTo>
                  <a:pt x="219151" y="407670"/>
                </a:lnTo>
                <a:lnTo>
                  <a:pt x="259308" y="403860"/>
                </a:lnTo>
                <a:lnTo>
                  <a:pt x="289128" y="403860"/>
                </a:lnTo>
                <a:lnTo>
                  <a:pt x="304800" y="402590"/>
                </a:lnTo>
                <a:lnTo>
                  <a:pt x="304800" y="412750"/>
                </a:lnTo>
                <a:close/>
              </a:path>
              <a:path w="309879" h="816610">
                <a:moveTo>
                  <a:pt x="306489" y="412750"/>
                </a:moveTo>
                <a:lnTo>
                  <a:pt x="304800" y="412750"/>
                </a:lnTo>
                <a:lnTo>
                  <a:pt x="304800" y="402590"/>
                </a:lnTo>
                <a:lnTo>
                  <a:pt x="306489" y="403860"/>
                </a:lnTo>
                <a:lnTo>
                  <a:pt x="307911" y="403860"/>
                </a:lnTo>
                <a:lnTo>
                  <a:pt x="308965" y="405130"/>
                </a:lnTo>
                <a:lnTo>
                  <a:pt x="309524" y="407670"/>
                </a:lnTo>
                <a:lnTo>
                  <a:pt x="309524" y="408940"/>
                </a:lnTo>
                <a:lnTo>
                  <a:pt x="308965" y="410210"/>
                </a:lnTo>
                <a:lnTo>
                  <a:pt x="307911" y="411480"/>
                </a:lnTo>
                <a:lnTo>
                  <a:pt x="306489" y="412750"/>
                </a:lnTo>
                <a:close/>
              </a:path>
              <a:path w="309879" h="816610">
                <a:moveTo>
                  <a:pt x="179501" y="424180"/>
                </a:moveTo>
                <a:lnTo>
                  <a:pt x="152742" y="424180"/>
                </a:lnTo>
                <a:lnTo>
                  <a:pt x="154444" y="422910"/>
                </a:lnTo>
                <a:lnTo>
                  <a:pt x="154825" y="422910"/>
                </a:lnTo>
                <a:lnTo>
                  <a:pt x="157187" y="421640"/>
                </a:lnTo>
                <a:lnTo>
                  <a:pt x="186385" y="412750"/>
                </a:lnTo>
                <a:lnTo>
                  <a:pt x="196354" y="410210"/>
                </a:lnTo>
                <a:lnTo>
                  <a:pt x="215125" y="408101"/>
                </a:lnTo>
                <a:lnTo>
                  <a:pt x="219036" y="408940"/>
                </a:lnTo>
                <a:lnTo>
                  <a:pt x="231813" y="410210"/>
                </a:lnTo>
                <a:lnTo>
                  <a:pt x="245224" y="410210"/>
                </a:lnTo>
                <a:lnTo>
                  <a:pt x="274002" y="412750"/>
                </a:lnTo>
                <a:lnTo>
                  <a:pt x="274332" y="412750"/>
                </a:lnTo>
                <a:lnTo>
                  <a:pt x="259727" y="414020"/>
                </a:lnTo>
                <a:lnTo>
                  <a:pt x="245808" y="415290"/>
                </a:lnTo>
                <a:lnTo>
                  <a:pt x="232676" y="415290"/>
                </a:lnTo>
                <a:lnTo>
                  <a:pt x="220103" y="416560"/>
                </a:lnTo>
                <a:lnTo>
                  <a:pt x="208483" y="419100"/>
                </a:lnTo>
                <a:lnTo>
                  <a:pt x="197789" y="420370"/>
                </a:lnTo>
                <a:lnTo>
                  <a:pt x="197929" y="420370"/>
                </a:lnTo>
                <a:lnTo>
                  <a:pt x="188099" y="421640"/>
                </a:lnTo>
                <a:lnTo>
                  <a:pt x="188277" y="421640"/>
                </a:lnTo>
                <a:lnTo>
                  <a:pt x="179501" y="424180"/>
                </a:lnTo>
                <a:close/>
              </a:path>
              <a:path w="309879" h="816610">
                <a:moveTo>
                  <a:pt x="157010" y="433070"/>
                </a:moveTo>
                <a:lnTo>
                  <a:pt x="147726" y="433070"/>
                </a:lnTo>
                <a:lnTo>
                  <a:pt x="147929" y="431800"/>
                </a:lnTo>
                <a:lnTo>
                  <a:pt x="148297" y="430530"/>
                </a:lnTo>
                <a:lnTo>
                  <a:pt x="148894" y="429260"/>
                </a:lnTo>
                <a:lnTo>
                  <a:pt x="149440" y="427990"/>
                </a:lnTo>
                <a:lnTo>
                  <a:pt x="150406" y="426720"/>
                </a:lnTo>
                <a:lnTo>
                  <a:pt x="150939" y="425450"/>
                </a:lnTo>
                <a:lnTo>
                  <a:pt x="152285" y="424180"/>
                </a:lnTo>
                <a:lnTo>
                  <a:pt x="179730" y="424180"/>
                </a:lnTo>
                <a:lnTo>
                  <a:pt x="172085" y="425450"/>
                </a:lnTo>
                <a:lnTo>
                  <a:pt x="172389" y="425450"/>
                </a:lnTo>
                <a:lnTo>
                  <a:pt x="165976" y="427990"/>
                </a:lnTo>
                <a:lnTo>
                  <a:pt x="166268" y="427990"/>
                </a:lnTo>
                <a:lnTo>
                  <a:pt x="163537" y="429260"/>
                </a:lnTo>
                <a:lnTo>
                  <a:pt x="163791" y="429260"/>
                </a:lnTo>
                <a:lnTo>
                  <a:pt x="161391" y="430530"/>
                </a:lnTo>
                <a:lnTo>
                  <a:pt x="160020" y="430530"/>
                </a:lnTo>
                <a:lnTo>
                  <a:pt x="158318" y="431800"/>
                </a:lnTo>
                <a:lnTo>
                  <a:pt x="157975" y="431800"/>
                </a:lnTo>
                <a:lnTo>
                  <a:pt x="157010" y="433070"/>
                </a:lnTo>
                <a:close/>
              </a:path>
              <a:path w="309879" h="816610">
                <a:moveTo>
                  <a:pt x="157441" y="433070"/>
                </a:moveTo>
                <a:lnTo>
                  <a:pt x="157975" y="431800"/>
                </a:lnTo>
                <a:lnTo>
                  <a:pt x="158788" y="431800"/>
                </a:lnTo>
                <a:lnTo>
                  <a:pt x="157441" y="433070"/>
                </a:lnTo>
                <a:close/>
              </a:path>
              <a:path w="309879" h="816610">
                <a:moveTo>
                  <a:pt x="155435" y="792480"/>
                </a:moveTo>
                <a:lnTo>
                  <a:pt x="138607" y="792480"/>
                </a:lnTo>
                <a:lnTo>
                  <a:pt x="141338" y="791210"/>
                </a:lnTo>
                <a:lnTo>
                  <a:pt x="141084" y="791210"/>
                </a:lnTo>
                <a:lnTo>
                  <a:pt x="143484" y="789940"/>
                </a:lnTo>
                <a:lnTo>
                  <a:pt x="143179" y="789940"/>
                </a:lnTo>
                <a:lnTo>
                  <a:pt x="145224" y="788670"/>
                </a:lnTo>
                <a:lnTo>
                  <a:pt x="146088" y="788670"/>
                </a:lnTo>
                <a:lnTo>
                  <a:pt x="147434" y="787400"/>
                </a:lnTo>
                <a:lnTo>
                  <a:pt x="147904" y="786130"/>
                </a:lnTo>
                <a:lnTo>
                  <a:pt x="147675" y="786130"/>
                </a:lnTo>
                <a:lnTo>
                  <a:pt x="147675" y="433070"/>
                </a:lnTo>
                <a:lnTo>
                  <a:pt x="157200" y="433070"/>
                </a:lnTo>
                <a:lnTo>
                  <a:pt x="157094" y="433916"/>
                </a:lnTo>
                <a:lnTo>
                  <a:pt x="156972" y="434340"/>
                </a:lnTo>
                <a:lnTo>
                  <a:pt x="157200" y="434340"/>
                </a:lnTo>
                <a:lnTo>
                  <a:pt x="157149" y="787400"/>
                </a:lnTo>
                <a:lnTo>
                  <a:pt x="156946" y="788670"/>
                </a:lnTo>
                <a:lnTo>
                  <a:pt x="156578" y="789940"/>
                </a:lnTo>
                <a:lnTo>
                  <a:pt x="155981" y="791210"/>
                </a:lnTo>
                <a:lnTo>
                  <a:pt x="155435" y="792480"/>
                </a:lnTo>
                <a:close/>
              </a:path>
              <a:path w="309879" h="816610">
                <a:moveTo>
                  <a:pt x="157200" y="433551"/>
                </a:moveTo>
                <a:lnTo>
                  <a:pt x="157200" y="433070"/>
                </a:lnTo>
                <a:lnTo>
                  <a:pt x="157340" y="433070"/>
                </a:lnTo>
                <a:lnTo>
                  <a:pt x="157200" y="433551"/>
                </a:lnTo>
                <a:close/>
              </a:path>
              <a:path w="309879" h="816610">
                <a:moveTo>
                  <a:pt x="157200" y="433843"/>
                </a:moveTo>
                <a:lnTo>
                  <a:pt x="157200" y="433551"/>
                </a:lnTo>
                <a:lnTo>
                  <a:pt x="157340" y="433070"/>
                </a:lnTo>
                <a:lnTo>
                  <a:pt x="157235" y="433766"/>
                </a:lnTo>
                <a:close/>
              </a:path>
              <a:path w="309879" h="816610">
                <a:moveTo>
                  <a:pt x="157235" y="433766"/>
                </a:moveTo>
                <a:lnTo>
                  <a:pt x="157340" y="433070"/>
                </a:lnTo>
                <a:lnTo>
                  <a:pt x="157556" y="433070"/>
                </a:lnTo>
                <a:lnTo>
                  <a:pt x="157235" y="433766"/>
                </a:lnTo>
                <a:close/>
              </a:path>
              <a:path w="309879" h="816610">
                <a:moveTo>
                  <a:pt x="156972" y="434340"/>
                </a:moveTo>
                <a:lnTo>
                  <a:pt x="157178" y="433628"/>
                </a:lnTo>
                <a:lnTo>
                  <a:pt x="157127" y="434001"/>
                </a:lnTo>
                <a:lnTo>
                  <a:pt x="156972" y="434340"/>
                </a:lnTo>
                <a:close/>
              </a:path>
              <a:path w="309879" h="816610">
                <a:moveTo>
                  <a:pt x="157149" y="434340"/>
                </a:moveTo>
                <a:lnTo>
                  <a:pt x="156972" y="434340"/>
                </a:lnTo>
                <a:lnTo>
                  <a:pt x="157166" y="433916"/>
                </a:lnTo>
                <a:lnTo>
                  <a:pt x="157149" y="434340"/>
                </a:lnTo>
                <a:close/>
              </a:path>
              <a:path w="309879" h="816610">
                <a:moveTo>
                  <a:pt x="157200" y="434340"/>
                </a:moveTo>
                <a:lnTo>
                  <a:pt x="157200" y="434001"/>
                </a:lnTo>
                <a:lnTo>
                  <a:pt x="157200" y="434340"/>
                </a:lnTo>
                <a:close/>
              </a:path>
              <a:path w="309879" h="816610">
                <a:moveTo>
                  <a:pt x="147692" y="786355"/>
                </a:moveTo>
                <a:lnTo>
                  <a:pt x="147726" y="786130"/>
                </a:lnTo>
                <a:lnTo>
                  <a:pt x="147866" y="786130"/>
                </a:lnTo>
                <a:lnTo>
                  <a:pt x="147692" y="786355"/>
                </a:lnTo>
                <a:close/>
              </a:path>
              <a:path w="309879" h="816610">
                <a:moveTo>
                  <a:pt x="147651" y="786628"/>
                </a:moveTo>
                <a:lnTo>
                  <a:pt x="147692" y="786355"/>
                </a:lnTo>
                <a:lnTo>
                  <a:pt x="147866" y="786130"/>
                </a:lnTo>
                <a:lnTo>
                  <a:pt x="147651" y="786628"/>
                </a:lnTo>
                <a:close/>
              </a:path>
              <a:path w="309879" h="816610">
                <a:moveTo>
                  <a:pt x="147640" y="786703"/>
                </a:moveTo>
                <a:lnTo>
                  <a:pt x="147866" y="786130"/>
                </a:lnTo>
                <a:lnTo>
                  <a:pt x="147640" y="786703"/>
                </a:lnTo>
                <a:close/>
              </a:path>
              <a:path w="309879" h="816610">
                <a:moveTo>
                  <a:pt x="147535" y="787400"/>
                </a:moveTo>
                <a:lnTo>
                  <a:pt x="147640" y="786703"/>
                </a:lnTo>
                <a:lnTo>
                  <a:pt x="147904" y="786130"/>
                </a:lnTo>
                <a:lnTo>
                  <a:pt x="147535" y="787400"/>
                </a:lnTo>
                <a:close/>
              </a:path>
              <a:path w="309879" h="816610">
                <a:moveTo>
                  <a:pt x="147320" y="787400"/>
                </a:moveTo>
                <a:lnTo>
                  <a:pt x="146888" y="787400"/>
                </a:lnTo>
                <a:lnTo>
                  <a:pt x="147692" y="786355"/>
                </a:lnTo>
                <a:lnTo>
                  <a:pt x="147619" y="786703"/>
                </a:lnTo>
                <a:lnTo>
                  <a:pt x="147320" y="787400"/>
                </a:lnTo>
                <a:close/>
              </a:path>
              <a:path w="309879" h="816610">
                <a:moveTo>
                  <a:pt x="147535" y="787400"/>
                </a:moveTo>
                <a:lnTo>
                  <a:pt x="147320" y="787400"/>
                </a:lnTo>
                <a:lnTo>
                  <a:pt x="147640" y="786703"/>
                </a:lnTo>
                <a:lnTo>
                  <a:pt x="147535" y="787400"/>
                </a:lnTo>
                <a:close/>
              </a:path>
              <a:path w="309879" h="816610">
                <a:moveTo>
                  <a:pt x="146088" y="788670"/>
                </a:moveTo>
                <a:lnTo>
                  <a:pt x="144856" y="788670"/>
                </a:lnTo>
                <a:lnTo>
                  <a:pt x="146558" y="787400"/>
                </a:lnTo>
                <a:lnTo>
                  <a:pt x="146088" y="788670"/>
                </a:lnTo>
                <a:close/>
              </a:path>
              <a:path w="309879" h="816610">
                <a:moveTo>
                  <a:pt x="154470" y="793750"/>
                </a:moveTo>
                <a:lnTo>
                  <a:pt x="132486" y="793750"/>
                </a:lnTo>
                <a:lnTo>
                  <a:pt x="138899" y="791210"/>
                </a:lnTo>
                <a:lnTo>
                  <a:pt x="138607" y="792480"/>
                </a:lnTo>
                <a:lnTo>
                  <a:pt x="155435" y="792480"/>
                </a:lnTo>
                <a:lnTo>
                  <a:pt x="154470" y="793750"/>
                </a:lnTo>
                <a:close/>
              </a:path>
              <a:path w="309879" h="816610">
                <a:moveTo>
                  <a:pt x="150431" y="796290"/>
                </a:moveTo>
                <a:lnTo>
                  <a:pt x="125145" y="796290"/>
                </a:lnTo>
                <a:lnTo>
                  <a:pt x="132778" y="793750"/>
                </a:lnTo>
                <a:lnTo>
                  <a:pt x="153936" y="793750"/>
                </a:lnTo>
                <a:lnTo>
                  <a:pt x="152590" y="795020"/>
                </a:lnTo>
                <a:lnTo>
                  <a:pt x="152133" y="795020"/>
                </a:lnTo>
                <a:lnTo>
                  <a:pt x="150431" y="796290"/>
                </a:lnTo>
                <a:close/>
              </a:path>
              <a:path w="309879" h="816610">
                <a:moveTo>
                  <a:pt x="30949" y="816610"/>
                </a:moveTo>
                <a:lnTo>
                  <a:pt x="76" y="816610"/>
                </a:lnTo>
                <a:lnTo>
                  <a:pt x="0" y="807720"/>
                </a:lnTo>
                <a:lnTo>
                  <a:pt x="15582" y="806450"/>
                </a:lnTo>
                <a:lnTo>
                  <a:pt x="45072" y="806450"/>
                </a:lnTo>
                <a:lnTo>
                  <a:pt x="59067" y="805180"/>
                </a:lnTo>
                <a:lnTo>
                  <a:pt x="72301" y="803910"/>
                </a:lnTo>
                <a:lnTo>
                  <a:pt x="84759" y="802640"/>
                </a:lnTo>
                <a:lnTo>
                  <a:pt x="96393" y="801370"/>
                </a:lnTo>
                <a:lnTo>
                  <a:pt x="107086" y="800100"/>
                </a:lnTo>
                <a:lnTo>
                  <a:pt x="106946" y="800100"/>
                </a:lnTo>
                <a:lnTo>
                  <a:pt x="116776" y="797560"/>
                </a:lnTo>
                <a:lnTo>
                  <a:pt x="116598" y="797560"/>
                </a:lnTo>
                <a:lnTo>
                  <a:pt x="125374" y="796290"/>
                </a:lnTo>
                <a:lnTo>
                  <a:pt x="150050" y="796290"/>
                </a:lnTo>
                <a:lnTo>
                  <a:pt x="147688" y="798830"/>
                </a:lnTo>
                <a:lnTo>
                  <a:pt x="145046" y="800100"/>
                </a:lnTo>
                <a:lnTo>
                  <a:pt x="142024" y="801370"/>
                </a:lnTo>
                <a:lnTo>
                  <a:pt x="135305" y="802640"/>
                </a:lnTo>
                <a:lnTo>
                  <a:pt x="127444" y="805180"/>
                </a:lnTo>
                <a:lnTo>
                  <a:pt x="118491" y="807720"/>
                </a:lnTo>
                <a:lnTo>
                  <a:pt x="108508" y="808990"/>
                </a:lnTo>
                <a:lnTo>
                  <a:pt x="97561" y="810260"/>
                </a:lnTo>
                <a:lnTo>
                  <a:pt x="85725" y="812800"/>
                </a:lnTo>
                <a:lnTo>
                  <a:pt x="73164" y="814070"/>
                </a:lnTo>
                <a:lnTo>
                  <a:pt x="59740" y="814070"/>
                </a:lnTo>
                <a:lnTo>
                  <a:pt x="30949" y="816610"/>
                </a:lnTo>
                <a:close/>
              </a:path>
            </a:pathLst>
          </a:custGeom>
          <a:solidFill>
            <a:srgbClr val="5597D2"/>
          </a:solidFill>
        </p:spPr>
        <p:txBody>
          <a:bodyPr wrap="square" lIns="0" tIns="0" rIns="0" bIns="0" rtlCol="0"/>
          <a:lstStyle/>
          <a:p>
            <a:endParaRPr/>
          </a:p>
        </p:txBody>
      </p:sp>
      <p:sp>
        <p:nvSpPr>
          <p:cNvPr id="9" name="object 25"/>
          <p:cNvSpPr txBox="1"/>
          <p:nvPr/>
        </p:nvSpPr>
        <p:spPr>
          <a:xfrm>
            <a:off x="8655050" y="3233420"/>
            <a:ext cx="1997710" cy="382156"/>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Microsoft YaHei"/>
                <a:cs typeface="Microsoft YaHei"/>
              </a:rPr>
              <a:t>需要记忆能力</a:t>
            </a:r>
            <a:endParaRPr sz="2400" dirty="0">
              <a:latin typeface="Microsoft YaHei"/>
              <a:cs typeface="Microsoft YaHei"/>
            </a:endParaRPr>
          </a:p>
        </p:txBody>
      </p:sp>
      <p:sp>
        <p:nvSpPr>
          <p:cNvPr id="10" name="object 26"/>
          <p:cNvSpPr txBox="1"/>
          <p:nvPr/>
        </p:nvSpPr>
        <p:spPr>
          <a:xfrm>
            <a:off x="2825736" y="6321408"/>
            <a:ext cx="3727463" cy="382156"/>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Microsoft YaHei"/>
                <a:cs typeface="Microsoft YaHei"/>
              </a:rPr>
              <a:t>如何给网络增加记忆能力？</a:t>
            </a:r>
            <a:endParaRPr sz="2400" dirty="0">
              <a:latin typeface="Microsoft YaHei"/>
              <a:cs typeface="Microsoft YaHei"/>
            </a:endParaRPr>
          </a:p>
        </p:txBody>
      </p:sp>
    </p:spTree>
    <p:extLst>
      <p:ext uri="{BB962C8B-B14F-4D97-AF65-F5344CB8AC3E}">
        <p14:creationId xmlns:p14="http://schemas.microsoft.com/office/powerpoint/2010/main" val="35626889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136525" y="233363"/>
            <a:ext cx="4526915" cy="675957"/>
          </a:xfrm>
        </p:spPr>
        <p:txBody>
          <a:bodyPr>
            <a:normAutofit/>
          </a:bodyPr>
          <a:lstStyle/>
          <a:p>
            <a:r>
              <a:rPr lang="zh-CN" altLang="en-US" sz="3200" dirty="0">
                <a:solidFill>
                  <a:schemeClr val="tx1"/>
                </a:solidFill>
                <a:latin typeface="+mj-lt"/>
                <a:cs typeface="+mj-cs"/>
              </a:rPr>
              <a:t>循环神经网络</a:t>
            </a:r>
            <a:r>
              <a:rPr lang="en-US" altLang="zh-CN" sz="3200" dirty="0" smtClean="0">
                <a:solidFill>
                  <a:schemeClr val="tx1"/>
                </a:solidFill>
                <a:latin typeface="+mj-lt"/>
                <a:cs typeface="+mj-cs"/>
              </a:rPr>
              <a:t>---</a:t>
            </a:r>
            <a:r>
              <a:rPr lang="zh-CN" altLang="en-US" sz="3200" dirty="0" smtClean="0">
                <a:solidFill>
                  <a:schemeClr val="tx1"/>
                </a:solidFill>
                <a:latin typeface="+mj-lt"/>
                <a:cs typeface="+mj-cs"/>
              </a:rPr>
              <a:t>概念</a:t>
            </a:r>
            <a:endParaRPr lang="zh-CN" altLang="en-US" sz="3200" dirty="0">
              <a:solidFill>
                <a:schemeClr val="tx1"/>
              </a:solidFill>
              <a:latin typeface="+mj-lt"/>
              <a:cs typeface="+mj-cs"/>
            </a:endParaRPr>
          </a:p>
        </p:txBody>
      </p:sp>
      <p:sp>
        <p:nvSpPr>
          <p:cNvPr id="4" name="矩形 3">
            <a:extLst>
              <a:ext uri="{FF2B5EF4-FFF2-40B4-BE49-F238E27FC236}">
                <a16:creationId xmlns:a16="http://schemas.microsoft.com/office/drawing/2014/main" id="{2A61D4FC-2D70-4DF5-B8D9-C018F58A1BF9}"/>
              </a:ext>
            </a:extLst>
          </p:cNvPr>
          <p:cNvSpPr/>
          <p:nvPr/>
        </p:nvSpPr>
        <p:spPr>
          <a:xfrm>
            <a:off x="535745" y="1236873"/>
            <a:ext cx="9715695" cy="5293757"/>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循环神经网络（</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Recurrent Neural Network, RNN</a:t>
            </a: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是处理</a:t>
            </a: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序列数据（如文本句子、视频帧等）时所采用的网络结构</a:t>
            </a:r>
            <a:r>
              <a:rPr lang="zh-CN" altLang="zh-CN"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。前</a:t>
            </a:r>
            <a:r>
              <a:rPr lang="zh-CN" altLang="en-US"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面</a:t>
            </a:r>
            <a:r>
              <a:rPr lang="zh-CN" altLang="zh-CN"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前馈神经网络或卷积神经网络所需要处理的输入数据一次性给定，难以处理存在前后依赖关系的数据。</a:t>
            </a:r>
          </a:p>
          <a:p>
            <a:pPr marL="285750" indent="-285750" algn="just">
              <a:lnSpc>
                <a:spcPct val="150000"/>
              </a:lnSpc>
              <a:spcAft>
                <a:spcPts val="0"/>
              </a:spcAft>
              <a:buFont typeface="Arial" panose="020B0604020202020204" pitchFamily="34" charset="0"/>
              <a:buChar char="•"/>
            </a:pP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1990</a:t>
            </a: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Jeffrey </a:t>
            </a:r>
            <a:r>
              <a:rPr lang="en-US" altLang="zh-CN" sz="24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L.Elman</a:t>
            </a: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提出循环神经网络的最初概念框架，循环神经网络的本质是希望模拟人所具有的</a:t>
            </a:r>
            <a:r>
              <a:rPr lang="zh-CN"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记忆能力</a:t>
            </a: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，在学习过程中记住部分已经出现的信息，并利用所记住的信息影响后续结点输出</a:t>
            </a:r>
            <a:r>
              <a:rPr lang="zh-CN" altLang="zh-CN"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sz="24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循环</a:t>
            </a:r>
            <a:r>
              <a:rPr lang="zh-CN"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神经网络在自然语言处理，例如语音识别、情感分析、机器翻译等领域有重要应用。</a:t>
            </a:r>
            <a:endPar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spcAft>
                <a:spcPts val="0"/>
              </a:spcAft>
            </a:pP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p:txBody>
      </p:sp>
    </p:spTree>
    <p:extLst>
      <p:ext uri="{BB962C8B-B14F-4D97-AF65-F5344CB8AC3E}">
        <p14:creationId xmlns:p14="http://schemas.microsoft.com/office/powerpoint/2010/main" val="38590459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7320" y="156845"/>
            <a:ext cx="4480560" cy="935355"/>
          </a:xfrm>
        </p:spPr>
        <p:txBody>
          <a:bodyPr>
            <a:normAutofit/>
          </a:bodyPr>
          <a:lstStyle/>
          <a:p>
            <a:r>
              <a:rPr lang="zh-CN" altLang="en-US" sz="3200" dirty="0">
                <a:solidFill>
                  <a:schemeClr val="tx1"/>
                </a:solidFill>
              </a:rPr>
              <a:t>循环神经网络</a:t>
            </a:r>
            <a:r>
              <a:rPr lang="en-US" altLang="zh-CN" sz="3200" dirty="0">
                <a:solidFill>
                  <a:schemeClr val="tx1"/>
                </a:solidFill>
              </a:rPr>
              <a:t>---</a:t>
            </a:r>
            <a:r>
              <a:rPr lang="zh-CN" altLang="en-US" sz="3200" dirty="0">
                <a:solidFill>
                  <a:schemeClr val="tx1"/>
                </a:solidFill>
              </a:rPr>
              <a:t>概念</a:t>
            </a:r>
            <a:endParaRPr lang="zh-CN" altLang="en-US" sz="3200" dirty="0"/>
          </a:p>
        </p:txBody>
      </p:sp>
      <mc:AlternateContent xmlns:mc="http://schemas.openxmlformats.org/markup-compatibility/2006" xmlns:a14="http://schemas.microsoft.com/office/drawing/2010/main">
        <mc:Choice Requires="a14">
          <p:sp>
            <p:nvSpPr>
              <p:cNvPr id="3" name="矩形 2"/>
              <p:cNvSpPr/>
              <p:nvPr/>
            </p:nvSpPr>
            <p:spPr>
              <a:xfrm>
                <a:off x="1168400" y="4727403"/>
                <a:ext cx="9540240" cy="830997"/>
              </a:xfrm>
              <a:prstGeom prst="rect">
                <a:avLst/>
              </a:prstGeom>
            </p:spPr>
            <p:txBody>
              <a:bodyPr wrap="square">
                <a:spAutoFit/>
              </a:bodyPr>
              <a:lstStyle/>
              <a:p>
                <a:pPr algn="just"/>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1600" dirty="0" smtClean="0">
                    <a:latin typeface="Times New Roman" panose="02020603050405020304" pitchFamily="18" charset="0"/>
                    <a:ea typeface="微软雅黑" panose="020B0503020204020204" pitchFamily="34" charset="-122"/>
                    <a:cs typeface="Times New Roman" panose="02020603050405020304" pitchFamily="18" charset="0"/>
                  </a:rPr>
                  <a:t>5.15 </a:t>
                </a:r>
                <a:r>
                  <a:rPr lang="zh-CN" altLang="zh-CN" sz="1600" dirty="0" smtClean="0">
                    <a:latin typeface="Times New Roman" panose="02020603050405020304" pitchFamily="18" charset="0"/>
                    <a:ea typeface="微软雅黑" panose="020B0503020204020204" pitchFamily="34" charset="-122"/>
                    <a:cs typeface="Times New Roman" panose="02020603050405020304" pitchFamily="18" charset="0"/>
                  </a:rPr>
                  <a:t>循环</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神经网络的结构图</a:t>
                </a:r>
                <a:r>
                  <a:rPr lang="zh-CN" altLang="zh-CN" sz="1600" dirty="0" smtClean="0">
                    <a:latin typeface="Times New Roman" panose="02020603050405020304" pitchFamily="18" charset="0"/>
                    <a:ea typeface="微软雅黑" panose="020B0503020204020204" pitchFamily="34" charset="-122"/>
                    <a:cs typeface="Times New Roman" panose="02020603050405020304" pitchFamily="18" charset="0"/>
                  </a:rPr>
                  <a:t>。对于</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一个序列数据，在每一时刻</a:t>
                </a:r>
                <a14:m>
                  <m:oMath xmlns:m="http://schemas.openxmlformats.org/officeDocument/2006/math">
                    <m:r>
                      <a:rPr lang="en-US" altLang="zh-CN" sz="1600" i="1">
                        <a:latin typeface="Cambria Math" panose="02040503050406030204" pitchFamily="18" charset="0"/>
                      </a:rPr>
                      <m:t>𝑡</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，循环神经网络单元会读取当前输入数据</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𝑡</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和前一时刻输入数据</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所对应的隐式编码结果</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h</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，一起生成</a:t>
                </a:r>
                <a14:m>
                  <m:oMath xmlns:m="http://schemas.openxmlformats.org/officeDocument/2006/math">
                    <m:r>
                      <a:rPr lang="en-US" altLang="zh-CN" sz="1600" i="1">
                        <a:latin typeface="Cambria Math" panose="02040503050406030204" pitchFamily="18" charset="0"/>
                      </a:rPr>
                      <m:t>𝑡</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时刻的隐式编码结果</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h</m:t>
                        </m:r>
                      </m:e>
                      <m:sub>
                        <m:r>
                          <a:rPr lang="en-US" altLang="zh-CN" sz="1600" i="1">
                            <a:latin typeface="Cambria Math" panose="02040503050406030204" pitchFamily="18" charset="0"/>
                          </a:rPr>
                          <m:t>𝑡</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。接着将</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h</m:t>
                        </m:r>
                      </m:e>
                      <m:sub>
                        <m:r>
                          <a:rPr lang="en-US" altLang="zh-CN" sz="1600" i="1">
                            <a:latin typeface="Cambria Math" panose="02040503050406030204" pitchFamily="18" charset="0"/>
                          </a:rPr>
                          <m:t>𝑡</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后传，去参与生成</a:t>
                </a:r>
                <a14:m>
                  <m:oMath xmlns:m="http://schemas.openxmlformats.org/officeDocument/2006/math">
                    <m:r>
                      <a:rPr lang="en-US" altLang="zh-CN" sz="1600" i="1">
                        <a:latin typeface="Cambria Math" panose="02040503050406030204" pitchFamily="18" charset="0"/>
                      </a:rPr>
                      <m:t>𝑡</m:t>
                    </m:r>
                    <m:r>
                      <a:rPr lang="en-US" altLang="zh-CN" sz="1600" i="1">
                        <a:latin typeface="Cambria Math" panose="02040503050406030204" pitchFamily="18" charset="0"/>
                      </a:rPr>
                      <m:t>+1</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时刻输入数据</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的隐式编码</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h</m:t>
                        </m:r>
                      </m:e>
                      <m:sub>
                        <m:r>
                          <a:rPr lang="en-US" altLang="zh-CN" sz="1600" i="1">
                            <a:latin typeface="Cambria Math" panose="02040503050406030204" pitchFamily="18" charset="0"/>
                          </a:rPr>
                          <m:t>𝑡</m:t>
                        </m:r>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。如此循环处理，直至该序列数据被处理完毕。</a:t>
                </a:r>
              </a:p>
            </p:txBody>
          </p:sp>
        </mc:Choice>
        <mc:Fallback xmlns="">
          <p:sp>
            <p:nvSpPr>
              <p:cNvPr id="3" name="矩形 2"/>
              <p:cNvSpPr>
                <a:spLocks noRot="1" noChangeAspect="1" noMove="1" noResize="1" noEditPoints="1" noAdjustHandles="1" noChangeArrowheads="1" noChangeShapeType="1" noTextEdit="1"/>
              </p:cNvSpPr>
              <p:nvPr/>
            </p:nvSpPr>
            <p:spPr>
              <a:xfrm>
                <a:off x="1168400" y="4727403"/>
                <a:ext cx="9540240" cy="830997"/>
              </a:xfrm>
              <a:prstGeom prst="rect">
                <a:avLst/>
              </a:prstGeom>
              <a:blipFill>
                <a:blip r:embed="rId2"/>
                <a:stretch>
                  <a:fillRect l="-383" t="-2190" r="-319" b="-802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1A8E6302-FC11-4F2C-9EB8-F046BC1312C8}"/>
              </a:ext>
            </a:extLst>
          </p:cNvPr>
          <p:cNvPicPr>
            <a:picLocks noChangeAspect="1"/>
          </p:cNvPicPr>
          <p:nvPr/>
        </p:nvPicPr>
        <p:blipFill>
          <a:blip r:embed="rId3"/>
          <a:stretch>
            <a:fillRect/>
          </a:stretch>
        </p:blipFill>
        <p:spPr>
          <a:xfrm>
            <a:off x="2082150" y="1146946"/>
            <a:ext cx="6894209" cy="3443370"/>
          </a:xfrm>
          <a:prstGeom prst="rect">
            <a:avLst/>
          </a:prstGeom>
        </p:spPr>
      </p:pic>
      <mc:AlternateContent xmlns:mc="http://schemas.openxmlformats.org/markup-compatibility/2006" xmlns:a14="http://schemas.microsoft.com/office/drawing/2010/main">
        <mc:Choice Requires="a14">
          <p:sp>
            <p:nvSpPr>
              <p:cNvPr id="5" name="矩形 4"/>
              <p:cNvSpPr/>
              <p:nvPr/>
            </p:nvSpPr>
            <p:spPr>
              <a:xfrm>
                <a:off x="2560320" y="6079589"/>
                <a:ext cx="7284720" cy="461665"/>
              </a:xfrm>
              <a:prstGeom prst="rect">
                <a:avLst/>
              </a:prstGeom>
            </p:spPr>
            <p:txBody>
              <a:bodyPr wrap="square">
                <a:spAutoFit/>
              </a:bodyPr>
              <a:lstStyle/>
              <a:p>
                <a:r>
                  <a:rPr lang="zh-CN" altLang="zh-CN" sz="24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隐</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式编码</a:t>
                </a:r>
                <a14:m>
                  <m:oMath xmlns:m="http://schemas.openxmlformats.org/officeDocument/2006/math">
                    <m:sSub>
                      <m:sSubPr>
                        <m:ctrlPr>
                          <a:rPr lang="zh-CN" altLang="zh-C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solidFill>
                              <a:srgbClr val="FF0000"/>
                            </a:solidFill>
                            <a:latin typeface="Cambria Math" panose="02040503050406030204" pitchFamily="18" charset="0"/>
                            <a:cs typeface="Times New Roman" panose="02020603050405020304" pitchFamily="18" charset="0"/>
                          </a:rPr>
                          <m:t>h</m:t>
                        </m:r>
                      </m:e>
                      <m:sub>
                        <m:r>
                          <a:rPr lang="en-US" altLang="zh-CN" sz="2400" i="1">
                            <a:solidFill>
                              <a:srgbClr val="FF0000"/>
                            </a:solidFill>
                            <a:latin typeface="Cambria Math" panose="02040503050406030204" pitchFamily="18" charset="0"/>
                            <a:cs typeface="Times New Roman" panose="02020603050405020304" pitchFamily="18" charset="0"/>
                          </a:rPr>
                          <m:t>𝑡</m:t>
                        </m:r>
                        <m:r>
                          <a:rPr lang="en-US" altLang="zh-CN" sz="2400" i="1">
                            <a:solidFill>
                              <a:srgbClr val="FF0000"/>
                            </a:solidFill>
                            <a:latin typeface="Cambria Math" panose="02040503050406030204" pitchFamily="18" charset="0"/>
                            <a:cs typeface="Times New Roman" panose="02020603050405020304" pitchFamily="18" charset="0"/>
                          </a:rPr>
                          <m:t>−1</m:t>
                        </m:r>
                      </m:sub>
                    </m:sSub>
                  </m:oMath>
                </a14:m>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已经</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记忆</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了</a:t>
                </a:r>
                <a14:m>
                  <m:oMath xmlns:m="http://schemas.openxmlformats.org/officeDocument/2006/math">
                    <m:r>
                      <a:rPr lang="en-US" altLang="zh-C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时刻之前的时序信息</a:t>
                </a:r>
                <a:endParaRPr lang="zh-CN" altLang="en-US" sz="2400" dirty="0">
                  <a:solidFill>
                    <a:srgbClr val="FF000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2560320" y="6079589"/>
                <a:ext cx="7284720" cy="461665"/>
              </a:xfrm>
              <a:prstGeom prst="rect">
                <a:avLst/>
              </a:prstGeom>
              <a:blipFill>
                <a:blip r:embed="rId4"/>
                <a:stretch>
                  <a:fillRect l="-1255" t="-11842" b="-27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82303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3282F08-E2D2-4E3B-B2F0-5EDFEBF2681C}"/>
                  </a:ext>
                </a:extLst>
              </p:cNvPr>
              <p:cNvSpPr/>
              <p:nvPr/>
            </p:nvSpPr>
            <p:spPr>
              <a:xfrm>
                <a:off x="1032020" y="1568204"/>
                <a:ext cx="9092420" cy="3984745"/>
              </a:xfrm>
              <a:prstGeom prst="rect">
                <a:avLst/>
              </a:prstGeom>
            </p:spPr>
            <p:txBody>
              <a:bodyPr wrap="square">
                <a:spAutoFit/>
              </a:bodyPr>
              <a:lstStyle/>
              <a:p>
                <a:pPr indent="266700" algn="just">
                  <a:lnSpc>
                    <a:spcPct val="150000"/>
                  </a:lnSpc>
                  <a:spcAft>
                    <a:spcPts val="0"/>
                  </a:spcAft>
                </a:pPr>
                <a:r>
                  <a:rPr lang="zh-CN" altLang="zh-CN" sz="2400" b="1" dirty="0" smtClean="0">
                    <a:solidFill>
                      <a:schemeClr val="tx1"/>
                    </a:solidFill>
                    <a:ea typeface="楷体_GB2312"/>
                    <a:cs typeface="Times New Roman" panose="02020603050405020304" pitchFamily="18" charset="0"/>
                  </a:rPr>
                  <a:t>在时刻</a:t>
                </a:r>
                <a14:m>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𝒕</m:t>
                    </m:r>
                  </m:oMath>
                </a14:m>
                <a:r>
                  <a:rPr lang="zh-CN" altLang="zh-CN" sz="2400" b="1" dirty="0">
                    <a:solidFill>
                      <a:schemeClr val="tx1"/>
                    </a:solidFill>
                    <a:ea typeface="楷体_GB2312"/>
                    <a:cs typeface="Times New Roman" panose="02020603050405020304" pitchFamily="18" charset="0"/>
                  </a:rPr>
                  <a:t>，一旦得到当前输入数据</a:t>
                </a:r>
                <a14:m>
                  <m:oMath xmlns:m="http://schemas.openxmlformats.org/officeDocument/2006/math">
                    <m:sSub>
                      <m:sSubPr>
                        <m:ctrlPr>
                          <a:rPr lang="zh-CN"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a:solidFill>
                              <a:schemeClr val="tx1"/>
                            </a:solidFill>
                            <a:latin typeface="Cambria Math" panose="02040503050406030204" pitchFamily="18" charset="0"/>
                            <a:ea typeface="楷体_GB2312"/>
                            <a:cs typeface="Times New Roman" panose="02020603050405020304" pitchFamily="18" charset="0"/>
                          </a:rPr>
                          <m:t>𝒙</m:t>
                        </m:r>
                      </m:e>
                      <m:sub>
                        <m:r>
                          <a:rPr lang="en-US" altLang="zh-CN" sz="2400" b="1" i="1">
                            <a:solidFill>
                              <a:schemeClr val="tx1"/>
                            </a:solidFill>
                            <a:latin typeface="Cambria Math" panose="02040503050406030204" pitchFamily="18" charset="0"/>
                            <a:ea typeface="楷体_GB2312"/>
                            <a:cs typeface="Times New Roman" panose="02020603050405020304" pitchFamily="18" charset="0"/>
                          </a:rPr>
                          <m:t>𝒕</m:t>
                        </m:r>
                      </m:sub>
                    </m:sSub>
                  </m:oMath>
                </a14:m>
                <a:r>
                  <a:rPr lang="zh-CN" altLang="zh-CN" sz="2400" b="1" dirty="0">
                    <a:solidFill>
                      <a:schemeClr val="tx1"/>
                    </a:solidFill>
                    <a:ea typeface="楷体_GB2312"/>
                    <a:cs typeface="Times New Roman" panose="02020603050405020304" pitchFamily="18" charset="0"/>
                  </a:rPr>
                  <a:t>，循环神经网络会结合前一时刻</a:t>
                </a:r>
                <a14:m>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𝒕</m:t>
                    </m:r>
                    <m:r>
                      <a:rPr lang="en-US" altLang="zh-CN" sz="2400" b="1" i="1">
                        <a:solidFill>
                          <a:schemeClr val="tx1"/>
                        </a:solidFill>
                        <a:latin typeface="Cambria Math" panose="02040503050406030204" pitchFamily="18" charset="0"/>
                        <a:ea typeface="楷体_GB2312"/>
                        <a:cs typeface="Times New Roman" panose="02020603050405020304" pitchFamily="18" charset="0"/>
                      </a:rPr>
                      <m:t>−</m:t>
                    </m:r>
                    <m:r>
                      <a:rPr lang="en-US" altLang="zh-CN" sz="2400" b="1" i="1">
                        <a:solidFill>
                          <a:schemeClr val="tx1"/>
                        </a:solidFill>
                        <a:latin typeface="Cambria Math" panose="02040503050406030204" pitchFamily="18" charset="0"/>
                        <a:ea typeface="楷体_GB2312"/>
                        <a:cs typeface="Times New Roman" panose="02020603050405020304" pitchFamily="18" charset="0"/>
                      </a:rPr>
                      <m:t>𝟏</m:t>
                    </m:r>
                  </m:oMath>
                </a14:m>
                <a:r>
                  <a:rPr lang="zh-CN" altLang="zh-CN" sz="2400" b="1" dirty="0">
                    <a:solidFill>
                      <a:schemeClr val="tx1"/>
                    </a:solidFill>
                    <a:ea typeface="楷体_GB2312"/>
                    <a:cs typeface="Times New Roman" panose="02020603050405020304" pitchFamily="18" charset="0"/>
                  </a:rPr>
                  <a:t>得到的隐式编码</a:t>
                </a:r>
                <a14:m>
                  <m:oMath xmlns:m="http://schemas.openxmlformats.org/officeDocument/2006/math">
                    <m:sSub>
                      <m:sSubPr>
                        <m:ctrlPr>
                          <a:rPr lang="zh-CN"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a:solidFill>
                              <a:schemeClr val="tx1"/>
                            </a:solidFill>
                            <a:latin typeface="Cambria Math" panose="02040503050406030204" pitchFamily="18" charset="0"/>
                            <a:ea typeface="楷体_GB2312"/>
                            <a:cs typeface="Times New Roman" panose="02020603050405020304" pitchFamily="18" charset="0"/>
                          </a:rPr>
                          <m:t>𝒉</m:t>
                        </m:r>
                      </m:e>
                      <m:sub>
                        <m:r>
                          <a:rPr lang="en-US" altLang="zh-CN" sz="2400" b="1" i="1">
                            <a:solidFill>
                              <a:schemeClr val="tx1"/>
                            </a:solidFill>
                            <a:latin typeface="Cambria Math" panose="02040503050406030204" pitchFamily="18" charset="0"/>
                            <a:ea typeface="楷体_GB2312"/>
                            <a:cs typeface="Times New Roman" panose="02020603050405020304" pitchFamily="18" charset="0"/>
                          </a:rPr>
                          <m:t>𝒕</m:t>
                        </m:r>
                        <m:r>
                          <a:rPr lang="en-US" altLang="zh-CN" sz="2400" b="1" i="1">
                            <a:solidFill>
                              <a:schemeClr val="tx1"/>
                            </a:solidFill>
                            <a:latin typeface="Cambria Math" panose="02040503050406030204" pitchFamily="18" charset="0"/>
                            <a:ea typeface="楷体_GB2312"/>
                            <a:cs typeface="Times New Roman" panose="02020603050405020304" pitchFamily="18" charset="0"/>
                          </a:rPr>
                          <m:t>−</m:t>
                        </m:r>
                        <m:r>
                          <a:rPr lang="en-US" altLang="zh-CN" sz="2400" b="1" i="1">
                            <a:solidFill>
                              <a:schemeClr val="tx1"/>
                            </a:solidFill>
                            <a:latin typeface="Cambria Math" panose="02040503050406030204" pitchFamily="18" charset="0"/>
                            <a:ea typeface="楷体_GB2312"/>
                            <a:cs typeface="Times New Roman" panose="02020603050405020304" pitchFamily="18" charset="0"/>
                          </a:rPr>
                          <m:t>𝟏</m:t>
                        </m:r>
                      </m:sub>
                    </m:sSub>
                  </m:oMath>
                </a14:m>
                <a:r>
                  <a:rPr lang="zh-CN" altLang="zh-CN" sz="2400" b="1" dirty="0">
                    <a:solidFill>
                      <a:schemeClr val="tx1"/>
                    </a:solidFill>
                    <a:ea typeface="楷体_GB2312"/>
                    <a:cs typeface="Times New Roman" panose="02020603050405020304" pitchFamily="18" charset="0"/>
                  </a:rPr>
                  <a:t>，如下产生当前时刻隐式编码</a:t>
                </a:r>
                <a14:m>
                  <m:oMath xmlns:m="http://schemas.openxmlformats.org/officeDocument/2006/math">
                    <m:sSub>
                      <m:sSubPr>
                        <m:ctrlPr>
                          <a:rPr lang="zh-CN"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a:solidFill>
                              <a:schemeClr val="tx1"/>
                            </a:solidFill>
                            <a:latin typeface="Cambria Math" panose="02040503050406030204" pitchFamily="18" charset="0"/>
                            <a:ea typeface="楷体_GB2312"/>
                            <a:cs typeface="Times New Roman" panose="02020603050405020304" pitchFamily="18" charset="0"/>
                          </a:rPr>
                          <m:t>𝒉</m:t>
                        </m:r>
                      </m:e>
                      <m:sub>
                        <m:r>
                          <a:rPr lang="en-US" altLang="zh-CN" sz="2400" b="1" i="1">
                            <a:solidFill>
                              <a:schemeClr val="tx1"/>
                            </a:solidFill>
                            <a:latin typeface="Cambria Math" panose="02040503050406030204" pitchFamily="18" charset="0"/>
                            <a:ea typeface="楷体_GB2312"/>
                            <a:cs typeface="Times New Roman" panose="02020603050405020304" pitchFamily="18" charset="0"/>
                          </a:rPr>
                          <m:t>𝒕</m:t>
                        </m:r>
                      </m:sub>
                    </m:sSub>
                  </m:oMath>
                </a14:m>
                <a:r>
                  <a:rPr lang="zh-CN" altLang="zh-CN" sz="2400" b="1" dirty="0">
                    <a:solidFill>
                      <a:schemeClr val="tx1"/>
                    </a:solidFill>
                    <a:ea typeface="楷体_GB2312"/>
                    <a:cs typeface="Times New Roman" panose="02020603050405020304" pitchFamily="18" charset="0"/>
                  </a:rPr>
                  <a:t>：</a:t>
                </a:r>
              </a:p>
              <a:p>
                <a:pPr algn="ctr">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𝒉</m:t>
                          </m:r>
                        </m:e>
                        <m:sub>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𝒕</m:t>
                          </m:r>
                        </m:sub>
                      </m:sSub>
                      <m:r>
                        <a:rPr lang="en-US" altLang="zh-CN" sz="2400" b="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𝚽</m:t>
                      </m:r>
                      <m:r>
                        <a:rPr lang="en-US" altLang="zh-CN" sz="2400" b="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𝐔</m:t>
                      </m:r>
                      <m:r>
                        <a:rPr lang="en-US" altLang="zh-CN" sz="2400" b="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𝒙</m:t>
                          </m:r>
                        </m:e>
                        <m:sub>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𝒕</m:t>
                          </m:r>
                        </m:sub>
                      </m:sSub>
                      <m:r>
                        <a:rPr lang="en-US" altLang="zh-CN" sz="2400" b="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𝐖</m:t>
                      </m:r>
                      <m:r>
                        <a:rPr lang="en-US" altLang="zh-CN" sz="2400" b="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400" b="1"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𝒉</m:t>
                          </m:r>
                        </m:e>
                        <m:sub>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𝒕</m:t>
                          </m:r>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2400" b="1" i="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𝟏</m:t>
                          </m:r>
                        </m:sub>
                      </m:sSub>
                      <m:r>
                        <a:rPr lang="en-US" altLang="zh-CN" sz="2400" b="1" kern="100">
                          <a:solidFill>
                            <a:schemeClr val="tx1"/>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2400" b="1" kern="100" dirty="0">
                  <a:solidFill>
                    <a:schemeClr val="tx1"/>
                  </a:solidFill>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2400" b="1" dirty="0">
                    <a:solidFill>
                      <a:schemeClr val="tx1"/>
                    </a:solidFill>
                    <a:ea typeface="楷体_GB2312"/>
                    <a:cs typeface="Times New Roman" panose="02020603050405020304" pitchFamily="18" charset="0"/>
                  </a:rPr>
                  <a:t>这里</a:t>
                </a:r>
                <a14:m>
                  <m:oMath xmlns:m="http://schemas.openxmlformats.org/officeDocument/2006/math">
                    <m:r>
                      <a:rPr lang="en-US" altLang="zh-CN" sz="2400" b="1" i="1">
                        <a:solidFill>
                          <a:schemeClr val="tx1"/>
                        </a:solidFill>
                        <a:latin typeface="Cambria Math" panose="02040503050406030204" pitchFamily="18" charset="0"/>
                        <a:ea typeface="楷体_GB2312"/>
                        <a:cs typeface="Times New Roman" panose="02020603050405020304" pitchFamily="18" charset="0"/>
                      </a:rPr>
                      <m:t>𝚽</m:t>
                    </m:r>
                    <m:r>
                      <a:rPr lang="en-US" altLang="zh-CN" sz="2400" b="1">
                        <a:solidFill>
                          <a:schemeClr val="tx1"/>
                        </a:solidFill>
                        <a:latin typeface="Cambria Math" panose="02040503050406030204" pitchFamily="18" charset="0"/>
                        <a:ea typeface="楷体_GB2312"/>
                        <a:cs typeface="Times New Roman" panose="02020603050405020304" pitchFamily="18" charset="0"/>
                      </a:rPr>
                      <m:t>(∙)</m:t>
                    </m:r>
                  </m:oMath>
                </a14:m>
                <a:r>
                  <a:rPr lang="zh-CN" altLang="zh-CN" sz="2400" b="1" dirty="0">
                    <a:solidFill>
                      <a:schemeClr val="tx1"/>
                    </a:solidFill>
                    <a:ea typeface="楷体_GB2312"/>
                    <a:cs typeface="Times New Roman" panose="02020603050405020304" pitchFamily="18" charset="0"/>
                  </a:rPr>
                  <a:t>是激活函数，一般可为</a:t>
                </a:r>
                <a:r>
                  <a:rPr lang="en-US" altLang="zh-CN" sz="2400" b="1" dirty="0">
                    <a:solidFill>
                      <a:schemeClr val="tx1"/>
                    </a:solidFill>
                    <a:ea typeface="楷体_GB2312"/>
                    <a:cs typeface="Times New Roman" panose="02020603050405020304" pitchFamily="18" charset="0"/>
                  </a:rPr>
                  <a:t>Sigmoid</a:t>
                </a:r>
                <a:r>
                  <a:rPr lang="zh-CN" altLang="zh-CN" sz="2400" b="1" dirty="0">
                    <a:solidFill>
                      <a:schemeClr val="tx1"/>
                    </a:solidFill>
                    <a:ea typeface="楷体_GB2312"/>
                    <a:cs typeface="Times New Roman" panose="02020603050405020304" pitchFamily="18" charset="0"/>
                  </a:rPr>
                  <a:t>或者</a:t>
                </a:r>
                <a:r>
                  <a:rPr lang="en-US" altLang="zh-CN" sz="2400" b="1" dirty="0">
                    <a:solidFill>
                      <a:schemeClr val="tx1"/>
                    </a:solidFill>
                    <a:ea typeface="楷体_GB2312"/>
                    <a:cs typeface="Times New Roman" panose="02020603050405020304" pitchFamily="18" charset="0"/>
                  </a:rPr>
                  <a:t>Tanh</a:t>
                </a:r>
                <a:r>
                  <a:rPr lang="zh-CN" altLang="zh-CN" sz="2400" b="1" dirty="0">
                    <a:solidFill>
                      <a:schemeClr val="tx1"/>
                    </a:solidFill>
                    <a:ea typeface="楷体_GB2312"/>
                    <a:cs typeface="Times New Roman" panose="02020603050405020304" pitchFamily="18" charset="0"/>
                  </a:rPr>
                  <a:t>激活函数，</a:t>
                </a:r>
                <a14:m>
                  <m:oMath xmlns:m="http://schemas.openxmlformats.org/officeDocument/2006/math">
                    <m:r>
                      <a:rPr lang="en-US" altLang="zh-CN" sz="2400" b="1" i="1">
                        <a:solidFill>
                          <a:schemeClr val="tx1"/>
                        </a:solidFill>
                        <a:latin typeface="Cambria Math" panose="02040503050406030204" pitchFamily="18" charset="0"/>
                        <a:ea typeface="楷体_GB2312"/>
                        <a:cs typeface="Times New Roman" panose="02020603050405020304" pitchFamily="18" charset="0"/>
                      </a:rPr>
                      <m:t>𝐔</m:t>
                    </m:r>
                  </m:oMath>
                </a14:m>
                <a:r>
                  <a:rPr lang="zh-CN" altLang="zh-CN" sz="2400" b="1" dirty="0">
                    <a:solidFill>
                      <a:schemeClr val="tx1"/>
                    </a:solidFill>
                    <a:ea typeface="楷体_GB2312"/>
                    <a:cs typeface="Times New Roman" panose="02020603050405020304" pitchFamily="18" charset="0"/>
                  </a:rPr>
                  <a:t>与</a:t>
                </a:r>
                <a14:m>
                  <m:oMath xmlns:m="http://schemas.openxmlformats.org/officeDocument/2006/math">
                    <m:r>
                      <a:rPr lang="en-US" altLang="zh-CN" sz="2400" b="1" i="1">
                        <a:solidFill>
                          <a:schemeClr val="tx1"/>
                        </a:solidFill>
                        <a:latin typeface="Cambria Math" panose="02040503050406030204" pitchFamily="18" charset="0"/>
                        <a:ea typeface="楷体_GB2312"/>
                        <a:cs typeface="Times New Roman" panose="02020603050405020304" pitchFamily="18" charset="0"/>
                      </a:rPr>
                      <m:t>𝐖</m:t>
                    </m:r>
                  </m:oMath>
                </a14:m>
                <a:r>
                  <a:rPr lang="zh-CN" altLang="zh-CN" sz="2400" b="1" dirty="0">
                    <a:solidFill>
                      <a:schemeClr val="tx1"/>
                    </a:solidFill>
                    <a:ea typeface="楷体_GB2312"/>
                    <a:cs typeface="Times New Roman" panose="02020603050405020304" pitchFamily="18" charset="0"/>
                  </a:rPr>
                  <a:t>为模型参数。从这里可看出，当前时刻的隐式编码输出</a:t>
                </a:r>
                <a14:m>
                  <m:oMath xmlns:m="http://schemas.openxmlformats.org/officeDocument/2006/math">
                    <m:sSub>
                      <m:sSubPr>
                        <m:ctrlPr>
                          <a:rPr lang="zh-CN"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a:solidFill>
                              <a:schemeClr val="tx1"/>
                            </a:solidFill>
                            <a:latin typeface="Cambria Math" panose="02040503050406030204" pitchFamily="18" charset="0"/>
                            <a:ea typeface="楷体_GB2312"/>
                            <a:cs typeface="Times New Roman" panose="02020603050405020304" pitchFamily="18" charset="0"/>
                          </a:rPr>
                          <m:t>𝒉</m:t>
                        </m:r>
                      </m:e>
                      <m:sub>
                        <m:r>
                          <a:rPr lang="en-US" altLang="zh-CN" sz="2400" b="1" i="1">
                            <a:solidFill>
                              <a:schemeClr val="tx1"/>
                            </a:solidFill>
                            <a:latin typeface="Cambria Math" panose="02040503050406030204" pitchFamily="18" charset="0"/>
                            <a:ea typeface="楷体_GB2312"/>
                            <a:cs typeface="Times New Roman" panose="02020603050405020304" pitchFamily="18" charset="0"/>
                          </a:rPr>
                          <m:t>𝒕</m:t>
                        </m:r>
                      </m:sub>
                    </m:sSub>
                  </m:oMath>
                </a14:m>
                <a:r>
                  <a:rPr lang="zh-CN" altLang="zh-CN" sz="2400" b="1" dirty="0">
                    <a:solidFill>
                      <a:schemeClr val="tx1"/>
                    </a:solidFill>
                    <a:ea typeface="楷体_GB2312"/>
                    <a:cs typeface="Times New Roman" panose="02020603050405020304" pitchFamily="18" charset="0"/>
                  </a:rPr>
                  <a:t>不仅仅与当前输入数据</a:t>
                </a:r>
                <a14:m>
                  <m:oMath xmlns:m="http://schemas.openxmlformats.org/officeDocument/2006/math">
                    <m:sSub>
                      <m:sSubPr>
                        <m:ctrlPr>
                          <a:rPr lang="zh-CN"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a:solidFill>
                              <a:schemeClr val="tx1"/>
                            </a:solidFill>
                            <a:latin typeface="Cambria Math" panose="02040503050406030204" pitchFamily="18" charset="0"/>
                            <a:ea typeface="楷体_GB2312"/>
                            <a:cs typeface="Times New Roman" panose="02020603050405020304" pitchFamily="18" charset="0"/>
                          </a:rPr>
                          <m:t>𝒙</m:t>
                        </m:r>
                      </m:e>
                      <m:sub>
                        <m:r>
                          <a:rPr lang="en-US" altLang="zh-CN" sz="2400" b="1" i="1">
                            <a:solidFill>
                              <a:schemeClr val="tx1"/>
                            </a:solidFill>
                            <a:latin typeface="Cambria Math" panose="02040503050406030204" pitchFamily="18" charset="0"/>
                            <a:ea typeface="楷体_GB2312"/>
                            <a:cs typeface="Times New Roman" panose="02020603050405020304" pitchFamily="18" charset="0"/>
                          </a:rPr>
                          <m:t>𝒕</m:t>
                        </m:r>
                      </m:sub>
                    </m:sSub>
                  </m:oMath>
                </a14:m>
                <a:r>
                  <a:rPr lang="zh-CN" altLang="zh-CN" sz="2400" b="1" dirty="0">
                    <a:solidFill>
                      <a:schemeClr val="tx1"/>
                    </a:solidFill>
                    <a:ea typeface="楷体_GB2312"/>
                    <a:cs typeface="Times New Roman" panose="02020603050405020304" pitchFamily="18" charset="0"/>
                  </a:rPr>
                  <a:t>相关，与网络已有的</a:t>
                </a:r>
                <a:r>
                  <a:rPr lang="en-US" altLang="zh-CN" sz="2400" b="1" dirty="0">
                    <a:solidFill>
                      <a:schemeClr val="tx1"/>
                    </a:solidFill>
                    <a:ea typeface="楷体_GB2312"/>
                    <a:cs typeface="Times New Roman" panose="02020603050405020304" pitchFamily="18" charset="0"/>
                  </a:rPr>
                  <a:t>“</a:t>
                </a:r>
                <a:r>
                  <a:rPr lang="zh-CN" altLang="zh-CN" sz="2400" b="1" dirty="0">
                    <a:solidFill>
                      <a:schemeClr val="tx1"/>
                    </a:solidFill>
                    <a:ea typeface="楷体_GB2312"/>
                    <a:cs typeface="Times New Roman" panose="02020603050405020304" pitchFamily="18" charset="0"/>
                  </a:rPr>
                  <a:t>记忆</a:t>
                </a:r>
                <a:r>
                  <a:rPr lang="en-US" altLang="zh-CN" sz="2400" b="1" dirty="0">
                    <a:solidFill>
                      <a:schemeClr val="tx1"/>
                    </a:solidFill>
                    <a:ea typeface="楷体_GB2312"/>
                    <a:cs typeface="Times New Roman" panose="02020603050405020304" pitchFamily="18" charset="0"/>
                  </a:rPr>
                  <a:t>”</a:t>
                </a:r>
                <a14:m>
                  <m:oMath xmlns:m="http://schemas.openxmlformats.org/officeDocument/2006/math">
                    <m:sSub>
                      <m:sSubPr>
                        <m:ctrlPr>
                          <a:rPr lang="zh-CN" altLang="zh-CN" sz="24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1" i="1">
                            <a:solidFill>
                              <a:schemeClr val="tx1"/>
                            </a:solidFill>
                            <a:latin typeface="Cambria Math" panose="02040503050406030204" pitchFamily="18" charset="0"/>
                            <a:ea typeface="楷体_GB2312"/>
                            <a:cs typeface="Times New Roman" panose="02020603050405020304" pitchFamily="18" charset="0"/>
                          </a:rPr>
                          <m:t>𝒉</m:t>
                        </m:r>
                      </m:e>
                      <m:sub>
                        <m:r>
                          <a:rPr lang="en-US" altLang="zh-CN" sz="2400" b="1" i="1">
                            <a:solidFill>
                              <a:schemeClr val="tx1"/>
                            </a:solidFill>
                            <a:latin typeface="Cambria Math" panose="02040503050406030204" pitchFamily="18" charset="0"/>
                            <a:ea typeface="楷体_GB2312"/>
                            <a:cs typeface="Times New Roman" panose="02020603050405020304" pitchFamily="18" charset="0"/>
                          </a:rPr>
                          <m:t>𝒕</m:t>
                        </m:r>
                        <m:r>
                          <a:rPr lang="en-US" altLang="zh-CN" sz="2400" b="1" i="1">
                            <a:solidFill>
                              <a:schemeClr val="tx1"/>
                            </a:solidFill>
                            <a:latin typeface="Cambria Math" panose="02040503050406030204" pitchFamily="18" charset="0"/>
                            <a:ea typeface="楷体_GB2312"/>
                            <a:cs typeface="Times New Roman" panose="02020603050405020304" pitchFamily="18" charset="0"/>
                          </a:rPr>
                          <m:t>−</m:t>
                        </m:r>
                        <m:r>
                          <a:rPr lang="en-US" altLang="zh-CN" sz="2400" b="1" i="1">
                            <a:solidFill>
                              <a:schemeClr val="tx1"/>
                            </a:solidFill>
                            <a:latin typeface="Cambria Math" panose="02040503050406030204" pitchFamily="18" charset="0"/>
                            <a:ea typeface="楷体_GB2312"/>
                            <a:cs typeface="Times New Roman" panose="02020603050405020304" pitchFamily="18" charset="0"/>
                          </a:rPr>
                          <m:t>𝟏</m:t>
                        </m:r>
                      </m:sub>
                    </m:sSub>
                  </m:oMath>
                </a14:m>
                <a:r>
                  <a:rPr lang="zh-CN" altLang="zh-CN" sz="2400" b="1" dirty="0">
                    <a:solidFill>
                      <a:schemeClr val="tx1"/>
                    </a:solidFill>
                    <a:ea typeface="楷体_GB2312"/>
                    <a:cs typeface="Times New Roman" panose="02020603050405020304" pitchFamily="18" charset="0"/>
                  </a:rPr>
                  <a:t>也有着密不可分的联系。</a:t>
                </a:r>
              </a:p>
            </p:txBody>
          </p:sp>
        </mc:Choice>
        <mc:Fallback xmlns="">
          <p:sp>
            <p:nvSpPr>
              <p:cNvPr id="3" name="矩形 2">
                <a:extLst>
                  <a:ext uri="{FF2B5EF4-FFF2-40B4-BE49-F238E27FC236}">
                    <a16:creationId xmlns:a16="http://schemas.microsoft.com/office/drawing/2014/main" id="{93282F08-E2D2-4E3B-B2F0-5EDFEBF2681C}"/>
                  </a:ext>
                </a:extLst>
              </p:cNvPr>
              <p:cNvSpPr>
                <a:spLocks noRot="1" noChangeAspect="1" noMove="1" noResize="1" noEditPoints="1" noAdjustHandles="1" noChangeArrowheads="1" noChangeShapeType="1" noTextEdit="1"/>
              </p:cNvSpPr>
              <p:nvPr/>
            </p:nvSpPr>
            <p:spPr>
              <a:xfrm>
                <a:off x="1032020" y="1568204"/>
                <a:ext cx="9092420" cy="3984745"/>
              </a:xfrm>
              <a:prstGeom prst="rect">
                <a:avLst/>
              </a:prstGeom>
              <a:blipFill>
                <a:blip r:embed="rId2"/>
                <a:stretch>
                  <a:fillRect l="-1005" r="-1005" b="-1835"/>
                </a:stretch>
              </a:blipFill>
            </p:spPr>
            <p:txBody>
              <a:bodyPr/>
              <a:lstStyle/>
              <a:p>
                <a:r>
                  <a:rPr lang="zh-CN" altLang="en-US">
                    <a:noFill/>
                  </a:rPr>
                  <a:t> </a:t>
                </a:r>
              </a:p>
            </p:txBody>
          </p:sp>
        </mc:Fallback>
      </mc:AlternateContent>
      <p:sp>
        <p:nvSpPr>
          <p:cNvPr id="4" name="标题 1"/>
          <p:cNvSpPr>
            <a:spLocks noGrp="1"/>
          </p:cNvSpPr>
          <p:nvPr>
            <p:ph type="title"/>
          </p:nvPr>
        </p:nvSpPr>
        <p:spPr>
          <a:xfrm>
            <a:off x="376238" y="228601"/>
            <a:ext cx="5262562" cy="787400"/>
          </a:xfrm>
        </p:spPr>
        <p:txBody>
          <a:bodyPr>
            <a:normAutofit/>
          </a:bodyPr>
          <a:lstStyle/>
          <a:p>
            <a:r>
              <a:rPr lang="zh-CN" altLang="en-US" sz="3200" dirty="0">
                <a:solidFill>
                  <a:schemeClr val="tx1"/>
                </a:solidFill>
              </a:rPr>
              <a:t>循环神经网络</a:t>
            </a:r>
            <a:r>
              <a:rPr lang="en-US" altLang="zh-CN" sz="3200" dirty="0">
                <a:solidFill>
                  <a:schemeClr val="tx1"/>
                </a:solidFill>
              </a:rPr>
              <a:t>---</a:t>
            </a:r>
            <a:r>
              <a:rPr lang="zh-CN" altLang="en-US" sz="3200" dirty="0">
                <a:solidFill>
                  <a:schemeClr val="tx1"/>
                </a:solidFill>
              </a:rPr>
              <a:t>概念</a:t>
            </a:r>
            <a:endParaRPr lang="zh-CN" altLang="en-US" sz="3200" dirty="0"/>
          </a:p>
        </p:txBody>
      </p:sp>
    </p:spTree>
    <p:extLst>
      <p:ext uri="{BB962C8B-B14F-4D97-AF65-F5344CB8AC3E}">
        <p14:creationId xmlns:p14="http://schemas.microsoft.com/office/powerpoint/2010/main" val="34230415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3200" y="299085"/>
            <a:ext cx="7228840" cy="727075"/>
          </a:xfrm>
        </p:spPr>
        <p:txBody>
          <a:bodyPr>
            <a:normAutofit fontScale="90000"/>
          </a:bodyPr>
          <a:lstStyle/>
          <a:p>
            <a:r>
              <a:rPr lang="zh-CN" altLang="en-US" sz="3200" dirty="0">
                <a:solidFill>
                  <a:schemeClr val="tx1"/>
                </a:solidFill>
              </a:rPr>
              <a:t>循环神经网络</a:t>
            </a:r>
            <a:r>
              <a:rPr lang="en-US" altLang="zh-CN" sz="3200" dirty="0">
                <a:solidFill>
                  <a:schemeClr val="tx1"/>
                </a:solidFill>
              </a:rPr>
              <a:t>---</a:t>
            </a:r>
            <a:r>
              <a:rPr lang="zh-CN" altLang="en-US" sz="3200" dirty="0">
                <a:solidFill>
                  <a:schemeClr val="tx1"/>
                </a:solidFill>
              </a:rPr>
              <a:t>处理自然语言的例子</a:t>
            </a:r>
            <a:br>
              <a:rPr lang="zh-CN" altLang="en-US" sz="3200" dirty="0">
                <a:solidFill>
                  <a:schemeClr val="tx1"/>
                </a:solidFill>
              </a:rPr>
            </a:br>
            <a:endParaRPr lang="zh-CN" altLang="en-US" sz="3200" dirty="0">
              <a:solidFill>
                <a:schemeClr val="tx1"/>
              </a:solidFill>
            </a:endParaRPr>
          </a:p>
        </p:txBody>
      </p:sp>
      <p:sp>
        <p:nvSpPr>
          <p:cNvPr id="3" name="矩形 2">
            <a:extLst>
              <a:ext uri="{FF2B5EF4-FFF2-40B4-BE49-F238E27FC236}">
                <a16:creationId xmlns:a16="http://schemas.microsoft.com/office/drawing/2014/main" id="{C1831F45-02E9-4E22-A0B6-EB6ADC8FA736}"/>
              </a:ext>
            </a:extLst>
          </p:cNvPr>
          <p:cNvSpPr/>
          <p:nvPr/>
        </p:nvSpPr>
        <p:spPr>
          <a:xfrm>
            <a:off x="203200" y="1127098"/>
            <a:ext cx="10505050" cy="4459041"/>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2400" dirty="0">
                <a:latin typeface="微软雅黑" panose="020B0503020204020204" pitchFamily="34" charset="-122"/>
                <a:ea typeface="微软雅黑" panose="020B0503020204020204" pitchFamily="34" charset="-122"/>
              </a:rPr>
              <a:t>以自然语言例子来解释循环神经网络是如何处理时序数据</a:t>
            </a:r>
            <a:endParaRPr lang="en-US" altLang="zh-CN" sz="2400" dirty="0">
              <a:latin typeface="微软雅黑" panose="020B0503020204020204" pitchFamily="34" charset="-122"/>
              <a:ea typeface="微软雅黑" panose="020B0503020204020204" pitchFamily="34" charset="-122"/>
            </a:endParaRPr>
          </a:p>
          <a:p>
            <a:pPr algn="just">
              <a:lnSpc>
                <a:spcPct val="150000"/>
              </a:lnSpc>
              <a:spcAft>
                <a:spcPts val="0"/>
              </a:spcAft>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将自然语言句子进行分类，分类为饮食、体育、文化等不同类别。</a:t>
            </a:r>
            <a:endParaRPr lang="en-US" altLang="zh-CN" sz="2400" dirty="0">
              <a:latin typeface="微软雅黑" panose="020B0503020204020204" pitchFamily="34" charset="-122"/>
              <a:ea typeface="微软雅黑" panose="020B0503020204020204" pitchFamily="34" charset="-122"/>
            </a:endParaRPr>
          </a:p>
          <a:p>
            <a:pPr algn="just">
              <a:lnSpc>
                <a:spcPct val="150000"/>
              </a:lnSpc>
              <a:spcAft>
                <a:spcPts val="0"/>
              </a:spcAft>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(a) </a:t>
            </a:r>
            <a:r>
              <a:rPr lang="zh-CN" altLang="zh-CN" sz="2400" dirty="0">
                <a:latin typeface="微软雅黑" panose="020B0503020204020204" pitchFamily="34" charset="-122"/>
                <a:ea typeface="微软雅黑" panose="020B0503020204020204" pitchFamily="34" charset="-122"/>
              </a:rPr>
              <a:t>对文本语句进行分词</a:t>
            </a:r>
            <a:r>
              <a:rPr lang="zh-CN" altLang="en-US" sz="2400" dirty="0">
                <a:latin typeface="微软雅黑" panose="020B0503020204020204" pitchFamily="34" charset="-122"/>
                <a:ea typeface="微软雅黑" panose="020B0503020204020204" pitchFamily="34" charset="-122"/>
              </a:rPr>
              <a:t>成单词</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(b) </a:t>
            </a:r>
            <a:r>
              <a:rPr lang="zh-CN" altLang="zh-CN" sz="2400" dirty="0">
                <a:latin typeface="微软雅黑" panose="020B0503020204020204" pitchFamily="34" charset="-122"/>
                <a:ea typeface="微软雅黑" panose="020B0503020204020204" pitchFamily="34" charset="-122"/>
              </a:rPr>
              <a:t>读入每个单词后，产生对应单词的隐式编码，并利用其来参与后续单词的隐式编码。</a:t>
            </a:r>
            <a:r>
              <a:rPr lang="en-US" altLang="zh-CN" sz="2400" dirty="0">
                <a:latin typeface="微软雅黑" panose="020B0503020204020204" pitchFamily="34" charset="-122"/>
                <a:ea typeface="微软雅黑" panose="020B0503020204020204" pitchFamily="34" charset="-122"/>
              </a:rPr>
              <a:t>(c)</a:t>
            </a:r>
            <a:r>
              <a:rPr lang="zh-CN" altLang="zh-CN" sz="2400" dirty="0">
                <a:latin typeface="微软雅黑" panose="020B0503020204020204" pitchFamily="34" charset="-122"/>
                <a:ea typeface="微软雅黑" panose="020B0503020204020204" pitchFamily="34" charset="-122"/>
              </a:rPr>
              <a:t>考虑到句子中所有单词的信息均被后向传递，因此将最后一个单词的输出作为整个句子向量编码表示；</a:t>
            </a:r>
            <a:r>
              <a:rPr lang="en-US" altLang="zh-CN" sz="2400" dirty="0">
                <a:latin typeface="微软雅黑" panose="020B0503020204020204" pitchFamily="34" charset="-122"/>
                <a:ea typeface="微软雅黑" panose="020B0503020204020204" pitchFamily="34" charset="-122"/>
              </a:rPr>
              <a:t>(d)</a:t>
            </a:r>
            <a:r>
              <a:rPr lang="zh-CN" altLang="zh-CN" sz="2400" dirty="0">
                <a:latin typeface="微软雅黑" panose="020B0503020204020204" pitchFamily="34" charset="-122"/>
                <a:ea typeface="微软雅黑" panose="020B0503020204020204" pitchFamily="34" charset="-122"/>
              </a:rPr>
              <a:t>将每个单词的隐式编码进行加权平均，将加权平均结果作为句子的向量编码表示。这样，一旦得到了句子的向量编码表示，就可以利用某个分类器，对句子的类别进行判断。</a:t>
            </a:r>
          </a:p>
        </p:txBody>
      </p:sp>
    </p:spTree>
    <p:extLst>
      <p:ext uri="{BB962C8B-B14F-4D97-AF65-F5344CB8AC3E}">
        <p14:creationId xmlns:p14="http://schemas.microsoft.com/office/powerpoint/2010/main" val="3002367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8521D33-695D-4268-AD5F-8A7F2FACA1BB}"/>
              </a:ext>
            </a:extLst>
          </p:cNvPr>
          <p:cNvPicPr>
            <a:picLocks noChangeAspect="1"/>
          </p:cNvPicPr>
          <p:nvPr/>
        </p:nvPicPr>
        <p:blipFill>
          <a:blip r:embed="rId2"/>
          <a:stretch>
            <a:fillRect/>
          </a:stretch>
        </p:blipFill>
        <p:spPr>
          <a:xfrm>
            <a:off x="2179416" y="1220447"/>
            <a:ext cx="7081423" cy="3844327"/>
          </a:xfrm>
          <a:prstGeom prst="rect">
            <a:avLst/>
          </a:prstGeom>
        </p:spPr>
      </p:pic>
      <p:sp>
        <p:nvSpPr>
          <p:cNvPr id="4" name="矩形 3"/>
          <p:cNvSpPr/>
          <p:nvPr/>
        </p:nvSpPr>
        <p:spPr>
          <a:xfrm>
            <a:off x="2301240" y="5400655"/>
            <a:ext cx="7579360" cy="523220"/>
          </a:xfrm>
          <a:prstGeom prst="rect">
            <a:avLst/>
          </a:prstGeom>
        </p:spPr>
        <p:txBody>
          <a:bodyPr wrap="square">
            <a:spAutoFit/>
          </a:bodyPr>
          <a:lstStyle/>
          <a:p>
            <a:pPr algn="ctr"/>
            <a:r>
              <a:rPr lang="zh-CN" altLang="en-US" sz="1400" dirty="0">
                <a:latin typeface="微软雅黑" panose="020B0503020204020204" pitchFamily="34" charset="-122"/>
                <a:ea typeface="微软雅黑" panose="020B0503020204020204" pitchFamily="34" charset="-122"/>
              </a:rPr>
              <a:t>“南北”“存在差异”“南甜北咸”“南方人”“甜豆花”等单词之间存在前后依赖，这种依赖会被有效利用起来，得到各单词的隐式编码及句子的向量表达。</a:t>
            </a:r>
          </a:p>
        </p:txBody>
      </p:sp>
      <p:sp>
        <p:nvSpPr>
          <p:cNvPr id="5" name="标题 1"/>
          <p:cNvSpPr>
            <a:spLocks noGrp="1"/>
          </p:cNvSpPr>
          <p:nvPr>
            <p:ph type="title"/>
          </p:nvPr>
        </p:nvSpPr>
        <p:spPr>
          <a:xfrm>
            <a:off x="203200" y="106681"/>
            <a:ext cx="6929120" cy="777886"/>
          </a:xfrm>
        </p:spPr>
        <p:txBody>
          <a:bodyPr>
            <a:noAutofit/>
          </a:bodyPr>
          <a:lstStyle/>
          <a:p>
            <a:r>
              <a:rPr lang="zh-CN" altLang="en-US" sz="3200" dirty="0">
                <a:solidFill>
                  <a:schemeClr val="tx1"/>
                </a:solidFill>
              </a:rPr>
              <a:t>循环神经网络</a:t>
            </a:r>
            <a:r>
              <a:rPr lang="en-US" altLang="zh-CN" sz="3200" dirty="0">
                <a:solidFill>
                  <a:schemeClr val="tx1"/>
                </a:solidFill>
              </a:rPr>
              <a:t>---</a:t>
            </a:r>
            <a:r>
              <a:rPr lang="zh-CN" altLang="en-US" sz="3200" dirty="0">
                <a:solidFill>
                  <a:schemeClr val="tx1"/>
                </a:solidFill>
              </a:rPr>
              <a:t>处理自然语言的</a:t>
            </a:r>
            <a:r>
              <a:rPr lang="zh-CN" altLang="en-US" sz="3200" dirty="0" smtClean="0">
                <a:solidFill>
                  <a:schemeClr val="tx1"/>
                </a:solidFill>
              </a:rPr>
              <a:t>例子</a:t>
            </a:r>
            <a:endParaRPr lang="zh-CN" altLang="en-US" sz="3200" dirty="0">
              <a:solidFill>
                <a:schemeClr val="tx1"/>
              </a:solidFill>
            </a:endParaRPr>
          </a:p>
        </p:txBody>
      </p:sp>
    </p:spTree>
    <p:extLst>
      <p:ext uri="{BB962C8B-B14F-4D97-AF65-F5344CB8AC3E}">
        <p14:creationId xmlns:p14="http://schemas.microsoft.com/office/powerpoint/2010/main" val="34826230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9487733-A954-4B86-951E-D67AA8A6AF9C}"/>
              </a:ext>
            </a:extLst>
          </p:cNvPr>
          <p:cNvPicPr>
            <a:picLocks noChangeAspect="1"/>
          </p:cNvPicPr>
          <p:nvPr/>
        </p:nvPicPr>
        <p:blipFill>
          <a:blip r:embed="rId2"/>
          <a:stretch>
            <a:fillRect/>
          </a:stretch>
        </p:blipFill>
        <p:spPr>
          <a:xfrm>
            <a:off x="765723" y="1017451"/>
            <a:ext cx="7931237" cy="5710491"/>
          </a:xfrm>
          <a:prstGeom prst="rect">
            <a:avLst/>
          </a:prstGeom>
        </p:spPr>
      </p:pic>
      <p:sp>
        <p:nvSpPr>
          <p:cNvPr id="5" name="矩形 4"/>
          <p:cNvSpPr/>
          <p:nvPr/>
        </p:nvSpPr>
        <p:spPr>
          <a:xfrm>
            <a:off x="147059" y="242054"/>
            <a:ext cx="4903907" cy="584775"/>
          </a:xfrm>
          <a:prstGeom prst="rect">
            <a:avLst/>
          </a:prstGeom>
        </p:spPr>
        <p:txBody>
          <a:bodyPr wrap="none">
            <a:spAutoFit/>
          </a:bodyPr>
          <a:lstStyle/>
          <a:p>
            <a:r>
              <a:rPr lang="zh-CN" altLang="en-US" sz="3200" dirty="0"/>
              <a:t>循环神经网络</a:t>
            </a:r>
            <a:r>
              <a:rPr lang="en-US" altLang="zh-CN" sz="3200" dirty="0" smtClean="0"/>
              <a:t>---</a:t>
            </a:r>
            <a:r>
              <a:rPr lang="zh-CN" altLang="en-US" sz="3200" dirty="0" smtClean="0"/>
              <a:t>应用模式</a:t>
            </a:r>
            <a:endParaRPr lang="zh-CN" altLang="en-US" sz="3200" dirty="0"/>
          </a:p>
        </p:txBody>
      </p:sp>
    </p:spTree>
    <p:extLst>
      <p:ext uri="{BB962C8B-B14F-4D97-AF65-F5344CB8AC3E}">
        <p14:creationId xmlns:p14="http://schemas.microsoft.com/office/powerpoint/2010/main" val="14393927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7059" y="242054"/>
            <a:ext cx="4903908" cy="584775"/>
          </a:xfrm>
          <a:prstGeom prst="rect">
            <a:avLst/>
          </a:prstGeom>
        </p:spPr>
        <p:txBody>
          <a:bodyPr wrap="none">
            <a:spAutoFit/>
          </a:bodyPr>
          <a:lstStyle/>
          <a:p>
            <a:pPr algn="ctr">
              <a:spcBef>
                <a:spcPct val="50000"/>
              </a:spcBef>
            </a:pPr>
            <a:r>
              <a:rPr lang="zh-CN" altLang="en-US" sz="3200" dirty="0"/>
              <a:t>循环神经网络</a:t>
            </a:r>
            <a:r>
              <a:rPr lang="en-US" altLang="zh-CN" sz="3200" dirty="0" smtClean="0"/>
              <a:t>---</a:t>
            </a:r>
            <a:r>
              <a:rPr lang="zh-CN" altLang="en-US" sz="3200" dirty="0"/>
              <a:t>梯度传递</a:t>
            </a:r>
          </a:p>
        </p:txBody>
      </p:sp>
      <p:pic>
        <p:nvPicPr>
          <p:cNvPr id="4" name="图片 3">
            <a:extLst>
              <a:ext uri="{FF2B5EF4-FFF2-40B4-BE49-F238E27FC236}">
                <a16:creationId xmlns:a16="http://schemas.microsoft.com/office/drawing/2014/main" id="{4E109C32-AE1E-474A-BFA9-FA18CC382EBA}"/>
              </a:ext>
            </a:extLst>
          </p:cNvPr>
          <p:cNvPicPr>
            <a:picLocks noChangeAspect="1"/>
          </p:cNvPicPr>
          <p:nvPr/>
        </p:nvPicPr>
        <p:blipFill>
          <a:blip r:embed="rId2"/>
          <a:stretch>
            <a:fillRect/>
          </a:stretch>
        </p:blipFill>
        <p:spPr>
          <a:xfrm>
            <a:off x="1894448" y="875971"/>
            <a:ext cx="7447671" cy="3115629"/>
          </a:xfrm>
          <a:prstGeom prst="rect">
            <a:avLst/>
          </a:prstGeom>
        </p:spPr>
      </p:pic>
      <mc:AlternateContent xmlns:mc="http://schemas.openxmlformats.org/markup-compatibility/2006" xmlns:a14="http://schemas.microsoft.com/office/drawing/2010/main">
        <mc:Choice Requires="a14">
          <p:sp>
            <p:nvSpPr>
              <p:cNvPr id="5" name="矩形 4"/>
              <p:cNvSpPr/>
              <p:nvPr/>
            </p:nvSpPr>
            <p:spPr>
              <a:xfrm>
                <a:off x="1442720" y="3712200"/>
                <a:ext cx="9067800" cy="138499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zh-CN" sz="1400" dirty="0">
                    <a:latin typeface="微软雅黑" panose="020B0503020204020204" pitchFamily="34" charset="-122"/>
                    <a:ea typeface="微软雅黑" panose="020B0503020204020204" pitchFamily="34" charset="-122"/>
                  </a:rPr>
                  <a:t>图</a:t>
                </a:r>
                <a:r>
                  <a:rPr lang="en-US" altLang="zh-CN" sz="1400" dirty="0">
                    <a:latin typeface="微软雅黑" panose="020B0503020204020204" pitchFamily="34" charset="-122"/>
                    <a:ea typeface="微软雅黑" panose="020B0503020204020204" pitchFamily="34" charset="-122"/>
                  </a:rPr>
                  <a:t>5.18</a:t>
                </a:r>
                <a:r>
                  <a:rPr lang="zh-CN" altLang="zh-CN" sz="1400" dirty="0">
                    <a:latin typeface="微软雅黑" panose="020B0503020204020204" pitchFamily="34" charset="-122"/>
                    <a:ea typeface="微软雅黑" panose="020B0503020204020204" pitchFamily="34" charset="-122"/>
                  </a:rPr>
                  <a:t>以词性标注为例子给出了一个输入序列数据</a:t>
                </a:r>
                <a14:m>
                  <m:oMath xmlns:m="http://schemas.openxmlformats.org/officeDocument/2006/math">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1</m:t>
                        </m:r>
                      </m:sub>
                    </m:sSub>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𝑡</m:t>
                        </m:r>
                        <m:r>
                          <a:rPr lang="en-US" altLang="zh-CN" sz="1400" i="1">
                            <a:latin typeface="Cambria Math" panose="02040503050406030204" pitchFamily="18" charset="0"/>
                          </a:rPr>
                          <m:t>−1</m:t>
                        </m:r>
                      </m:sub>
                    </m:sSub>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𝑡</m:t>
                        </m:r>
                      </m:sub>
                    </m:sSub>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𝑡</m:t>
                        </m:r>
                        <m:r>
                          <a:rPr lang="en-US" altLang="zh-CN" sz="1400" i="1">
                            <a:latin typeface="Cambria Math" panose="02040503050406030204" pitchFamily="18" charset="0"/>
                          </a:rPr>
                          <m:t>+1</m:t>
                        </m:r>
                      </m:sub>
                    </m:sSub>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𝑇</m:t>
                        </m:r>
                      </m:sub>
                    </m:sSub>
                    <m:r>
                      <a:rPr lang="en-US" altLang="zh-CN" sz="1400" i="1">
                        <a:latin typeface="Cambria Math" panose="02040503050406030204" pitchFamily="18" charset="0"/>
                      </a:rPr>
                      <m:t>)</m:t>
                    </m:r>
                  </m:oMath>
                </a14:m>
                <a:r>
                  <a:rPr lang="zh-CN" altLang="zh-CN" sz="1400" dirty="0">
                    <a:latin typeface="微软雅黑" panose="020B0503020204020204" pitchFamily="34" charset="-122"/>
                    <a:ea typeface="微软雅黑" panose="020B0503020204020204" pitchFamily="34" charset="-122"/>
                  </a:rPr>
                  <a:t>被循环神经网络处理的示意图。</a:t>
                </a:r>
                <a:endParaRPr lang="en-US" altLang="zh-CN" sz="1400" dirty="0">
                  <a:latin typeface="微软雅黑" panose="020B0503020204020204" pitchFamily="34" charset="-122"/>
                  <a:ea typeface="微软雅黑" panose="020B0503020204020204" pitchFamily="34" charset="-122"/>
                </a:endParaRPr>
              </a:p>
              <a:p>
                <a:pPr algn="just">
                  <a:lnSpc>
                    <a:spcPct val="150000"/>
                  </a:lnSpc>
                </a:pPr>
                <a:r>
                  <a:rPr lang="zh-CN" altLang="zh-CN" sz="1400" dirty="0" smtClean="0">
                    <a:latin typeface="微软雅黑" panose="020B0503020204020204" pitchFamily="34" charset="-122"/>
                    <a:ea typeface="微软雅黑" panose="020B0503020204020204" pitchFamily="34" charset="-122"/>
                  </a:rPr>
                  <a:t>时刻</a:t>
                </a:r>
                <a14:m>
                  <m:oMath xmlns:m="http://schemas.openxmlformats.org/officeDocument/2006/math">
                    <m:r>
                      <a:rPr lang="en-US" altLang="zh-CN" sz="1400" i="1">
                        <a:latin typeface="Cambria Math" panose="02040503050406030204" pitchFamily="18" charset="0"/>
                      </a:rPr>
                      <m:t>𝑡</m:t>
                    </m:r>
                  </m:oMath>
                </a14:m>
                <a:r>
                  <a:rPr lang="zh-CN" altLang="zh-CN" sz="1400" dirty="0">
                    <a:latin typeface="微软雅黑" panose="020B0503020204020204" pitchFamily="34" charset="-122"/>
                    <a:ea typeface="微软雅黑" panose="020B0503020204020204" pitchFamily="34" charset="-122"/>
                  </a:rPr>
                  <a:t>输入数据</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（文本中的单词）的隐式编码为</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h</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、其真实输出为</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𝑦</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（单词词性）、模型预测</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的词性是</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𝑂</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。参数</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𝑊</m:t>
                        </m:r>
                      </m:e>
                      <m:sub>
                        <m:r>
                          <a:rPr lang="en-US" altLang="zh-CN" sz="1400" i="1">
                            <a:latin typeface="Cambria Math" panose="02040503050406030204" pitchFamily="18" charset="0"/>
                          </a:rPr>
                          <m:t>𝑥</m:t>
                        </m:r>
                      </m:sub>
                    </m:sSub>
                  </m:oMath>
                </a14:m>
                <a:r>
                  <a:rPr lang="zh-CN" altLang="zh-CN" sz="1400" dirty="0">
                    <a:latin typeface="微软雅黑" panose="020B0503020204020204" pitchFamily="34" charset="-122"/>
                    <a:ea typeface="微软雅黑" panose="020B0503020204020204" pitchFamily="34" charset="-122"/>
                  </a:rPr>
                  <a:t>将</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映射为隐式编码</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h</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、参数</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𝑊</m:t>
                        </m:r>
                      </m:e>
                      <m:sub>
                        <m:r>
                          <a:rPr lang="en-US" altLang="zh-CN" sz="1400" i="1">
                            <a:latin typeface="Cambria Math" panose="02040503050406030204" pitchFamily="18" charset="0"/>
                          </a:rPr>
                          <m:t>𝑜</m:t>
                        </m:r>
                      </m:sub>
                    </m:sSub>
                  </m:oMath>
                </a14:m>
                <a:r>
                  <a:rPr lang="zh-CN" altLang="zh-CN" sz="1400" dirty="0">
                    <a:latin typeface="微软雅黑" panose="020B0503020204020204" pitchFamily="34" charset="-122"/>
                    <a:ea typeface="微软雅黑" panose="020B0503020204020204" pitchFamily="34" charset="-122"/>
                  </a:rPr>
                  <a:t>将</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h</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映射为预测输出</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𝑂</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h</m:t>
                        </m:r>
                      </m:e>
                      <m:sub>
                        <m:r>
                          <a:rPr lang="en-US" altLang="zh-CN" sz="1400" i="1">
                            <a:latin typeface="Cambria Math" panose="02040503050406030204" pitchFamily="18" charset="0"/>
                          </a:rPr>
                          <m:t>𝑡</m:t>
                        </m:r>
                        <m:r>
                          <a:rPr lang="en-US" altLang="zh-CN" sz="1400" i="1">
                            <a:latin typeface="Cambria Math" panose="02040503050406030204" pitchFamily="18" charset="0"/>
                          </a:rPr>
                          <m:t>−1</m:t>
                        </m:r>
                      </m:sub>
                    </m:sSub>
                  </m:oMath>
                </a14:m>
                <a:r>
                  <a:rPr lang="zh-CN" altLang="zh-CN" sz="1400" dirty="0">
                    <a:latin typeface="微软雅黑" panose="020B0503020204020204" pitchFamily="34" charset="-122"/>
                    <a:ea typeface="微软雅黑" panose="020B0503020204020204" pitchFamily="34" charset="-122"/>
                  </a:rPr>
                  <a:t>通过参数</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𝑊</m:t>
                        </m:r>
                      </m:e>
                      <m:sub>
                        <m:r>
                          <a:rPr lang="en-US" altLang="zh-CN" sz="1400" i="1">
                            <a:latin typeface="Cambria Math" panose="02040503050406030204" pitchFamily="18" charset="0"/>
                          </a:rPr>
                          <m:t>h</m:t>
                        </m:r>
                      </m:sub>
                    </m:sSub>
                  </m:oMath>
                </a14:m>
                <a:r>
                  <a:rPr lang="zh-CN" altLang="zh-CN" sz="1400" dirty="0">
                    <a:latin typeface="微软雅黑" panose="020B0503020204020204" pitchFamily="34" charset="-122"/>
                    <a:ea typeface="微软雅黑" panose="020B0503020204020204" pitchFamily="34" charset="-122"/>
                  </a:rPr>
                  <a:t>参与</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h</m:t>
                        </m:r>
                      </m:e>
                      <m:sub>
                        <m:r>
                          <a:rPr lang="en-US" altLang="zh-CN" sz="1400" i="1">
                            <a:latin typeface="Cambria Math" panose="02040503050406030204" pitchFamily="18" charset="0"/>
                          </a:rPr>
                          <m:t>𝑡</m:t>
                        </m:r>
                      </m:sub>
                    </m:sSub>
                  </m:oMath>
                </a14:m>
                <a:r>
                  <a:rPr lang="zh-CN" altLang="zh-CN" sz="1400" dirty="0">
                    <a:latin typeface="微软雅黑" panose="020B0503020204020204" pitchFamily="34" charset="-122"/>
                    <a:ea typeface="微软雅黑" panose="020B0503020204020204" pitchFamily="34" charset="-122"/>
                  </a:rPr>
                  <a:t>的生成。图中</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𝑊</m:t>
                        </m:r>
                      </m:e>
                      <m:sub>
                        <m:r>
                          <a:rPr lang="en-US" altLang="zh-CN" sz="1400" i="1">
                            <a:latin typeface="Cambria Math" panose="02040503050406030204" pitchFamily="18" charset="0"/>
                          </a:rPr>
                          <m:t>𝑥</m:t>
                        </m:r>
                      </m:sub>
                    </m:sSub>
                  </m:oMath>
                </a14:m>
                <a:r>
                  <a:rPr lang="zh-CN" altLang="zh-CN" sz="1400" dirty="0">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𝑊</m:t>
                        </m:r>
                      </m:e>
                      <m:sub>
                        <m:r>
                          <a:rPr lang="en-US" altLang="zh-CN" sz="1400" i="1">
                            <a:latin typeface="Cambria Math" panose="02040503050406030204" pitchFamily="18" charset="0"/>
                          </a:rPr>
                          <m:t>𝑜</m:t>
                        </m:r>
                      </m:sub>
                    </m:sSub>
                  </m:oMath>
                </a14:m>
                <a:r>
                  <a:rPr lang="zh-CN" altLang="zh-CN" sz="1400" dirty="0">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𝑊</m:t>
                        </m:r>
                      </m:e>
                      <m:sub>
                        <m:r>
                          <a:rPr lang="en-US" altLang="zh-CN" sz="1400" i="1">
                            <a:latin typeface="Cambria Math" panose="02040503050406030204" pitchFamily="18" charset="0"/>
                          </a:rPr>
                          <m:t>h</m:t>
                        </m:r>
                      </m:sub>
                    </m:sSub>
                  </m:oMath>
                </a14:m>
                <a:r>
                  <a:rPr lang="zh-CN" altLang="zh-CN" sz="1400" dirty="0">
                    <a:latin typeface="微软雅黑" panose="020B0503020204020204" pitchFamily="34" charset="-122"/>
                    <a:ea typeface="微软雅黑" panose="020B0503020204020204" pitchFamily="34" charset="-122"/>
                  </a:rPr>
                  <a:t>是复用参数。</a:t>
                </a:r>
              </a:p>
            </p:txBody>
          </p:sp>
        </mc:Choice>
        <mc:Fallback xmlns="">
          <p:sp>
            <p:nvSpPr>
              <p:cNvPr id="5" name="矩形 4"/>
              <p:cNvSpPr>
                <a:spLocks noRot="1" noChangeAspect="1" noMove="1" noResize="1" noEditPoints="1" noAdjustHandles="1" noChangeArrowheads="1" noChangeShapeType="1" noTextEdit="1"/>
              </p:cNvSpPr>
              <p:nvPr/>
            </p:nvSpPr>
            <p:spPr>
              <a:xfrm>
                <a:off x="1442720" y="3712200"/>
                <a:ext cx="9067800" cy="1384995"/>
              </a:xfrm>
              <a:prstGeom prst="rect">
                <a:avLst/>
              </a:prstGeom>
              <a:blipFill>
                <a:blip r:embed="rId3"/>
                <a:stretch>
                  <a:fillRect l="-202" r="-202" b="-8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11480" y="5358189"/>
                <a:ext cx="10541000" cy="10456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假设时刻</a:t>
                </a:r>
                <a14:m>
                  <m:oMath xmlns:m="http://schemas.openxmlformats.org/officeDocument/2006/math">
                    <m:r>
                      <a:rPr lang="en-US" altLang="zh-CN" i="1">
                        <a:latin typeface="Cambria Math" panose="02040503050406030204" pitchFamily="18" charset="0"/>
                      </a:rPr>
                      <m:t>𝑡</m:t>
                    </m:r>
                  </m:oMath>
                </a14:m>
                <a:r>
                  <a:rPr lang="zh-CN" altLang="zh-CN" dirty="0">
                    <a:latin typeface="微软雅黑" panose="020B0503020204020204" pitchFamily="34" charset="-122"/>
                    <a:ea typeface="微软雅黑" panose="020B0503020204020204" pitchFamily="34" charset="-122"/>
                  </a:rPr>
                  <a:t>隐式编码如下得到：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𝑡</m:t>
                        </m:r>
                      </m:sub>
                    </m:sSub>
                    <m:r>
                      <a:rPr lang="en-US" altLang="zh-CN" i="1">
                        <a:latin typeface="Cambria Math" panose="02040503050406030204" pitchFamily="18" charset="0"/>
                      </a:rPr>
                      <m:t>=</m:t>
                    </m:r>
                    <m:r>
                      <m:rPr>
                        <m:sty m:val="p"/>
                      </m:rPr>
                      <a:rPr lang="en-US" altLang="zh-CN">
                        <a:latin typeface="Cambria Math" panose="02040503050406030204" pitchFamily="18" charset="0"/>
                      </a:rPr>
                      <m:t>tanh</m:t>
                    </m:r>
                    <m:r>
                      <a:rPr lang="en-US" altLang="zh-CN">
                        <a:latin typeface="Cambria Math" panose="02040503050406030204" pitchFamily="18" charset="0"/>
                      </a:rPr>
                      <m:t>⁡</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𝑥</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h</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𝑡</m:t>
                        </m:r>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zh-CN" dirty="0">
                    <a:latin typeface="微软雅黑" panose="020B0503020204020204" pitchFamily="34" charset="-122"/>
                    <a:ea typeface="微软雅黑" panose="020B0503020204020204" pitchFamily="34" charset="-122"/>
                  </a:rPr>
                  <a:t>。使用交叉熵损失函数计算时刻</a:t>
                </a:r>
                <a14:m>
                  <m:oMath xmlns:m="http://schemas.openxmlformats.org/officeDocument/2006/math">
                    <m:r>
                      <a:rPr lang="en-US" altLang="zh-CN" i="1">
                        <a:latin typeface="Cambria Math" panose="02040503050406030204" pitchFamily="18" charset="0"/>
                      </a:rPr>
                      <m:t>𝑡</m:t>
                    </m:r>
                  </m:oMath>
                </a14:m>
                <a:r>
                  <a:rPr lang="zh-CN" altLang="zh-CN" dirty="0">
                    <a:latin typeface="微软雅黑" panose="020B0503020204020204" pitchFamily="34" charset="-122"/>
                    <a:ea typeface="微软雅黑" panose="020B0503020204020204" pitchFamily="34" charset="-122"/>
                  </a:rPr>
                  <a:t>预测输出与实际输出的误差</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i="1">
                            <a:latin typeface="Cambria Math" panose="02040503050406030204" pitchFamily="18" charset="0"/>
                          </a:rPr>
                          <m:t>𝑡</m:t>
                        </m:r>
                      </m:sub>
                    </m:sSub>
                  </m:oMath>
                </a14:m>
                <a:r>
                  <a:rPr lang="zh-CN" altLang="zh-CN" dirty="0">
                    <a:latin typeface="微软雅黑" panose="020B0503020204020204" pitchFamily="34" charset="-122"/>
                    <a:ea typeface="微软雅黑" panose="020B0503020204020204" pitchFamily="34" charset="-122"/>
                  </a:rPr>
                  <a:t>。显然，整个序列产生的误差为</a:t>
                </a:r>
                <a14:m>
                  <m:oMath xmlns:m="http://schemas.openxmlformats.org/officeDocument/2006/math">
                    <m:r>
                      <a:rPr lang="en-US" altLang="zh-CN" i="1">
                        <a:latin typeface="Cambria Math" panose="02040503050406030204" pitchFamily="18" charset="0"/>
                      </a:rPr>
                      <m:t>𝐸</m:t>
                    </m:r>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nary>
                      <m:naryPr>
                        <m:chr m:val="∑"/>
                        <m:limLoc m:val="subSup"/>
                        <m:ctrlPr>
                          <a:rPr lang="zh-CN" altLang="zh-CN" i="1">
                            <a:latin typeface="Cambria Math" panose="02040503050406030204" pitchFamily="18" charset="0"/>
                          </a:rPr>
                        </m:ctrlPr>
                      </m:naryPr>
                      <m:sub>
                        <m:r>
                          <a:rPr lang="en-US" altLang="zh-CN" i="1">
                            <a:latin typeface="Cambria Math" panose="02040503050406030204" pitchFamily="18" charset="0"/>
                          </a:rPr>
                          <m:t>𝑡</m:t>
                        </m:r>
                        <m:r>
                          <a:rPr lang="en-US" altLang="zh-CN" i="1">
                            <a:latin typeface="Cambria Math" panose="02040503050406030204" pitchFamily="18" charset="0"/>
                          </a:rPr>
                          <m:t>=1</m:t>
                        </m:r>
                      </m:sub>
                      <m:sup>
                        <m:r>
                          <a:rPr lang="en-US" altLang="zh-CN" i="1">
                            <a:latin typeface="Cambria Math" panose="02040503050406030204" pitchFamily="18" charset="0"/>
                          </a:rPr>
                          <m:t>𝑇</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i="1">
                                <a:latin typeface="Cambria Math" panose="02040503050406030204" pitchFamily="18" charset="0"/>
                              </a:rPr>
                              <m:t>𝑡</m:t>
                            </m:r>
                          </m:sub>
                        </m:sSub>
                      </m:e>
                    </m:nary>
                  </m:oMath>
                </a14:m>
                <a:r>
                  <a:rPr lang="zh-CN" altLang="zh-CN" dirty="0">
                    <a:latin typeface="微软雅黑" panose="020B0503020204020204" pitchFamily="34" charset="-122"/>
                    <a:ea typeface="微软雅黑" panose="020B0503020204020204" pitchFamily="34" charset="-122"/>
                  </a:rPr>
                  <a:t>。</a:t>
                </a:r>
              </a:p>
            </p:txBody>
          </p:sp>
        </mc:Choice>
        <mc:Fallback xmlns="">
          <p:sp>
            <p:nvSpPr>
              <p:cNvPr id="6" name="矩形 5"/>
              <p:cNvSpPr>
                <a:spLocks noRot="1" noChangeAspect="1" noMove="1" noResize="1" noEditPoints="1" noAdjustHandles="1" noChangeArrowheads="1" noChangeShapeType="1" noTextEdit="1"/>
              </p:cNvSpPr>
              <p:nvPr/>
            </p:nvSpPr>
            <p:spPr>
              <a:xfrm>
                <a:off x="411480" y="5358189"/>
                <a:ext cx="10541000" cy="1045671"/>
              </a:xfrm>
              <a:prstGeom prst="rect">
                <a:avLst/>
              </a:prstGeom>
              <a:blipFill>
                <a:blip r:embed="rId4"/>
                <a:stretch>
                  <a:fillRect l="-405" r="-463" b="-593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2761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7059" y="242054"/>
            <a:ext cx="4903908" cy="584775"/>
          </a:xfrm>
          <a:prstGeom prst="rect">
            <a:avLst/>
          </a:prstGeom>
        </p:spPr>
        <p:txBody>
          <a:bodyPr wrap="none">
            <a:spAutoFit/>
          </a:bodyPr>
          <a:lstStyle/>
          <a:p>
            <a:pPr algn="ctr">
              <a:spcBef>
                <a:spcPct val="50000"/>
              </a:spcBef>
            </a:pPr>
            <a:r>
              <a:rPr lang="zh-CN" altLang="en-US" sz="3200" dirty="0"/>
              <a:t>循环神经网络</a:t>
            </a:r>
            <a:r>
              <a:rPr lang="en-US" altLang="zh-CN" sz="3200" dirty="0" smtClean="0"/>
              <a:t>---</a:t>
            </a:r>
            <a:r>
              <a:rPr lang="zh-CN" altLang="en-US" sz="3200" dirty="0"/>
              <a:t>梯度传递</a:t>
            </a:r>
          </a:p>
        </p:txBody>
      </p:sp>
      <mc:AlternateContent xmlns:mc="http://schemas.openxmlformats.org/markup-compatibility/2006" xmlns:a14="http://schemas.microsoft.com/office/drawing/2010/main">
        <mc:Choice Requires="a14">
          <p:sp>
            <p:nvSpPr>
              <p:cNvPr id="5" name="矩形 4"/>
              <p:cNvSpPr/>
              <p:nvPr/>
            </p:nvSpPr>
            <p:spPr>
              <a:xfrm>
                <a:off x="304800" y="1235480"/>
                <a:ext cx="11074400" cy="5103385"/>
              </a:xfrm>
              <a:prstGeom prst="rect">
                <a:avLst/>
              </a:prstGeom>
            </p:spPr>
            <p:txBody>
              <a:bodyPr wrap="square">
                <a:spAutoFit/>
              </a:bodyPr>
              <a:lstStyle/>
              <a:p>
                <a:pPr indent="266700" algn="just">
                  <a:lnSpc>
                    <a:spcPts val="2200"/>
                  </a:lnSpc>
                  <a:spcAft>
                    <a:spcPts val="0"/>
                  </a:spcAft>
                </a:pPr>
                <a:r>
                  <a:rPr lang="zh-CN" altLang="zh-CN" dirty="0">
                    <a:latin typeface="微软雅黑" panose="020B0503020204020204" pitchFamily="34" charset="-122"/>
                    <a:ea typeface="微软雅黑" panose="020B0503020204020204" pitchFamily="34" charset="-122"/>
                  </a:rPr>
                  <a:t>下面介绍如何根据时刻</a:t>
                </a:r>
                <a14:m>
                  <m:oMath xmlns:m="http://schemas.openxmlformats.org/officeDocument/2006/math">
                    <m:r>
                      <a:rPr lang="en-US" altLang="zh-CN">
                        <a:latin typeface="Cambria Math" panose="02040503050406030204" pitchFamily="18" charset="0"/>
                        <a:ea typeface="微软雅黑" panose="020B0503020204020204" pitchFamily="34" charset="-122"/>
                      </a:rPr>
                      <m:t>𝒕</m:t>
                    </m:r>
                  </m:oMath>
                </a14:m>
                <a:r>
                  <a:rPr lang="zh-CN" altLang="zh-CN" dirty="0">
                    <a:latin typeface="微软雅黑" panose="020B0503020204020204" pitchFamily="34" charset="-122"/>
                    <a:ea typeface="微软雅黑" panose="020B0503020204020204" pitchFamily="34" charset="-122"/>
                  </a:rPr>
                  <a:t>所得误差来更新参数</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oMath>
                </a14:m>
                <a:r>
                  <a:rPr lang="zh-CN" altLang="zh-CN" dirty="0">
                    <a:latin typeface="微软雅黑" panose="020B0503020204020204" pitchFamily="34" charset="-122"/>
                    <a:ea typeface="微软雅黑" panose="020B0503020204020204" pitchFamily="34" charset="-122"/>
                  </a:rPr>
                  <a:t>。在时刻</a:t>
                </a:r>
                <a14:m>
                  <m:oMath xmlns:m="http://schemas.openxmlformats.org/officeDocument/2006/math">
                    <m:r>
                      <a:rPr lang="en-US" altLang="zh-CN">
                        <a:latin typeface="Cambria Math" panose="02040503050406030204" pitchFamily="18" charset="0"/>
                        <a:ea typeface="微软雅黑" panose="020B0503020204020204" pitchFamily="34" charset="-122"/>
                      </a:rPr>
                      <m:t>𝒕</m:t>
                    </m:r>
                  </m:oMath>
                </a14:m>
                <a:r>
                  <a:rPr lang="zh-CN" altLang="zh-CN" dirty="0">
                    <a:latin typeface="微软雅黑" panose="020B0503020204020204" pitchFamily="34" charset="-122"/>
                    <a:ea typeface="微软雅黑" panose="020B0503020204020204" pitchFamily="34" charset="-122"/>
                  </a:rPr>
                  <a:t>计算所得</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𝒕</m:t>
                        </m:r>
                      </m:sub>
                    </m:sSub>
                  </m:oMath>
                </a14:m>
                <a:r>
                  <a:rPr lang="zh-CN" altLang="zh-CN" dirty="0">
                    <a:latin typeface="微软雅黑" panose="020B0503020204020204" pitchFamily="34" charset="-122"/>
                    <a:ea typeface="微软雅黑" panose="020B0503020204020204" pitchFamily="34" charset="-122"/>
                  </a:rPr>
                  <a:t>不仅涉及到了时刻</a:t>
                </a:r>
                <a14:m>
                  <m:oMath xmlns:m="http://schemas.openxmlformats.org/officeDocument/2006/math">
                    <m:r>
                      <a:rPr lang="en-US" altLang="zh-CN">
                        <a:latin typeface="Cambria Math" panose="02040503050406030204" pitchFamily="18" charset="0"/>
                        <a:ea typeface="微软雅黑" panose="020B0503020204020204" pitchFamily="34" charset="-122"/>
                      </a:rPr>
                      <m:t>𝒕</m:t>
                    </m:r>
                  </m:oMath>
                </a14:m>
                <a:r>
                  <a:rPr lang="zh-CN" altLang="zh-CN" dirty="0">
                    <a:latin typeface="微软雅黑" panose="020B0503020204020204" pitchFamily="34" charset="-122"/>
                    <a:ea typeface="微软雅黑" panose="020B0503020204020204" pitchFamily="34" charset="-122"/>
                  </a:rPr>
                  <a:t>的</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oMath>
                </a14:m>
                <a:r>
                  <a:rPr lang="zh-CN" altLang="zh-CN" dirty="0">
                    <a:latin typeface="微软雅黑" panose="020B0503020204020204" pitchFamily="34" charset="-122"/>
                    <a:ea typeface="微软雅黑" panose="020B0503020204020204" pitchFamily="34" charset="-122"/>
                  </a:rPr>
                  <a:t>，而且也涉及了前面所有时刻的</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oMath>
                </a14:m>
                <a:r>
                  <a:rPr lang="zh-CN" altLang="zh-CN" dirty="0">
                    <a:latin typeface="微软雅黑" panose="020B0503020204020204" pitchFamily="34" charset="-122"/>
                    <a:ea typeface="微软雅黑" panose="020B0503020204020204" pitchFamily="34" charset="-122"/>
                  </a:rPr>
                  <a:t>，按照链式求导法则，</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𝒕</m:t>
                        </m:r>
                      </m:sub>
                    </m:sSub>
                  </m:oMath>
                </a14:m>
                <a:r>
                  <a:rPr lang="zh-CN" altLang="zh-CN" dirty="0">
                    <a:latin typeface="微软雅黑" panose="020B0503020204020204" pitchFamily="34" charset="-122"/>
                    <a:ea typeface="微软雅黑" panose="020B0503020204020204" pitchFamily="34" charset="-122"/>
                  </a:rPr>
                  <a:t>在对</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oMath>
                </a14:m>
                <a:r>
                  <a:rPr lang="zh-CN" altLang="zh-CN" dirty="0">
                    <a:latin typeface="微软雅黑" panose="020B0503020204020204" pitchFamily="34" charset="-122"/>
                    <a:ea typeface="微软雅黑" panose="020B0503020204020204" pitchFamily="34" charset="-122"/>
                  </a:rPr>
                  <a:t>求导时候，也需要对前面时刻的</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oMath>
                </a14:m>
                <a:r>
                  <a:rPr lang="zh-CN" altLang="zh-CN" dirty="0">
                    <a:latin typeface="微软雅黑" panose="020B0503020204020204" pitchFamily="34" charset="-122"/>
                    <a:ea typeface="微软雅黑" panose="020B0503020204020204" pitchFamily="34" charset="-122"/>
                  </a:rPr>
                  <a:t>依次求导，然后再将求导结果进行累加，即：</a:t>
                </a:r>
              </a:p>
              <a:p>
                <a:pPr indent="266700" algn="just">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𝒕</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den>
                      </m:f>
                      <m:r>
                        <a:rPr lang="en-US" altLang="zh-CN">
                          <a:latin typeface="Cambria Math" panose="02040503050406030204" pitchFamily="18" charset="0"/>
                          <a:ea typeface="微软雅黑" panose="020B0503020204020204" pitchFamily="34" charset="-122"/>
                        </a:rPr>
                        <m:t>=</m:t>
                      </m:r>
                      <m:nary>
                        <m:naryPr>
                          <m:chr m:val="∑"/>
                          <m:limLoc m:val="undOvr"/>
                          <m:ctrlPr>
                            <a:rPr lang="zh-CN" altLang="zh-CN" i="1">
                              <a:latin typeface="Cambria Math" panose="02040503050406030204" pitchFamily="18" charset="0"/>
                              <a:ea typeface="微软雅黑" panose="020B0503020204020204" pitchFamily="34" charset="-122"/>
                            </a:rPr>
                          </m:ctrlPr>
                        </m:naryPr>
                        <m:sub>
                          <m:r>
                            <a:rPr lang="en-US" altLang="zh-CN">
                              <a:latin typeface="Cambria Math" panose="02040503050406030204" pitchFamily="18" charset="0"/>
                              <a:ea typeface="微软雅黑" panose="020B0503020204020204" pitchFamily="34" charset="-122"/>
                            </a:rPr>
                            <m:t>𝒊</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𝟏</m:t>
                          </m:r>
                        </m:sub>
                        <m:sup>
                          <m:r>
                            <a:rPr lang="en-US" altLang="zh-CN">
                              <a:latin typeface="Cambria Math" panose="02040503050406030204" pitchFamily="18" charset="0"/>
                              <a:ea typeface="微软雅黑" panose="020B0503020204020204" pitchFamily="34" charset="-122"/>
                            </a:rPr>
                            <m:t>𝒕</m:t>
                          </m:r>
                        </m:sup>
                        <m:e>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𝒕</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𝒕</m:t>
                                  </m:r>
                                </m:sub>
                              </m:sSub>
                            </m:den>
                          </m:f>
                        </m:e>
                      </m:nary>
                      <m:r>
                        <a:rPr lang="en-US" altLang="zh-CN">
                          <a:latin typeface="Cambria Math" panose="02040503050406030204" pitchFamily="18" charset="0"/>
                          <a:ea typeface="微软雅黑" panose="020B0503020204020204" pitchFamily="34" charset="-122"/>
                        </a:rPr>
                        <m:t> </m:t>
                      </m:r>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𝒕</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𝒕</m:t>
                              </m:r>
                            </m:sub>
                          </m:sSub>
                        </m:den>
                      </m:f>
                      <m:r>
                        <a:rPr lang="en-US" altLang="zh-CN">
                          <a:latin typeface="Cambria Math" panose="02040503050406030204" pitchFamily="18" charset="0"/>
                          <a:ea typeface="微软雅黑" panose="020B0503020204020204" pitchFamily="34" charset="-122"/>
                        </a:rPr>
                        <m:t>(</m:t>
                      </m:r>
                      <m:nary>
                        <m:naryPr>
                          <m:chr m:val="∏"/>
                          <m:limLoc m:val="undOvr"/>
                          <m:ctrlPr>
                            <a:rPr lang="zh-CN" altLang="zh-CN" i="1">
                              <a:latin typeface="Cambria Math" panose="02040503050406030204" pitchFamily="18" charset="0"/>
                              <a:ea typeface="微软雅黑" panose="020B0503020204020204" pitchFamily="34" charset="-122"/>
                            </a:rPr>
                          </m:ctrlPr>
                        </m:naryPr>
                        <m:sub>
                          <m:r>
                            <a:rPr lang="en-US" altLang="zh-CN">
                              <a:latin typeface="Cambria Math" panose="02040503050406030204" pitchFamily="18" charset="0"/>
                              <a:ea typeface="微软雅黑" panose="020B0503020204020204" pitchFamily="34" charset="-122"/>
                            </a:rPr>
                            <m:t>𝒋</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𝒊</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𝟏</m:t>
                          </m:r>
                        </m:sub>
                        <m:sup>
                          <m:r>
                            <a:rPr lang="en-US" altLang="zh-CN">
                              <a:latin typeface="Cambria Math" panose="02040503050406030204" pitchFamily="18" charset="0"/>
                              <a:ea typeface="微软雅黑" panose="020B0503020204020204" pitchFamily="34" charset="-122"/>
                            </a:rPr>
                            <m:t>𝒕</m:t>
                          </m:r>
                        </m:sup>
                        <m:e>
                          <m:r>
                            <a:rPr lang="en-US" altLang="zh-CN">
                              <a:latin typeface="Cambria Math" panose="02040503050406030204" pitchFamily="18" charset="0"/>
                              <a:ea typeface="微软雅黑" panose="020B0503020204020204" pitchFamily="34" charset="-122"/>
                            </a:rPr>
                            <m:t> </m:t>
                          </m:r>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𝒋</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𝒋</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𝟏</m:t>
                                  </m:r>
                                </m:sub>
                              </m:sSub>
                            </m:den>
                          </m:f>
                        </m:e>
                      </m:nary>
                      <m:r>
                        <a:rPr lang="en-US" altLang="zh-CN">
                          <a:latin typeface="Cambria Math" panose="02040503050406030204" pitchFamily="18" charset="0"/>
                          <a:ea typeface="微软雅黑" panose="020B0503020204020204" pitchFamily="34" charset="-122"/>
                        </a:rPr>
                        <m:t>)</m:t>
                      </m:r>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𝒊</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den>
                      </m:f>
                    </m:oMath>
                  </m:oMathPara>
                </a14:m>
                <a:endParaRPr lang="zh-CN" altLang="zh-CN" dirty="0">
                  <a:latin typeface="微软雅黑" panose="020B0503020204020204" pitchFamily="34" charset="-122"/>
                  <a:ea typeface="微软雅黑" panose="020B0503020204020204" pitchFamily="34" charset="-122"/>
                </a:endParaRPr>
              </a:p>
              <a:p>
                <a:pPr algn="ctr">
                  <a:lnSpc>
                    <a:spcPct val="150000"/>
                  </a:lnSpc>
                  <a:spcAft>
                    <a:spcPts val="600"/>
                  </a:spcAft>
                </a:pPr>
                <a:r>
                  <a:rPr lang="zh-CN" altLang="zh-CN" dirty="0">
                    <a:latin typeface="微软雅黑" panose="020B0503020204020204" pitchFamily="34" charset="-122"/>
                    <a:ea typeface="微软雅黑" panose="020B0503020204020204" pitchFamily="34" charset="-122"/>
                  </a:rPr>
                  <a:t>其中</a:t>
                </a:r>
                <a14:m>
                  <m:oMath xmlns:m="http://schemas.openxmlformats.org/officeDocument/2006/math">
                    <m:nary>
                      <m:naryPr>
                        <m:chr m:val="∏"/>
                        <m:limLoc m:val="undOvr"/>
                        <m:ctrlPr>
                          <a:rPr lang="zh-CN" altLang="zh-CN" i="1">
                            <a:latin typeface="Cambria Math" panose="02040503050406030204" pitchFamily="18" charset="0"/>
                            <a:ea typeface="微软雅黑" panose="020B0503020204020204" pitchFamily="34" charset="-122"/>
                          </a:rPr>
                        </m:ctrlPr>
                      </m:naryPr>
                      <m:sub>
                        <m:r>
                          <a:rPr lang="en-US" altLang="zh-CN">
                            <a:latin typeface="Cambria Math" panose="02040503050406030204" pitchFamily="18" charset="0"/>
                            <a:ea typeface="微软雅黑" panose="020B0503020204020204" pitchFamily="34" charset="-122"/>
                          </a:rPr>
                          <m:t>𝒋</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𝒊</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𝟏</m:t>
                        </m:r>
                      </m:sub>
                      <m:sup>
                        <m:r>
                          <a:rPr lang="en-US" altLang="zh-CN">
                            <a:latin typeface="Cambria Math" panose="02040503050406030204" pitchFamily="18" charset="0"/>
                            <a:ea typeface="微软雅黑" panose="020B0503020204020204" pitchFamily="34" charset="-122"/>
                          </a:rPr>
                          <m:t>𝒕</m:t>
                        </m:r>
                      </m:sup>
                      <m:e>
                        <m:r>
                          <a:rPr lang="en-US" altLang="zh-CN">
                            <a:latin typeface="Cambria Math" panose="02040503050406030204" pitchFamily="18" charset="0"/>
                            <a:ea typeface="微软雅黑" panose="020B0503020204020204" pitchFamily="34" charset="-122"/>
                          </a:rPr>
                          <m:t> </m:t>
                        </m:r>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𝒋</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𝒋</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𝟏</m:t>
                                </m:r>
                              </m:sub>
                            </m:sSub>
                          </m:den>
                        </m:f>
                      </m:e>
                    </m:nary>
                    <m:r>
                      <a:rPr lang="en-US" altLang="zh-CN">
                        <a:latin typeface="Cambria Math" panose="02040503050406030204" pitchFamily="18" charset="0"/>
                        <a:ea typeface="微软雅黑" panose="020B0503020204020204" pitchFamily="34" charset="-122"/>
                      </a:rPr>
                      <m:t>=</m:t>
                    </m:r>
                    <m:nary>
                      <m:naryPr>
                        <m:chr m:val="∏"/>
                        <m:limLoc m:val="subSup"/>
                        <m:ctrlPr>
                          <a:rPr lang="zh-CN" altLang="zh-CN" i="1">
                            <a:latin typeface="Cambria Math" panose="02040503050406030204" pitchFamily="18" charset="0"/>
                            <a:ea typeface="微软雅黑" panose="020B0503020204020204" pitchFamily="34" charset="-122"/>
                          </a:rPr>
                        </m:ctrlPr>
                      </m:naryPr>
                      <m:sub>
                        <m:r>
                          <a:rPr lang="en-US" altLang="zh-CN">
                            <a:latin typeface="Cambria Math" panose="02040503050406030204" pitchFamily="18" charset="0"/>
                            <a:ea typeface="微软雅黑" panose="020B0503020204020204" pitchFamily="34" charset="-122"/>
                          </a:rPr>
                          <m:t>𝒋</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𝒊</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𝟏</m:t>
                        </m:r>
                      </m:sub>
                      <m:sup>
                        <m:r>
                          <a:rPr lang="en-US" altLang="zh-CN">
                            <a:latin typeface="Cambria Math" panose="02040503050406030204" pitchFamily="18" charset="0"/>
                            <a:ea typeface="微软雅黑" panose="020B0503020204020204" pitchFamily="34" charset="-122"/>
                          </a:rPr>
                          <m:t>𝒕</m:t>
                        </m:r>
                      </m:sup>
                      <m:e>
                        <m:sSup>
                          <m:sSupPr>
                            <m:ctrlPr>
                              <a:rPr lang="zh-CN" altLang="zh-CN" i="1">
                                <a:latin typeface="Cambria Math" panose="02040503050406030204" pitchFamily="18" charset="0"/>
                                <a:ea typeface="微软雅黑" panose="020B0503020204020204" pitchFamily="34" charset="-122"/>
                              </a:rPr>
                            </m:ctrlPr>
                          </m:sSupPr>
                          <m:e>
                            <m:r>
                              <a:rPr lang="en-US" altLang="zh-CN">
                                <a:latin typeface="Cambria Math" panose="02040503050406030204" pitchFamily="18" charset="0"/>
                                <a:ea typeface="微软雅黑" panose="020B0503020204020204" pitchFamily="34" charset="-122"/>
                              </a:rPr>
                              <m:t>𝒕𝒂𝒏𝒉</m:t>
                            </m:r>
                          </m:e>
                          <m:sup>
                            <m:r>
                              <a:rPr lang="en-US" altLang="zh-CN">
                                <a:latin typeface="Cambria Math" panose="02040503050406030204" pitchFamily="18" charset="0"/>
                                <a:ea typeface="微软雅黑" panose="020B0503020204020204" pitchFamily="34" charset="-122"/>
                              </a:rPr>
                              <m:t>′</m:t>
                            </m:r>
                          </m:sup>
                        </m:sSup>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𝒉</m:t>
                            </m:r>
                          </m:sub>
                        </m:sSub>
                      </m:e>
                    </m:nary>
                  </m:oMath>
                </a14:m>
                <a:endParaRPr lang="zh-CN" altLang="zh-CN" dirty="0">
                  <a:latin typeface="微软雅黑" panose="020B0503020204020204" pitchFamily="34" charset="-122"/>
                  <a:ea typeface="微软雅黑" panose="020B0503020204020204" pitchFamily="34" charset="-122"/>
                </a:endParaRPr>
              </a:p>
              <a:p>
                <a:pPr indent="266700" algn="just">
                  <a:lnSpc>
                    <a:spcPts val="2200"/>
                  </a:lnSpc>
                  <a:spcAft>
                    <a:spcPts val="0"/>
                  </a:spcAft>
                </a:pPr>
                <a:r>
                  <a:rPr lang="zh-CN" altLang="zh-CN" dirty="0">
                    <a:latin typeface="微软雅黑" panose="020B0503020204020204" pitchFamily="34" charset="-122"/>
                    <a:ea typeface="微软雅黑" panose="020B0503020204020204" pitchFamily="34" charset="-122"/>
                  </a:rPr>
                  <a:t>令</a:t>
                </a:r>
                <a14:m>
                  <m:oMath xmlns:m="http://schemas.openxmlformats.org/officeDocument/2006/math">
                    <m:r>
                      <a:rPr lang="en-US" altLang="zh-CN">
                        <a:latin typeface="Cambria Math" panose="02040503050406030204" pitchFamily="18" charset="0"/>
                        <a:ea typeface="微软雅黑" panose="020B0503020204020204" pitchFamily="34" charset="-122"/>
                      </a:rPr>
                      <m:t>𝒕</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𝟑</m:t>
                    </m:r>
                  </m:oMath>
                </a14:m>
                <a:r>
                  <a:rPr lang="zh-CN" altLang="zh-CN" dirty="0">
                    <a:latin typeface="微软雅黑" panose="020B0503020204020204" pitchFamily="34" charset="-122"/>
                    <a:ea typeface="微软雅黑" panose="020B0503020204020204" pitchFamily="34" charset="-122"/>
                  </a:rPr>
                  <a:t>，则有：</a:t>
                </a:r>
              </a:p>
              <a:p>
                <a:pPr indent="266700"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den>
                      </m:f>
                      <m:r>
                        <a:rPr lang="en-US" altLang="zh-CN">
                          <a:latin typeface="Cambria Math" panose="02040503050406030204" pitchFamily="18" charset="0"/>
                          <a:ea typeface="微软雅黑" panose="020B0503020204020204" pitchFamily="34" charset="-122"/>
                        </a:rPr>
                        <m:t>=</m:t>
                      </m:r>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𝟑</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𝟑</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den>
                      </m:f>
                      <m:r>
                        <a:rPr lang="en-US" altLang="zh-CN">
                          <a:latin typeface="Cambria Math" panose="02040503050406030204" pitchFamily="18" charset="0"/>
                          <a:ea typeface="微软雅黑" panose="020B0503020204020204" pitchFamily="34" charset="-122"/>
                        </a:rPr>
                        <m:t>+</m:t>
                      </m:r>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𝟑</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𝟑</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𝟐</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𝟐</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den>
                      </m:f>
                      <m:r>
                        <a:rPr lang="en-US" altLang="zh-CN">
                          <a:latin typeface="Cambria Math" panose="02040503050406030204" pitchFamily="18" charset="0"/>
                          <a:ea typeface="微软雅黑" panose="020B0503020204020204" pitchFamily="34" charset="-122"/>
                        </a:rPr>
                        <m:t>+</m:t>
                      </m:r>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𝟑</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𝑶</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𝟑</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𝟑</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𝟐</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𝟐</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𝟏</m:t>
                              </m:r>
                            </m:sub>
                          </m:sSub>
                        </m:den>
                      </m:f>
                      <m:f>
                        <m:fPr>
                          <m:ctrlPr>
                            <a:rPr lang="zh-CN" altLang="zh-CN" i="1">
                              <a:latin typeface="Cambria Math" panose="02040503050406030204" pitchFamily="18" charset="0"/>
                              <a:ea typeface="微软雅黑" panose="020B0503020204020204" pitchFamily="34" charset="-122"/>
                            </a:rPr>
                          </m:ctrlPr>
                        </m:fPr>
                        <m:num>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𝒉</m:t>
                              </m:r>
                            </m:e>
                            <m:sub>
                              <m:r>
                                <a:rPr lang="en-US" altLang="zh-CN">
                                  <a:latin typeface="Cambria Math" panose="02040503050406030204" pitchFamily="18" charset="0"/>
                                  <a:ea typeface="微软雅黑" panose="020B0503020204020204" pitchFamily="34" charset="-122"/>
                                </a:rPr>
                                <m:t>𝟏</m:t>
                              </m:r>
                            </m:sub>
                          </m:sSub>
                        </m:num>
                        <m:den>
                          <m:r>
                            <a:rPr lang="en-US" altLang="zh-CN">
                              <a:latin typeface="Cambria Math" panose="02040503050406030204" pitchFamily="18" charset="0"/>
                              <a:ea typeface="微软雅黑" panose="020B0503020204020204" pitchFamily="34" charset="-122"/>
                            </a:rPr>
                            <m:t>𝝏</m:t>
                          </m:r>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𝒙</m:t>
                              </m:r>
                            </m:sub>
                          </m:sSub>
                        </m:den>
                      </m:f>
                    </m:oMath>
                  </m:oMathPara>
                </a14:m>
                <a:endParaRPr lang="zh-CN" altLang="zh-CN" dirty="0">
                  <a:latin typeface="微软雅黑" panose="020B0503020204020204" pitchFamily="34" charset="-122"/>
                  <a:ea typeface="微软雅黑" panose="020B0503020204020204" pitchFamily="34" charset="-122"/>
                </a:endParaRPr>
              </a:p>
              <a:p>
                <a:pPr indent="266700" algn="just">
                  <a:lnSpc>
                    <a:spcPts val="2200"/>
                  </a:lnSpc>
                  <a:spcAft>
                    <a:spcPts val="0"/>
                  </a:spcAft>
                </a:pPr>
                <a:r>
                  <a:rPr lang="zh-CN" altLang="zh-CN" dirty="0">
                    <a:latin typeface="微软雅黑" panose="020B0503020204020204" pitchFamily="34" charset="-122"/>
                    <a:ea typeface="微软雅黑" panose="020B0503020204020204" pitchFamily="34" charset="-122"/>
                  </a:rPr>
                  <a:t>由于</a:t>
                </a:r>
                <a14:m>
                  <m:oMath xmlns:m="http://schemas.openxmlformats.org/officeDocument/2006/math">
                    <m:r>
                      <a:rPr lang="en-US" altLang="zh-CN">
                        <a:latin typeface="Cambria Math" panose="02040503050406030204" pitchFamily="18" charset="0"/>
                        <a:ea typeface="微软雅黑" panose="020B0503020204020204" pitchFamily="34" charset="-122"/>
                      </a:rPr>
                      <m:t>𝒕𝒂𝒏𝒉</m:t>
                    </m:r>
                  </m:oMath>
                </a14:m>
                <a:r>
                  <a:rPr lang="zh-CN" altLang="zh-CN" dirty="0">
                    <a:latin typeface="微软雅黑" panose="020B0503020204020204" pitchFamily="34" charset="-122"/>
                    <a:ea typeface="微软雅黑" panose="020B0503020204020204" pitchFamily="34" charset="-122"/>
                  </a:rPr>
                  <a:t>函数的导数取值位于</a:t>
                </a:r>
                <a:r>
                  <a:rPr lang="en-US" altLang="zh-CN" dirty="0">
                    <a:latin typeface="微软雅黑" panose="020B0503020204020204" pitchFamily="34" charset="-122"/>
                    <a:ea typeface="微软雅黑" panose="020B0503020204020204" pitchFamily="34" charset="-122"/>
                  </a:rPr>
                  <a:t>0</a:t>
                </a:r>
                <a:r>
                  <a:rPr lang="zh-CN" altLang="zh-CN"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区间，对于长序列而言，若干多个</a:t>
                </a:r>
                <a:r>
                  <a:rPr lang="en-US" altLang="zh-CN" dirty="0">
                    <a:latin typeface="微软雅黑" panose="020B0503020204020204" pitchFamily="34" charset="-122"/>
                    <a:ea typeface="微软雅黑" panose="020B0503020204020204" pitchFamily="34" charset="-122"/>
                  </a:rPr>
                  <a:t>0</a:t>
                </a:r>
                <a:r>
                  <a:rPr lang="zh-CN" altLang="zh-CN"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区间的小数相乘，会使得参数求导结果很小，引发梯度消失问题。</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𝑬</m:t>
                        </m:r>
                      </m:e>
                      <m:sub>
                        <m:r>
                          <a:rPr lang="en-US" altLang="zh-CN">
                            <a:latin typeface="Cambria Math" panose="02040503050406030204" pitchFamily="18" charset="0"/>
                            <a:ea typeface="微软雅黑" panose="020B0503020204020204" pitchFamily="34" charset="-122"/>
                          </a:rPr>
                          <m:t>𝒕</m:t>
                        </m:r>
                      </m:sub>
                    </m:sSub>
                  </m:oMath>
                </a14:m>
                <a:r>
                  <a:rPr lang="zh-CN" altLang="zh-CN" dirty="0">
                    <a:latin typeface="微软雅黑" panose="020B0503020204020204" pitchFamily="34" charset="-122"/>
                    <a:ea typeface="微软雅黑" panose="020B0503020204020204" pitchFamily="34" charset="-122"/>
                  </a:rPr>
                  <a:t>对</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𝑾</m:t>
                        </m:r>
                      </m:e>
                      <m:sub>
                        <m:r>
                          <a:rPr lang="en-US" altLang="zh-CN">
                            <a:latin typeface="Cambria Math" panose="02040503050406030204" pitchFamily="18" charset="0"/>
                            <a:ea typeface="微软雅黑" panose="020B0503020204020204" pitchFamily="34" charset="-122"/>
                          </a:rPr>
                          <m:t>𝒉</m:t>
                        </m:r>
                      </m:sub>
                    </m:sSub>
                  </m:oMath>
                </a14:m>
                <a:r>
                  <a:rPr lang="zh-CN" altLang="zh-CN" dirty="0">
                    <a:latin typeface="微软雅黑" panose="020B0503020204020204" pitchFamily="34" charset="-122"/>
                    <a:ea typeface="微软雅黑" panose="020B0503020204020204" pitchFamily="34" charset="-122"/>
                  </a:rPr>
                  <a:t>的求导类似，这里就不列出了。为了缓解梯度消失问题，长短时记忆模型（</a:t>
                </a:r>
                <a:r>
                  <a:rPr lang="en-US" altLang="zh-CN" dirty="0">
                    <a:latin typeface="微软雅黑" panose="020B0503020204020204" pitchFamily="34" charset="-122"/>
                    <a:ea typeface="微软雅黑" panose="020B0503020204020204" pitchFamily="34" charset="-122"/>
                  </a:rPr>
                  <a:t>Long Short-Term Memory</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LSTM</a:t>
                </a:r>
                <a:r>
                  <a:rPr lang="zh-CN" altLang="zh-CN" dirty="0">
                    <a:latin typeface="微软雅黑" panose="020B0503020204020204" pitchFamily="34" charset="-122"/>
                    <a:ea typeface="微软雅黑" panose="020B0503020204020204" pitchFamily="34" charset="-122"/>
                  </a:rPr>
                  <a:t>）被提出。</a:t>
                </a:r>
              </a:p>
            </p:txBody>
          </p:sp>
        </mc:Choice>
        <mc:Fallback xmlns="">
          <p:sp>
            <p:nvSpPr>
              <p:cNvPr id="5" name="矩形 4"/>
              <p:cNvSpPr>
                <a:spLocks noRot="1" noChangeAspect="1" noMove="1" noResize="1" noEditPoints="1" noAdjustHandles="1" noChangeArrowheads="1" noChangeShapeType="1" noTextEdit="1"/>
              </p:cNvSpPr>
              <p:nvPr/>
            </p:nvSpPr>
            <p:spPr>
              <a:xfrm>
                <a:off x="304800" y="1235480"/>
                <a:ext cx="11074400" cy="5103385"/>
              </a:xfrm>
              <a:prstGeom prst="rect">
                <a:avLst/>
              </a:prstGeom>
              <a:blipFill>
                <a:blip r:embed="rId2"/>
                <a:stretch>
                  <a:fillRect l="-440" t="-956" r="-385" b="-5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21266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60774"/>
            <a:ext cx="6135014" cy="584775"/>
          </a:xfrm>
          <a:prstGeom prst="rect">
            <a:avLst/>
          </a:prstGeom>
        </p:spPr>
        <p:txBody>
          <a:bodyPr wrap="none">
            <a:spAutoFit/>
          </a:bodyPr>
          <a:lstStyle/>
          <a:p>
            <a:pPr algn="ctr">
              <a:spcBef>
                <a:spcPct val="50000"/>
              </a:spcBef>
            </a:pPr>
            <a:r>
              <a:rPr lang="zh-CN" altLang="en-US" sz="3200" dirty="0"/>
              <a:t>循环神经网络</a:t>
            </a:r>
            <a:r>
              <a:rPr lang="en-US" altLang="zh-CN" sz="3200" dirty="0" smtClean="0"/>
              <a:t>---</a:t>
            </a:r>
            <a:r>
              <a:rPr lang="zh-CN" altLang="en-US" sz="3200" dirty="0"/>
              <a:t>长短时记忆模型</a:t>
            </a:r>
          </a:p>
        </p:txBody>
      </p:sp>
      <p:sp>
        <p:nvSpPr>
          <p:cNvPr id="4" name="object 4"/>
          <p:cNvSpPr txBox="1"/>
          <p:nvPr/>
        </p:nvSpPr>
        <p:spPr>
          <a:xfrm>
            <a:off x="268033" y="1135515"/>
            <a:ext cx="7840980" cy="627736"/>
          </a:xfrm>
          <a:prstGeom prst="rect">
            <a:avLst/>
          </a:prstGeom>
        </p:spPr>
        <p:txBody>
          <a:bodyPr vert="horz" wrap="square" lIns="0" tIns="12065" rIns="0" bIns="0" rtlCol="0">
            <a:spAutoFit/>
          </a:bodyPr>
          <a:lstStyle/>
          <a:p>
            <a:pPr marL="12700">
              <a:lnSpc>
                <a:spcPct val="100000"/>
              </a:lnSpc>
              <a:spcBef>
                <a:spcPts val="95"/>
              </a:spcBef>
            </a:pPr>
            <a:r>
              <a:rPr sz="2000" dirty="0">
                <a:latin typeface="Microsoft YaHei"/>
                <a:cs typeface="Microsoft YaHei"/>
              </a:rPr>
              <a:t>与其默认遗忘，不如学习何时应该遗</a:t>
            </a:r>
            <a:r>
              <a:rPr sz="2000" spc="-5" dirty="0">
                <a:latin typeface="Microsoft YaHei"/>
                <a:cs typeface="Microsoft YaHei"/>
              </a:rPr>
              <a:t>忘</a:t>
            </a:r>
            <a:endParaRPr sz="2000" dirty="0">
              <a:latin typeface="Microsoft YaHei"/>
              <a:cs typeface="Microsoft YaHei"/>
            </a:endParaRPr>
          </a:p>
          <a:p>
            <a:pPr marL="1861185">
              <a:lnSpc>
                <a:spcPct val="100000"/>
              </a:lnSpc>
            </a:pPr>
            <a:r>
              <a:rPr sz="2000" spc="-5" dirty="0">
                <a:latin typeface="Calibri"/>
                <a:cs typeface="Calibri"/>
              </a:rPr>
              <a:t>——</a:t>
            </a:r>
            <a:r>
              <a:rPr sz="2000" spc="-10" dirty="0">
                <a:latin typeface="Calibri"/>
                <a:cs typeface="Calibri"/>
              </a:rPr>
              <a:t> </a:t>
            </a:r>
            <a:r>
              <a:rPr sz="2000" spc="-5" dirty="0">
                <a:latin typeface="Calibri"/>
                <a:cs typeface="Calibri"/>
              </a:rPr>
              <a:t>Jürgen</a:t>
            </a:r>
            <a:r>
              <a:rPr sz="2000" spc="-10" dirty="0">
                <a:latin typeface="Calibri"/>
                <a:cs typeface="Calibri"/>
              </a:rPr>
              <a:t> </a:t>
            </a:r>
            <a:r>
              <a:rPr sz="2000" spc="-5" dirty="0">
                <a:latin typeface="Calibri"/>
                <a:cs typeface="Calibri"/>
              </a:rPr>
              <a:t>Schmidhuber</a:t>
            </a:r>
            <a:r>
              <a:rPr sz="2000" spc="-10" dirty="0">
                <a:latin typeface="Calibri"/>
                <a:cs typeface="Calibri"/>
              </a:rPr>
              <a:t> </a:t>
            </a:r>
            <a:r>
              <a:rPr sz="2000" spc="-5" dirty="0">
                <a:latin typeface="Microsoft YaHei"/>
                <a:cs typeface="Microsoft YaHei"/>
              </a:rPr>
              <a:t>（</a:t>
            </a:r>
            <a:r>
              <a:rPr sz="2000" spc="-5" dirty="0">
                <a:latin typeface="Calibri"/>
                <a:cs typeface="Calibri"/>
              </a:rPr>
              <a:t>LSTM</a:t>
            </a:r>
            <a:r>
              <a:rPr sz="2000" dirty="0">
                <a:latin typeface="Microsoft YaHei"/>
                <a:cs typeface="Microsoft YaHei"/>
              </a:rPr>
              <a:t>之父</a:t>
            </a:r>
            <a:r>
              <a:rPr sz="2000" spc="-5" dirty="0">
                <a:latin typeface="Microsoft YaHei"/>
                <a:cs typeface="Microsoft YaHei"/>
              </a:rPr>
              <a:t>）</a:t>
            </a:r>
            <a:endParaRPr sz="2000" dirty="0">
              <a:latin typeface="Microsoft YaHei"/>
              <a:cs typeface="Microsoft YaHei"/>
            </a:endParaRPr>
          </a:p>
        </p:txBody>
      </p:sp>
      <p:pic>
        <p:nvPicPr>
          <p:cNvPr id="5" name="object 3"/>
          <p:cNvPicPr/>
          <p:nvPr/>
        </p:nvPicPr>
        <p:blipFill>
          <a:blip r:embed="rId2" cstate="print"/>
          <a:stretch>
            <a:fillRect/>
          </a:stretch>
        </p:blipFill>
        <p:spPr>
          <a:xfrm>
            <a:off x="710651" y="2015165"/>
            <a:ext cx="5293909" cy="3760795"/>
          </a:xfrm>
          <a:prstGeom prst="rect">
            <a:avLst/>
          </a:prstGeom>
        </p:spPr>
      </p:pic>
      <p:pic>
        <p:nvPicPr>
          <p:cNvPr id="6" name="Picture 2" descr="Activation Function - AI Wiki">
            <a:extLst>
              <a:ext uri="{FF2B5EF4-FFF2-40B4-BE49-F238E27FC236}">
                <a16:creationId xmlns:a16="http://schemas.microsoft.com/office/drawing/2014/main" id="{104A955F-E656-73E7-69CD-2AEC5B2E504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805" r="53359"/>
          <a:stretch/>
        </p:blipFill>
        <p:spPr bwMode="auto">
          <a:xfrm>
            <a:off x="7482830" y="2543628"/>
            <a:ext cx="2440384" cy="15152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ctivation Function - AI Wiki">
            <a:extLst>
              <a:ext uri="{FF2B5EF4-FFF2-40B4-BE49-F238E27FC236}">
                <a16:creationId xmlns:a16="http://schemas.microsoft.com/office/drawing/2014/main" id="{776F0E9D-C122-2650-C9E9-046FE28ABD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303" b="48721"/>
          <a:stretch/>
        </p:blipFill>
        <p:spPr bwMode="auto">
          <a:xfrm>
            <a:off x="7397205" y="4537746"/>
            <a:ext cx="2432595" cy="1649694"/>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10322560" y="3088640"/>
            <a:ext cx="975360" cy="523220"/>
          </a:xfrm>
          <a:prstGeom prst="rect">
            <a:avLst/>
          </a:prstGeom>
          <a:noFill/>
        </p:spPr>
        <p:txBody>
          <a:bodyPr wrap="square" rtlCol="0">
            <a:spAutoFit/>
          </a:bodyPr>
          <a:lstStyle/>
          <a:p>
            <a:r>
              <a:rPr lang="zh-CN" altLang="en-US" sz="1400" dirty="0" smtClean="0">
                <a:solidFill>
                  <a:srgbClr val="FF0000"/>
                </a:solidFill>
              </a:rPr>
              <a:t>决定哪些信息重要</a:t>
            </a:r>
            <a:endParaRPr lang="zh-CN" altLang="en-US" sz="1400" dirty="0">
              <a:solidFill>
                <a:srgbClr val="FF0000"/>
              </a:solidFill>
            </a:endParaRPr>
          </a:p>
        </p:txBody>
      </p:sp>
      <p:sp>
        <p:nvSpPr>
          <p:cNvPr id="9" name="文本框 8"/>
          <p:cNvSpPr txBox="1"/>
          <p:nvPr/>
        </p:nvSpPr>
        <p:spPr>
          <a:xfrm>
            <a:off x="10449560" y="5044440"/>
            <a:ext cx="975360" cy="523220"/>
          </a:xfrm>
          <a:prstGeom prst="rect">
            <a:avLst/>
          </a:prstGeom>
          <a:noFill/>
        </p:spPr>
        <p:txBody>
          <a:bodyPr wrap="square" rtlCol="0">
            <a:spAutoFit/>
          </a:bodyPr>
          <a:lstStyle/>
          <a:p>
            <a:r>
              <a:rPr lang="zh-CN" altLang="en-US" sz="1400" dirty="0" smtClean="0">
                <a:solidFill>
                  <a:srgbClr val="FF0000"/>
                </a:solidFill>
              </a:rPr>
              <a:t>生成新的候选信息</a:t>
            </a:r>
            <a:endParaRPr lang="zh-CN" altLang="en-US" sz="1400" dirty="0">
              <a:solidFill>
                <a:srgbClr val="FF0000"/>
              </a:solidFill>
            </a:endParaRPr>
          </a:p>
        </p:txBody>
      </p:sp>
      <p:sp>
        <p:nvSpPr>
          <p:cNvPr id="10" name="右箭头 9"/>
          <p:cNvSpPr/>
          <p:nvPr/>
        </p:nvSpPr>
        <p:spPr>
          <a:xfrm>
            <a:off x="9829800" y="3350250"/>
            <a:ext cx="492760" cy="1143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a:off x="9743440" y="5362593"/>
            <a:ext cx="492760" cy="1143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上箭头 11"/>
          <p:cNvSpPr/>
          <p:nvPr/>
        </p:nvSpPr>
        <p:spPr>
          <a:xfrm>
            <a:off x="8737600" y="1950720"/>
            <a:ext cx="162560" cy="48768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230746" y="1476160"/>
            <a:ext cx="1338828" cy="369332"/>
          </a:xfrm>
          <a:prstGeom prst="rect">
            <a:avLst/>
          </a:prstGeom>
        </p:spPr>
        <p:txBody>
          <a:bodyPr wrap="none">
            <a:spAutoFit/>
          </a:bodyPr>
          <a:lstStyle/>
          <a:p>
            <a:r>
              <a:rPr lang="zh-CN" altLang="zh-CN"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三种门结构</a:t>
            </a:r>
            <a:endParaRPr lang="zh-CN" altLang="en-US" dirty="0">
              <a:solidFill>
                <a:srgbClr val="FF0000"/>
              </a:solidFill>
            </a:endParaRPr>
          </a:p>
        </p:txBody>
      </p:sp>
    </p:spTree>
    <p:extLst>
      <p:ext uri="{BB962C8B-B14F-4D97-AF65-F5344CB8AC3E}">
        <p14:creationId xmlns:p14="http://schemas.microsoft.com/office/powerpoint/2010/main" val="7797927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p:nvPr/>
            </p:nvSpPr>
            <p:spPr>
              <a:xfrm>
                <a:off x="391160" y="1463328"/>
                <a:ext cx="10911840" cy="4524315"/>
              </a:xfrm>
              <a:prstGeom prst="rect">
                <a:avLst/>
              </a:prstGeom>
            </p:spPr>
            <p:txBody>
              <a:bodyPr wrap="square">
                <a:spAutoFit/>
              </a:bodyPr>
              <a:lstStyle/>
              <a:p>
                <a:pPr marL="285750" indent="-285750" algn="just">
                  <a:lnSpc>
                    <a:spcPct val="20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与简单的循环神经网络结构不同，长短时记忆网络中引入了内部记忆单元（</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internal memory cell</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gates</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）结构来对当前时刻输入信息以及前序时刻所生成信息进行整合和传递。在这里，内部记忆单元中信息可视为对</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历史信息</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的累积。</a:t>
                </a:r>
              </a:p>
              <a:p>
                <a:pPr marL="285750" indent="-285750" algn="just">
                  <a:lnSpc>
                    <a:spcPct val="200000"/>
                  </a:lnSpc>
                  <a:buFont typeface="Wingdings" panose="05000000000000000000" pitchFamily="2" charset="2"/>
                  <a:buChar char="l"/>
                </a:pP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LSTM</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模型中有输入门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(input gate)</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、遗忘门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(forget gate)</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和输出门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(output gate)</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三种门结构。对于给定的当前时刻输入数据</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𝑡</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和前一时刻隐式编码</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h</m:t>
                        </m:r>
                      </m:e>
                      <m:sub>
                        <m:r>
                          <a:rPr lang="en-US" altLang="zh-CN">
                            <a:latin typeface="Cambria Math" panose="02040503050406030204" pitchFamily="18" charset="0"/>
                          </a:rPr>
                          <m:t>𝑡</m:t>
                        </m:r>
                        <m:r>
                          <a:rPr lang="en-US" altLang="zh-CN">
                            <a:latin typeface="Cambria Math" panose="02040503050406030204" pitchFamily="18" charset="0"/>
                          </a:rPr>
                          <m:t>−1</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，输入门、遗忘门和输出门通过各自参数对其编码，分别得到三种门结构的输出</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𝑖</m:t>
                        </m:r>
                      </m:e>
                      <m:sub>
                        <m:r>
                          <a:rPr lang="en-US" altLang="zh-CN">
                            <a:latin typeface="Cambria Math" panose="02040503050406030204" pitchFamily="18" charset="0"/>
                          </a:rPr>
                          <m:t>𝑡</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𝑓</m:t>
                        </m:r>
                      </m:e>
                      <m:sub>
                        <m:r>
                          <a:rPr lang="en-US" altLang="zh-CN">
                            <a:latin typeface="Cambria Math" panose="02040503050406030204" pitchFamily="18" charset="0"/>
                          </a:rPr>
                          <m:t>𝑡</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𝑜</m:t>
                        </m:r>
                      </m:e>
                      <m:sub>
                        <m:r>
                          <a:rPr lang="en-US" altLang="zh-CN">
                            <a:latin typeface="Cambria Math" panose="02040503050406030204" pitchFamily="18" charset="0"/>
                          </a:rPr>
                          <m:t>𝑡</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20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在此基础上，再进一步结合前一时刻内部记忆单元信息</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𝑐</m:t>
                        </m:r>
                      </m:e>
                      <m:sub>
                        <m:r>
                          <a:rPr lang="en-US" altLang="zh-CN">
                            <a:latin typeface="Cambria Math" panose="02040503050406030204" pitchFamily="18" charset="0"/>
                          </a:rPr>
                          <m:t>𝑡</m:t>
                        </m:r>
                        <m:r>
                          <a:rPr lang="en-US" altLang="zh-CN">
                            <a:latin typeface="Cambria Math" panose="02040503050406030204" pitchFamily="18" charset="0"/>
                          </a:rPr>
                          <m:t>−1</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来更新当前时刻内部记忆单元信息</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𝑐</m:t>
                        </m:r>
                      </m:e>
                      <m:sub>
                        <m:r>
                          <a:rPr lang="en-US" altLang="zh-CN">
                            <a:latin typeface="Cambria Math" panose="02040503050406030204" pitchFamily="18" charset="0"/>
                          </a:rPr>
                          <m:t>𝑡</m:t>
                        </m:r>
                      </m:sub>
                    </m:sSub>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，最终得到当前时刻的隐式编码</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h</m:t>
                        </m:r>
                      </m:e>
                      <m:sub>
                        <m:r>
                          <a:rPr lang="en-US" altLang="zh-CN">
                            <a:latin typeface="Cambria Math" panose="02040503050406030204" pitchFamily="18" charset="0"/>
                          </a:rPr>
                          <m:t>𝑡</m:t>
                        </m:r>
                      </m:sub>
                    </m:sSub>
                  </m:oMath>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391160" y="1463328"/>
                <a:ext cx="10911840" cy="4524315"/>
              </a:xfrm>
              <a:prstGeom prst="rect">
                <a:avLst/>
              </a:prstGeom>
              <a:blipFill>
                <a:blip r:embed="rId2"/>
                <a:stretch>
                  <a:fillRect l="-335" r="-503"/>
                </a:stretch>
              </a:blipFill>
            </p:spPr>
            <p:txBody>
              <a:bodyPr/>
              <a:lstStyle/>
              <a:p>
                <a:r>
                  <a:rPr lang="zh-CN" altLang="en-US">
                    <a:noFill/>
                  </a:rPr>
                  <a:t> </a:t>
                </a:r>
              </a:p>
            </p:txBody>
          </p:sp>
        </mc:Fallback>
      </mc:AlternateContent>
      <p:sp>
        <p:nvSpPr>
          <p:cNvPr id="4" name="矩形 3"/>
          <p:cNvSpPr/>
          <p:nvPr/>
        </p:nvSpPr>
        <p:spPr>
          <a:xfrm>
            <a:off x="0" y="160774"/>
            <a:ext cx="6135014" cy="584775"/>
          </a:xfrm>
          <a:prstGeom prst="rect">
            <a:avLst/>
          </a:prstGeom>
        </p:spPr>
        <p:txBody>
          <a:bodyPr wrap="none">
            <a:spAutoFit/>
          </a:bodyPr>
          <a:lstStyle/>
          <a:p>
            <a:pPr algn="ctr">
              <a:spcBef>
                <a:spcPct val="50000"/>
              </a:spcBef>
            </a:pPr>
            <a:r>
              <a:rPr lang="zh-CN" altLang="en-US" sz="3200" dirty="0"/>
              <a:t>循环神经网络</a:t>
            </a:r>
            <a:r>
              <a:rPr lang="en-US" altLang="zh-CN" sz="3200" dirty="0" smtClean="0"/>
              <a:t>---</a:t>
            </a:r>
            <a:r>
              <a:rPr lang="zh-CN" altLang="en-US" sz="3200" dirty="0"/>
              <a:t>长短时记忆模型</a:t>
            </a:r>
          </a:p>
        </p:txBody>
      </p:sp>
    </p:spTree>
    <p:extLst>
      <p:ext uri="{BB962C8B-B14F-4D97-AF65-F5344CB8AC3E}">
        <p14:creationId xmlns:p14="http://schemas.microsoft.com/office/powerpoint/2010/main" val="17583362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3345" y="1474332"/>
            <a:ext cx="3513455" cy="2672526"/>
          </a:xfrm>
          <a:prstGeom prst="rect">
            <a:avLst/>
          </a:prstGeom>
        </p:spPr>
        <p:txBody>
          <a:bodyPr vert="horz" wrap="square" lIns="0" tIns="96520" rIns="0" bIns="0" rtlCol="0">
            <a:spAutoFit/>
          </a:bodyPr>
          <a:lstStyle/>
          <a:p>
            <a:pPr marL="241300" indent="-228600">
              <a:lnSpc>
                <a:spcPct val="100000"/>
              </a:lnSpc>
              <a:spcBef>
                <a:spcPts val="760"/>
              </a:spcBef>
              <a:buFont typeface="Arial MT"/>
              <a:buChar char="•"/>
              <a:tabLst>
                <a:tab pos="241300" algn="l"/>
              </a:tabLst>
            </a:pPr>
            <a:r>
              <a:rPr spc="-5" dirty="0">
                <a:latin typeface="Microsoft YaHei"/>
                <a:cs typeface="Microsoft YaHei"/>
              </a:rPr>
              <a:t>Long</a:t>
            </a:r>
            <a:r>
              <a:rPr spc="-15" dirty="0">
                <a:latin typeface="Microsoft YaHei"/>
                <a:cs typeface="Microsoft YaHei"/>
              </a:rPr>
              <a:t> </a:t>
            </a:r>
            <a:r>
              <a:rPr spc="-5" dirty="0">
                <a:latin typeface="Microsoft YaHei"/>
                <a:cs typeface="Microsoft YaHei"/>
              </a:rPr>
              <a:t>Short-Term Memory,</a:t>
            </a:r>
            <a:r>
              <a:rPr spc="-10" dirty="0">
                <a:latin typeface="Microsoft YaHei"/>
                <a:cs typeface="Microsoft YaHei"/>
              </a:rPr>
              <a:t> </a:t>
            </a:r>
            <a:r>
              <a:rPr spc="-5" dirty="0">
                <a:latin typeface="Microsoft YaHei"/>
                <a:cs typeface="Microsoft YaHei"/>
              </a:rPr>
              <a:t>LSTM</a:t>
            </a:r>
            <a:endParaRPr dirty="0">
              <a:latin typeface="Microsoft YaHei"/>
              <a:cs typeface="Microsoft YaHei"/>
            </a:endParaRPr>
          </a:p>
          <a:p>
            <a:pPr marL="736600" marR="5080" lvl="1" indent="-266700">
              <a:lnSpc>
                <a:spcPts val="3020"/>
              </a:lnSpc>
              <a:spcBef>
                <a:spcPts val="1045"/>
              </a:spcBef>
              <a:buFont typeface="Arial MT"/>
              <a:buChar char="•"/>
              <a:tabLst>
                <a:tab pos="736600" algn="l"/>
              </a:tabLst>
            </a:pPr>
            <a:r>
              <a:rPr dirty="0">
                <a:latin typeface="Microsoft YaHei"/>
                <a:cs typeface="Microsoft YaHei"/>
              </a:rPr>
              <a:t>记忆单元</a:t>
            </a:r>
            <a:r>
              <a:rPr spc="-5" dirty="0">
                <a:latin typeface="Microsoft YaHei"/>
                <a:cs typeface="Microsoft YaHei"/>
              </a:rPr>
              <a:t>（Cell</a:t>
            </a:r>
            <a:r>
              <a:rPr spc="-50" dirty="0">
                <a:latin typeface="Microsoft YaHei"/>
                <a:cs typeface="Microsoft YaHei"/>
              </a:rPr>
              <a:t> </a:t>
            </a:r>
            <a:r>
              <a:rPr spc="-5" dirty="0">
                <a:latin typeface="Microsoft YaHei"/>
                <a:cs typeface="Microsoft YaHei"/>
              </a:rPr>
              <a:t>State）：</a:t>
            </a:r>
            <a:r>
              <a:rPr dirty="0">
                <a:latin typeface="Microsoft YaHei"/>
                <a:cs typeface="Microsoft YaHei"/>
              </a:rPr>
              <a:t>存储和访问信息，并通过门控机</a:t>
            </a:r>
            <a:r>
              <a:rPr spc="-5" dirty="0">
                <a:latin typeface="Microsoft YaHei"/>
                <a:cs typeface="Microsoft YaHei"/>
              </a:rPr>
              <a:t>制 </a:t>
            </a:r>
            <a:r>
              <a:rPr dirty="0">
                <a:latin typeface="Microsoft YaHei"/>
                <a:cs typeface="Microsoft YaHei"/>
              </a:rPr>
              <a:t>来控制信息的遗忘和记</a:t>
            </a:r>
            <a:r>
              <a:rPr spc="-5" dirty="0">
                <a:latin typeface="Microsoft YaHei"/>
                <a:cs typeface="Microsoft YaHei"/>
              </a:rPr>
              <a:t>忆</a:t>
            </a:r>
            <a:endParaRPr dirty="0">
              <a:latin typeface="Microsoft YaHei"/>
              <a:cs typeface="Microsoft YaHei"/>
            </a:endParaRPr>
          </a:p>
          <a:p>
            <a:pPr marL="736600" lvl="1" indent="-266700">
              <a:lnSpc>
                <a:spcPct val="100000"/>
              </a:lnSpc>
              <a:spcBef>
                <a:spcPts val="615"/>
              </a:spcBef>
              <a:buFont typeface="Arial MT"/>
              <a:buChar char="•"/>
              <a:tabLst>
                <a:tab pos="736600" algn="l"/>
              </a:tabLst>
            </a:pPr>
            <a:r>
              <a:rPr dirty="0">
                <a:latin typeface="Microsoft YaHei"/>
                <a:cs typeface="Microsoft YaHei"/>
              </a:rPr>
              <a:t>遗忘门、输入门和输出</a:t>
            </a:r>
            <a:r>
              <a:rPr spc="-5" dirty="0">
                <a:latin typeface="Microsoft YaHei"/>
                <a:cs typeface="Microsoft YaHei"/>
              </a:rPr>
              <a:t>门</a:t>
            </a:r>
            <a:endParaRPr dirty="0">
              <a:latin typeface="Microsoft YaHei"/>
              <a:cs typeface="Microsoft YaHei"/>
            </a:endParaRPr>
          </a:p>
        </p:txBody>
      </p:sp>
      <p:pic>
        <p:nvPicPr>
          <p:cNvPr id="4" name="object 4"/>
          <p:cNvPicPr/>
          <p:nvPr/>
        </p:nvPicPr>
        <p:blipFill>
          <a:blip r:embed="rId2" cstate="print"/>
          <a:stretch>
            <a:fillRect/>
          </a:stretch>
        </p:blipFill>
        <p:spPr>
          <a:xfrm>
            <a:off x="4409323" y="5398007"/>
            <a:ext cx="3197221" cy="1181686"/>
          </a:xfrm>
          <a:prstGeom prst="rect">
            <a:avLst/>
          </a:prstGeom>
        </p:spPr>
      </p:pic>
      <p:pic>
        <p:nvPicPr>
          <p:cNvPr id="5" name="object 5"/>
          <p:cNvPicPr/>
          <p:nvPr/>
        </p:nvPicPr>
        <p:blipFill>
          <a:blip r:embed="rId3" cstate="print"/>
          <a:stretch>
            <a:fillRect/>
          </a:stretch>
        </p:blipFill>
        <p:spPr>
          <a:xfrm>
            <a:off x="8488656" y="5863846"/>
            <a:ext cx="2285649" cy="686130"/>
          </a:xfrm>
          <a:prstGeom prst="rect">
            <a:avLst/>
          </a:prstGeom>
        </p:spPr>
      </p:pic>
      <p:pic>
        <p:nvPicPr>
          <p:cNvPr id="6" name="object 6"/>
          <p:cNvPicPr/>
          <p:nvPr/>
        </p:nvPicPr>
        <p:blipFill>
          <a:blip r:embed="rId4" cstate="print"/>
          <a:stretch>
            <a:fillRect/>
          </a:stretch>
        </p:blipFill>
        <p:spPr>
          <a:xfrm>
            <a:off x="8238743" y="5303124"/>
            <a:ext cx="3105912" cy="381000"/>
          </a:xfrm>
          <a:prstGeom prst="rect">
            <a:avLst/>
          </a:prstGeom>
        </p:spPr>
      </p:pic>
      <p:sp>
        <p:nvSpPr>
          <p:cNvPr id="8" name="矩形 7"/>
          <p:cNvSpPr/>
          <p:nvPr/>
        </p:nvSpPr>
        <p:spPr>
          <a:xfrm>
            <a:off x="0" y="160774"/>
            <a:ext cx="6135014" cy="584775"/>
          </a:xfrm>
          <a:prstGeom prst="rect">
            <a:avLst/>
          </a:prstGeom>
        </p:spPr>
        <p:txBody>
          <a:bodyPr wrap="none">
            <a:spAutoFit/>
          </a:bodyPr>
          <a:lstStyle/>
          <a:p>
            <a:pPr algn="ctr">
              <a:spcBef>
                <a:spcPct val="50000"/>
              </a:spcBef>
            </a:pPr>
            <a:r>
              <a:rPr lang="zh-CN" altLang="en-US" sz="3200" dirty="0"/>
              <a:t>循环神经网络</a:t>
            </a:r>
            <a:r>
              <a:rPr lang="en-US" altLang="zh-CN" sz="3200" dirty="0" smtClean="0"/>
              <a:t>---</a:t>
            </a:r>
            <a:r>
              <a:rPr lang="zh-CN" altLang="en-US" sz="3200" dirty="0"/>
              <a:t>长短时记忆模型</a:t>
            </a:r>
          </a:p>
        </p:txBody>
      </p:sp>
      <p:pic>
        <p:nvPicPr>
          <p:cNvPr id="9" name="图片 8">
            <a:extLst>
              <a:ext uri="{FF2B5EF4-FFF2-40B4-BE49-F238E27FC236}">
                <a16:creationId xmlns:a16="http://schemas.microsoft.com/office/drawing/2014/main" id="{DEB15F29-0A57-4087-9971-022A1B5D59C5}"/>
              </a:ext>
            </a:extLst>
          </p:cNvPr>
          <p:cNvPicPr>
            <a:picLocks noChangeAspect="1"/>
          </p:cNvPicPr>
          <p:nvPr/>
        </p:nvPicPr>
        <p:blipFill>
          <a:blip r:embed="rId5"/>
          <a:stretch>
            <a:fillRect/>
          </a:stretch>
        </p:blipFill>
        <p:spPr>
          <a:xfrm>
            <a:off x="4330117" y="891479"/>
            <a:ext cx="6088963" cy="4265715"/>
          </a:xfrm>
          <a:prstGeom prst="rect">
            <a:avLst/>
          </a:prstGeom>
        </p:spPr>
      </p:pic>
    </p:spTree>
    <p:extLst>
      <p:ext uri="{BB962C8B-B14F-4D97-AF65-F5344CB8AC3E}">
        <p14:creationId xmlns:p14="http://schemas.microsoft.com/office/powerpoint/2010/main" val="33941197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7096815" cy="755913"/>
          </a:xfrm>
          <a:prstGeom prst="rect">
            <a:avLst/>
          </a:prstGeom>
        </p:spPr>
        <p:txBody>
          <a:bodyPr wrap="none">
            <a:spAutoFit/>
          </a:bodyPr>
          <a:lstStyle/>
          <a:p>
            <a:pPr>
              <a:lnSpc>
                <a:spcPct val="150000"/>
              </a:lnSpc>
            </a:pPr>
            <a:r>
              <a:rPr lang="zh-CN" altLang="en-US" sz="3200" dirty="0"/>
              <a:t>注意力机制与正则化</a:t>
            </a:r>
            <a:r>
              <a:rPr lang="en-US" altLang="zh-CN" dirty="0" smtClean="0"/>
              <a:t>---</a:t>
            </a:r>
            <a:r>
              <a:rPr lang="zh-CN" altLang="en-US" sz="3200" dirty="0"/>
              <a:t>大脑中的注意力</a:t>
            </a:r>
          </a:p>
        </p:txBody>
      </p:sp>
      <p:sp>
        <p:nvSpPr>
          <p:cNvPr id="4" name="object 3"/>
          <p:cNvSpPr txBox="1"/>
          <p:nvPr/>
        </p:nvSpPr>
        <p:spPr>
          <a:xfrm>
            <a:off x="1115058" y="1611757"/>
            <a:ext cx="9395462" cy="3523593"/>
          </a:xfrm>
          <a:prstGeom prst="rect">
            <a:avLst/>
          </a:prstGeom>
        </p:spPr>
        <p:txBody>
          <a:bodyPr vert="horz" wrap="square" lIns="0" tIns="59690" rIns="0" bIns="0" rtlCol="0">
            <a:spAutoFit/>
          </a:bodyPr>
          <a:lstStyle/>
          <a:p>
            <a:pPr marL="241300" marR="5080" indent="-228600">
              <a:lnSpc>
                <a:spcPct val="150000"/>
              </a:lnSpc>
              <a:spcBef>
                <a:spcPts val="1200"/>
              </a:spcBef>
              <a:buFont typeface="Arial MT"/>
              <a:buChar char="•"/>
              <a:tabLst>
                <a:tab pos="241300" algn="l"/>
              </a:tabLst>
            </a:pPr>
            <a:r>
              <a:rPr sz="2800" spc="-5" dirty="0">
                <a:latin typeface="Microsoft YaHei"/>
                <a:cs typeface="Microsoft YaHei"/>
              </a:rPr>
              <a:t>人脑每个时刻接收的外界输入信息</a:t>
            </a:r>
            <a:r>
              <a:rPr sz="2800" spc="5" dirty="0">
                <a:latin typeface="Microsoft YaHei"/>
                <a:cs typeface="Microsoft YaHei"/>
              </a:rPr>
              <a:t>非</a:t>
            </a:r>
            <a:r>
              <a:rPr sz="2800" spc="-5" dirty="0">
                <a:latin typeface="Microsoft YaHei"/>
                <a:cs typeface="Microsoft YaHei"/>
              </a:rPr>
              <a:t>常多</a:t>
            </a:r>
            <a:r>
              <a:rPr sz="2800" spc="5" dirty="0">
                <a:latin typeface="Microsoft YaHei"/>
                <a:cs typeface="Microsoft YaHei"/>
              </a:rPr>
              <a:t>，</a:t>
            </a:r>
            <a:r>
              <a:rPr sz="2800" spc="-5" dirty="0">
                <a:latin typeface="Microsoft YaHei"/>
                <a:cs typeface="Microsoft YaHei"/>
              </a:rPr>
              <a:t>包括</a:t>
            </a:r>
            <a:r>
              <a:rPr sz="2800" spc="5" dirty="0">
                <a:latin typeface="Microsoft YaHei"/>
                <a:cs typeface="Microsoft YaHei"/>
              </a:rPr>
              <a:t>来</a:t>
            </a:r>
            <a:r>
              <a:rPr sz="2800" spc="-5" dirty="0">
                <a:latin typeface="Microsoft YaHei"/>
                <a:cs typeface="Microsoft YaHei"/>
              </a:rPr>
              <a:t>源于</a:t>
            </a:r>
            <a:r>
              <a:rPr sz="2800" spc="5" dirty="0">
                <a:latin typeface="Microsoft YaHei"/>
                <a:cs typeface="Microsoft YaHei"/>
              </a:rPr>
              <a:t>视</a:t>
            </a:r>
            <a:r>
              <a:rPr sz="2800" spc="-5" dirty="0">
                <a:latin typeface="Microsoft YaHei"/>
                <a:cs typeface="Microsoft YaHei"/>
              </a:rPr>
              <a:t>觉、听 觉、触觉的各种各样的信息。</a:t>
            </a:r>
            <a:endParaRPr sz="2800" dirty="0">
              <a:latin typeface="Microsoft YaHei"/>
              <a:cs typeface="Microsoft YaHei"/>
            </a:endParaRPr>
          </a:p>
          <a:p>
            <a:pPr marL="241300" marR="5080" indent="-228600">
              <a:lnSpc>
                <a:spcPct val="150000"/>
              </a:lnSpc>
              <a:spcBef>
                <a:spcPts val="1200"/>
              </a:spcBef>
              <a:buFont typeface="Arial MT"/>
              <a:buChar char="•"/>
              <a:tabLst>
                <a:tab pos="241300" algn="l"/>
              </a:tabLst>
            </a:pPr>
            <a:r>
              <a:rPr sz="2800" spc="-5" dirty="0">
                <a:latin typeface="Microsoft YaHei"/>
                <a:cs typeface="Microsoft YaHei"/>
              </a:rPr>
              <a:t>但就视觉来说，眼睛每秒钟都会发</a:t>
            </a:r>
            <a:r>
              <a:rPr sz="2800" spc="5" dirty="0">
                <a:latin typeface="Microsoft YaHei"/>
                <a:cs typeface="Microsoft YaHei"/>
              </a:rPr>
              <a:t>送</a:t>
            </a:r>
            <a:r>
              <a:rPr sz="2800" spc="-5" dirty="0">
                <a:latin typeface="Microsoft YaHei"/>
                <a:cs typeface="Microsoft YaHei"/>
              </a:rPr>
              <a:t>千万</a:t>
            </a:r>
            <a:r>
              <a:rPr sz="2800" spc="5" dirty="0">
                <a:latin typeface="Microsoft YaHei"/>
                <a:cs typeface="Microsoft YaHei"/>
              </a:rPr>
              <a:t>比</a:t>
            </a:r>
            <a:r>
              <a:rPr sz="2800" spc="-5" dirty="0">
                <a:latin typeface="Microsoft YaHei"/>
                <a:cs typeface="Microsoft YaHei"/>
              </a:rPr>
              <a:t>特的</a:t>
            </a:r>
            <a:r>
              <a:rPr sz="2800" spc="5" dirty="0">
                <a:latin typeface="Microsoft YaHei"/>
                <a:cs typeface="Microsoft YaHei"/>
              </a:rPr>
              <a:t>信</a:t>
            </a:r>
            <a:r>
              <a:rPr sz="2800" spc="-5" dirty="0">
                <a:latin typeface="Microsoft YaHei"/>
                <a:cs typeface="Microsoft YaHei"/>
              </a:rPr>
              <a:t>息给</a:t>
            </a:r>
            <a:r>
              <a:rPr sz="2800" spc="5" dirty="0">
                <a:latin typeface="Microsoft YaHei"/>
                <a:cs typeface="Microsoft YaHei"/>
              </a:rPr>
              <a:t>视</a:t>
            </a:r>
            <a:r>
              <a:rPr sz="2800" spc="-5" dirty="0">
                <a:latin typeface="Microsoft YaHei"/>
                <a:cs typeface="Microsoft YaHei"/>
              </a:rPr>
              <a:t>觉神经 系统。</a:t>
            </a:r>
            <a:endParaRPr sz="2800" dirty="0">
              <a:latin typeface="Microsoft YaHei"/>
              <a:cs typeface="Microsoft YaHei"/>
            </a:endParaRPr>
          </a:p>
          <a:p>
            <a:pPr marL="241300" indent="-228600">
              <a:lnSpc>
                <a:spcPct val="150000"/>
              </a:lnSpc>
              <a:spcBef>
                <a:spcPts val="1200"/>
              </a:spcBef>
              <a:buFont typeface="Arial MT"/>
              <a:buChar char="•"/>
              <a:tabLst>
                <a:tab pos="241300" algn="l"/>
              </a:tabLst>
            </a:pPr>
            <a:r>
              <a:rPr sz="2800" spc="-5" dirty="0">
                <a:latin typeface="Microsoft YaHei"/>
                <a:cs typeface="Microsoft YaHei"/>
              </a:rPr>
              <a:t>人脑通过</a:t>
            </a:r>
            <a:r>
              <a:rPr sz="2800" spc="-5" dirty="0">
                <a:solidFill>
                  <a:srgbClr val="FF0000"/>
                </a:solidFill>
                <a:latin typeface="Microsoft YaHei"/>
                <a:cs typeface="Microsoft YaHei"/>
              </a:rPr>
              <a:t>注意力</a:t>
            </a:r>
            <a:r>
              <a:rPr sz="2800" spc="-5" dirty="0">
                <a:latin typeface="Microsoft YaHei"/>
                <a:cs typeface="Microsoft YaHei"/>
              </a:rPr>
              <a:t>来解决</a:t>
            </a:r>
            <a:r>
              <a:rPr sz="2800" spc="-5" dirty="0">
                <a:solidFill>
                  <a:srgbClr val="FF0000"/>
                </a:solidFill>
                <a:latin typeface="Microsoft YaHei"/>
                <a:cs typeface="Microsoft YaHei"/>
              </a:rPr>
              <a:t>信息超载问</a:t>
            </a:r>
            <a:r>
              <a:rPr sz="2800" spc="5" dirty="0">
                <a:solidFill>
                  <a:srgbClr val="FF0000"/>
                </a:solidFill>
                <a:latin typeface="Microsoft YaHei"/>
                <a:cs typeface="Microsoft YaHei"/>
              </a:rPr>
              <a:t>题</a:t>
            </a:r>
            <a:r>
              <a:rPr sz="2800" spc="-5" dirty="0">
                <a:latin typeface="Microsoft YaHei"/>
                <a:cs typeface="Microsoft YaHei"/>
              </a:rPr>
              <a:t>。</a:t>
            </a:r>
            <a:endParaRPr sz="2800" dirty="0">
              <a:latin typeface="Microsoft YaHei"/>
              <a:cs typeface="Microsoft YaHei"/>
            </a:endParaRPr>
          </a:p>
        </p:txBody>
      </p:sp>
    </p:spTree>
    <p:extLst>
      <p:ext uri="{BB962C8B-B14F-4D97-AF65-F5344CB8AC3E}">
        <p14:creationId xmlns:p14="http://schemas.microsoft.com/office/powerpoint/2010/main" val="22972887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6492483" cy="830997"/>
          </a:xfrm>
          <a:prstGeom prst="rect">
            <a:avLst/>
          </a:prstGeom>
        </p:spPr>
        <p:txBody>
          <a:bodyPr wrap="none">
            <a:spAutoFit/>
          </a:bodyPr>
          <a:lstStyle/>
          <a:p>
            <a:pPr>
              <a:lnSpc>
                <a:spcPct val="150000"/>
              </a:lnSpc>
            </a:pPr>
            <a:r>
              <a:rPr lang="zh-CN" altLang="en-US" sz="3200" dirty="0"/>
              <a:t>注意力机制与正则化</a:t>
            </a:r>
            <a:r>
              <a:rPr lang="en-US" altLang="zh-CN" dirty="0" smtClean="0"/>
              <a:t>---</a:t>
            </a:r>
            <a:r>
              <a:rPr lang="zh-CN" altLang="en-US" sz="3200" dirty="0"/>
              <a:t>注意力</a:t>
            </a:r>
            <a:r>
              <a:rPr lang="zh-CN" altLang="en-US" sz="3200" dirty="0" smtClean="0"/>
              <a:t>示例</a:t>
            </a:r>
            <a:endParaRPr lang="zh-CN" altLang="en-US" sz="3200" dirty="0"/>
          </a:p>
        </p:txBody>
      </p:sp>
      <p:pic>
        <p:nvPicPr>
          <p:cNvPr id="5" name="object 3"/>
          <p:cNvPicPr/>
          <p:nvPr/>
        </p:nvPicPr>
        <p:blipFill>
          <a:blip r:embed="rId2" cstate="print"/>
          <a:stretch>
            <a:fillRect/>
          </a:stretch>
        </p:blipFill>
        <p:spPr>
          <a:xfrm>
            <a:off x="2013204" y="1720088"/>
            <a:ext cx="6737603" cy="4608562"/>
          </a:xfrm>
          <a:prstGeom prst="rect">
            <a:avLst/>
          </a:prstGeom>
        </p:spPr>
      </p:pic>
    </p:spTree>
    <p:extLst>
      <p:ext uri="{BB962C8B-B14F-4D97-AF65-F5344CB8AC3E}">
        <p14:creationId xmlns:p14="http://schemas.microsoft.com/office/powerpoint/2010/main" val="40615958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6492483" cy="830997"/>
          </a:xfrm>
          <a:prstGeom prst="rect">
            <a:avLst/>
          </a:prstGeom>
        </p:spPr>
        <p:txBody>
          <a:bodyPr wrap="none">
            <a:spAutoFit/>
          </a:bodyPr>
          <a:lstStyle/>
          <a:p>
            <a:pPr>
              <a:lnSpc>
                <a:spcPct val="150000"/>
              </a:lnSpc>
            </a:pPr>
            <a:r>
              <a:rPr lang="zh-CN" altLang="en-US" sz="3200" dirty="0"/>
              <a:t>注意力机制与正则化</a:t>
            </a:r>
            <a:r>
              <a:rPr lang="en-US" altLang="zh-CN" dirty="0" smtClean="0"/>
              <a:t>---</a:t>
            </a:r>
            <a:r>
              <a:rPr lang="zh-CN" altLang="en-US" sz="3200" dirty="0"/>
              <a:t>注意力</a:t>
            </a:r>
            <a:r>
              <a:rPr lang="zh-CN" altLang="en-US" sz="3200" dirty="0" smtClean="0"/>
              <a:t>示例</a:t>
            </a:r>
            <a:endParaRPr lang="zh-CN" altLang="en-US" sz="3200" dirty="0"/>
          </a:p>
        </p:txBody>
      </p:sp>
      <p:sp>
        <p:nvSpPr>
          <p:cNvPr id="4" name="object 3"/>
          <p:cNvSpPr txBox="1"/>
          <p:nvPr/>
        </p:nvSpPr>
        <p:spPr>
          <a:xfrm>
            <a:off x="1221738" y="1249587"/>
            <a:ext cx="8902702" cy="3368871"/>
          </a:xfrm>
          <a:prstGeom prst="rect">
            <a:avLst/>
          </a:prstGeom>
        </p:spPr>
        <p:txBody>
          <a:bodyPr vert="horz" wrap="square" lIns="0" tIns="59690" rIns="0" bIns="0" rtlCol="0">
            <a:spAutoFit/>
          </a:bodyPr>
          <a:lstStyle/>
          <a:p>
            <a:pPr marL="241300" marR="5080" indent="-228600">
              <a:lnSpc>
                <a:spcPct val="150000"/>
              </a:lnSpc>
              <a:spcBef>
                <a:spcPts val="470"/>
              </a:spcBef>
              <a:buFont typeface="Arial MT"/>
              <a:buChar char="•"/>
              <a:tabLst>
                <a:tab pos="241300" algn="l"/>
              </a:tabLst>
            </a:pPr>
            <a:r>
              <a:rPr sz="2800" spc="-5" dirty="0">
                <a:latin typeface="Microsoft YaHei"/>
                <a:cs typeface="Microsoft YaHei"/>
              </a:rPr>
              <a:t>当一个人在吵闹的鸡尾酒会上和朋</a:t>
            </a:r>
            <a:r>
              <a:rPr sz="2800" spc="5" dirty="0">
                <a:latin typeface="Microsoft YaHei"/>
                <a:cs typeface="Microsoft YaHei"/>
              </a:rPr>
              <a:t>友</a:t>
            </a:r>
            <a:r>
              <a:rPr sz="2800" spc="-5" dirty="0">
                <a:latin typeface="Microsoft YaHei"/>
                <a:cs typeface="Microsoft YaHei"/>
              </a:rPr>
              <a:t>聊天</a:t>
            </a:r>
            <a:r>
              <a:rPr sz="2800" spc="5" dirty="0">
                <a:latin typeface="Microsoft YaHei"/>
                <a:cs typeface="Microsoft YaHei"/>
              </a:rPr>
              <a:t>时</a:t>
            </a:r>
            <a:r>
              <a:rPr sz="2800" spc="-5" dirty="0">
                <a:latin typeface="Microsoft YaHei"/>
                <a:cs typeface="Microsoft YaHei"/>
              </a:rPr>
              <a:t>，尽</a:t>
            </a:r>
            <a:r>
              <a:rPr sz="2800" spc="5" dirty="0">
                <a:latin typeface="Microsoft YaHei"/>
                <a:cs typeface="Microsoft YaHei"/>
              </a:rPr>
              <a:t>管</a:t>
            </a:r>
            <a:r>
              <a:rPr sz="2800" spc="-5" dirty="0">
                <a:latin typeface="Microsoft YaHei"/>
                <a:cs typeface="Microsoft YaHei"/>
              </a:rPr>
              <a:t>周围</a:t>
            </a:r>
            <a:r>
              <a:rPr sz="2800" spc="5" dirty="0">
                <a:latin typeface="Microsoft YaHei"/>
                <a:cs typeface="Microsoft YaHei"/>
              </a:rPr>
              <a:t>噪</a:t>
            </a:r>
            <a:r>
              <a:rPr sz="2800" spc="-5" dirty="0">
                <a:latin typeface="Microsoft YaHei"/>
                <a:cs typeface="Microsoft YaHei"/>
              </a:rPr>
              <a:t>音干扰 </a:t>
            </a:r>
            <a:r>
              <a:rPr sz="2800" spc="-5" dirty="0" err="1">
                <a:latin typeface="Microsoft YaHei"/>
                <a:cs typeface="Microsoft YaHei"/>
              </a:rPr>
              <a:t>很多，他还是可以听到朋友的谈话</a:t>
            </a:r>
            <a:r>
              <a:rPr sz="2800" spc="5" dirty="0" err="1">
                <a:latin typeface="Microsoft YaHei"/>
                <a:cs typeface="Microsoft YaHei"/>
              </a:rPr>
              <a:t>内</a:t>
            </a:r>
            <a:r>
              <a:rPr sz="2800" spc="-5" dirty="0" err="1">
                <a:latin typeface="Microsoft YaHei"/>
                <a:cs typeface="Microsoft YaHei"/>
              </a:rPr>
              <a:t>容，</a:t>
            </a:r>
            <a:r>
              <a:rPr sz="2800" spc="5" dirty="0" err="1">
                <a:latin typeface="Microsoft YaHei"/>
                <a:cs typeface="Microsoft YaHei"/>
              </a:rPr>
              <a:t>而</a:t>
            </a:r>
            <a:r>
              <a:rPr sz="2800" spc="-5" dirty="0" err="1">
                <a:latin typeface="Microsoft YaHei"/>
                <a:cs typeface="Microsoft YaHei"/>
              </a:rPr>
              <a:t>忽略</a:t>
            </a:r>
            <a:r>
              <a:rPr sz="2800" spc="5" dirty="0" err="1">
                <a:latin typeface="Microsoft YaHei"/>
                <a:cs typeface="Microsoft YaHei"/>
              </a:rPr>
              <a:t>其</a:t>
            </a:r>
            <a:r>
              <a:rPr sz="2800" spc="-5" dirty="0" err="1">
                <a:latin typeface="Microsoft YaHei"/>
                <a:cs typeface="Microsoft YaHei"/>
              </a:rPr>
              <a:t>他人</a:t>
            </a:r>
            <a:r>
              <a:rPr sz="2800" spc="5" dirty="0" err="1">
                <a:latin typeface="Microsoft YaHei"/>
                <a:cs typeface="Microsoft YaHei"/>
              </a:rPr>
              <a:t>的</a:t>
            </a:r>
            <a:r>
              <a:rPr sz="2800" spc="-5" dirty="0" err="1">
                <a:latin typeface="Microsoft YaHei"/>
                <a:cs typeface="Microsoft YaHei"/>
              </a:rPr>
              <a:t>声音</a:t>
            </a:r>
            <a:r>
              <a:rPr sz="2800" spc="-5" dirty="0" smtClean="0">
                <a:latin typeface="Microsoft YaHei"/>
                <a:cs typeface="Microsoft YaHei"/>
              </a:rPr>
              <a:t>。</a:t>
            </a:r>
            <a:endParaRPr sz="2700" dirty="0">
              <a:latin typeface="Microsoft YaHei"/>
              <a:cs typeface="Microsoft YaHei"/>
            </a:endParaRPr>
          </a:p>
          <a:p>
            <a:pPr marL="241300" marR="5080" indent="-228600">
              <a:lnSpc>
                <a:spcPct val="150000"/>
              </a:lnSpc>
              <a:spcBef>
                <a:spcPts val="600"/>
              </a:spcBef>
              <a:buFont typeface="Arial MT"/>
              <a:buChar char="•"/>
              <a:tabLst>
                <a:tab pos="241300" algn="l"/>
              </a:tabLst>
            </a:pPr>
            <a:r>
              <a:rPr sz="2800" spc="-5" dirty="0">
                <a:latin typeface="Microsoft YaHei"/>
                <a:cs typeface="Microsoft YaHei"/>
              </a:rPr>
              <a:t>同时，如果未注意到的背景声中有</a:t>
            </a:r>
            <a:r>
              <a:rPr sz="2800" spc="5" dirty="0">
                <a:latin typeface="Microsoft YaHei"/>
                <a:cs typeface="Microsoft YaHei"/>
              </a:rPr>
              <a:t>重</a:t>
            </a:r>
            <a:r>
              <a:rPr sz="2800" spc="-5" dirty="0">
                <a:latin typeface="Microsoft YaHei"/>
                <a:cs typeface="Microsoft YaHei"/>
              </a:rPr>
              <a:t>要的</a:t>
            </a:r>
            <a:r>
              <a:rPr sz="2800" spc="5" dirty="0">
                <a:latin typeface="Microsoft YaHei"/>
                <a:cs typeface="Microsoft YaHei"/>
              </a:rPr>
              <a:t>词</a:t>
            </a:r>
            <a:r>
              <a:rPr sz="2800" spc="-5" dirty="0">
                <a:latin typeface="Microsoft YaHei"/>
                <a:cs typeface="Microsoft YaHei"/>
              </a:rPr>
              <a:t>（比</a:t>
            </a:r>
            <a:r>
              <a:rPr sz="2800" spc="5" dirty="0">
                <a:latin typeface="Microsoft YaHei"/>
                <a:cs typeface="Microsoft YaHei"/>
              </a:rPr>
              <a:t>如</a:t>
            </a:r>
            <a:r>
              <a:rPr sz="2800" spc="-5" dirty="0">
                <a:latin typeface="Microsoft YaHei"/>
                <a:cs typeface="Microsoft YaHei"/>
              </a:rPr>
              <a:t>他的</a:t>
            </a:r>
            <a:r>
              <a:rPr sz="2800" spc="5" dirty="0">
                <a:latin typeface="Microsoft YaHei"/>
                <a:cs typeface="Microsoft YaHei"/>
              </a:rPr>
              <a:t>名</a:t>
            </a:r>
            <a:r>
              <a:rPr sz="2800" spc="-5" dirty="0">
                <a:latin typeface="Microsoft YaHei"/>
                <a:cs typeface="Microsoft YaHei"/>
              </a:rPr>
              <a:t>字）， 他会马上注意到。</a:t>
            </a:r>
            <a:endParaRPr sz="2800" dirty="0">
              <a:latin typeface="Microsoft YaHei"/>
              <a:cs typeface="Microsoft YaHei"/>
            </a:endParaRPr>
          </a:p>
        </p:txBody>
      </p:sp>
      <p:sp>
        <p:nvSpPr>
          <p:cNvPr id="6" name="object 4"/>
          <p:cNvSpPr txBox="1"/>
          <p:nvPr/>
        </p:nvSpPr>
        <p:spPr>
          <a:xfrm>
            <a:off x="3451202" y="5383277"/>
            <a:ext cx="2466975" cy="513715"/>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FF0000"/>
                </a:solidFill>
                <a:latin typeface="Microsoft YaHei"/>
                <a:cs typeface="Microsoft YaHei"/>
              </a:rPr>
              <a:t>鸡尾酒会效应</a:t>
            </a:r>
            <a:endParaRPr sz="3200" dirty="0">
              <a:latin typeface="Microsoft YaHei"/>
              <a:cs typeface="Microsoft YaHei"/>
            </a:endParaRPr>
          </a:p>
        </p:txBody>
      </p:sp>
      <p:sp>
        <p:nvSpPr>
          <p:cNvPr id="7" name="object 5"/>
          <p:cNvSpPr txBox="1"/>
          <p:nvPr/>
        </p:nvSpPr>
        <p:spPr>
          <a:xfrm>
            <a:off x="8130593" y="5383277"/>
            <a:ext cx="109093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Microsoft YaHei"/>
                <a:cs typeface="Microsoft YaHei"/>
              </a:rPr>
              <a:t>考试？</a:t>
            </a:r>
            <a:endParaRPr sz="2800" dirty="0">
              <a:latin typeface="Microsoft YaHei"/>
              <a:cs typeface="Microsoft YaHei"/>
            </a:endParaRPr>
          </a:p>
        </p:txBody>
      </p:sp>
    </p:spTree>
    <p:extLst>
      <p:ext uri="{BB962C8B-B14F-4D97-AF65-F5344CB8AC3E}">
        <p14:creationId xmlns:p14="http://schemas.microsoft.com/office/powerpoint/2010/main" val="34052753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6492483" cy="830997"/>
          </a:xfrm>
          <a:prstGeom prst="rect">
            <a:avLst/>
          </a:prstGeom>
        </p:spPr>
        <p:txBody>
          <a:bodyPr wrap="none">
            <a:spAutoFit/>
          </a:bodyPr>
          <a:lstStyle/>
          <a:p>
            <a:pPr>
              <a:lnSpc>
                <a:spcPct val="150000"/>
              </a:lnSpc>
            </a:pPr>
            <a:r>
              <a:rPr lang="zh-CN" altLang="en-US" sz="3200" dirty="0"/>
              <a:t>注意力机制与正则化</a:t>
            </a:r>
            <a:r>
              <a:rPr lang="en-US" altLang="zh-CN" dirty="0" smtClean="0"/>
              <a:t>---</a:t>
            </a:r>
            <a:r>
              <a:rPr lang="zh-CN" altLang="en-US" sz="3200" dirty="0"/>
              <a:t>注意力</a:t>
            </a:r>
            <a:r>
              <a:rPr lang="zh-CN" altLang="en-US" sz="3200" dirty="0" smtClean="0"/>
              <a:t>示例</a:t>
            </a:r>
            <a:endParaRPr lang="zh-CN" altLang="en-US" sz="3200" dirty="0"/>
          </a:p>
        </p:txBody>
      </p:sp>
      <p:pic>
        <p:nvPicPr>
          <p:cNvPr id="8" name="object 3"/>
          <p:cNvPicPr/>
          <p:nvPr/>
        </p:nvPicPr>
        <p:blipFill>
          <a:blip r:embed="rId2" cstate="print"/>
          <a:stretch>
            <a:fillRect/>
          </a:stretch>
        </p:blipFill>
        <p:spPr>
          <a:xfrm>
            <a:off x="3408680" y="1534160"/>
            <a:ext cx="4429760" cy="3190240"/>
          </a:xfrm>
          <a:prstGeom prst="rect">
            <a:avLst/>
          </a:prstGeom>
        </p:spPr>
      </p:pic>
      <p:sp>
        <p:nvSpPr>
          <p:cNvPr id="9" name="object 4"/>
          <p:cNvSpPr txBox="1"/>
          <p:nvPr/>
        </p:nvSpPr>
        <p:spPr>
          <a:xfrm>
            <a:off x="3788410" y="5227488"/>
            <a:ext cx="3670300"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Microsoft YaHei"/>
                <a:cs typeface="Microsoft YaHei"/>
              </a:rPr>
              <a:t>所有黑色牌的数字之和为多少？</a:t>
            </a:r>
          </a:p>
        </p:txBody>
      </p:sp>
    </p:spTree>
    <p:extLst>
      <p:ext uri="{BB962C8B-B14F-4D97-AF65-F5344CB8AC3E}">
        <p14:creationId xmlns:p14="http://schemas.microsoft.com/office/powerpoint/2010/main" val="31508422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7507183" cy="830997"/>
          </a:xfrm>
          <a:prstGeom prst="rect">
            <a:avLst/>
          </a:prstGeom>
        </p:spPr>
        <p:txBody>
          <a:bodyPr wrap="none">
            <a:spAutoFit/>
          </a:bodyPr>
          <a:lstStyle/>
          <a:p>
            <a:pPr>
              <a:lnSpc>
                <a:spcPct val="150000"/>
              </a:lnSpc>
            </a:pPr>
            <a:r>
              <a:rPr lang="zh-CN" altLang="en-US" sz="3200" dirty="0"/>
              <a:t>注意力机制与正则化</a:t>
            </a:r>
            <a:r>
              <a:rPr lang="en-US" altLang="zh-CN" dirty="0" smtClean="0"/>
              <a:t>---</a:t>
            </a:r>
            <a:r>
              <a:rPr lang="zh-CN" altLang="en-US" sz="3200" dirty="0"/>
              <a:t>生物学中的注意力</a:t>
            </a:r>
          </a:p>
        </p:txBody>
      </p:sp>
      <p:sp>
        <p:nvSpPr>
          <p:cNvPr id="5" name="object 3"/>
          <p:cNvSpPr txBox="1"/>
          <p:nvPr/>
        </p:nvSpPr>
        <p:spPr>
          <a:xfrm>
            <a:off x="871218" y="1134643"/>
            <a:ext cx="8069580" cy="1049655"/>
          </a:xfrm>
          <a:prstGeom prst="rect">
            <a:avLst/>
          </a:prstGeom>
        </p:spPr>
        <p:txBody>
          <a:bodyPr vert="horz" wrap="square" lIns="0" tIns="97790" rIns="0" bIns="0" rtlCol="0">
            <a:spAutoFit/>
          </a:bodyPr>
          <a:lstStyle/>
          <a:p>
            <a:pPr marL="241300" indent="-228600">
              <a:lnSpc>
                <a:spcPct val="100000"/>
              </a:lnSpc>
              <a:spcBef>
                <a:spcPts val="770"/>
              </a:spcBef>
              <a:buFont typeface="Arial MT"/>
              <a:buChar char="•"/>
              <a:tabLst>
                <a:tab pos="241300" algn="l"/>
              </a:tabLst>
            </a:pPr>
            <a:r>
              <a:rPr sz="2800" spc="-5" dirty="0">
                <a:latin typeface="Microsoft YaHei"/>
                <a:cs typeface="Microsoft YaHei"/>
              </a:rPr>
              <a:t>非自主性提示：基于环境中物体的</a:t>
            </a:r>
            <a:r>
              <a:rPr sz="2800" spc="5" dirty="0">
                <a:latin typeface="Microsoft YaHei"/>
                <a:cs typeface="Microsoft YaHei"/>
              </a:rPr>
              <a:t>突</a:t>
            </a:r>
            <a:r>
              <a:rPr sz="2800" spc="-5" dirty="0">
                <a:latin typeface="Microsoft YaHei"/>
                <a:cs typeface="Microsoft YaHei"/>
              </a:rPr>
              <a:t>出性</a:t>
            </a:r>
            <a:r>
              <a:rPr sz="2800" spc="5" dirty="0">
                <a:latin typeface="Microsoft YaHei"/>
                <a:cs typeface="Microsoft YaHei"/>
              </a:rPr>
              <a:t>和</a:t>
            </a:r>
            <a:r>
              <a:rPr sz="2800" spc="-5" dirty="0">
                <a:latin typeface="Microsoft YaHei"/>
                <a:cs typeface="Microsoft YaHei"/>
              </a:rPr>
              <a:t>易见性</a:t>
            </a:r>
            <a:endParaRPr sz="2800" dirty="0">
              <a:latin typeface="Microsoft YaHei"/>
              <a:cs typeface="Microsoft YaHei"/>
            </a:endParaRPr>
          </a:p>
          <a:p>
            <a:pPr marL="241300" indent="-228600">
              <a:lnSpc>
                <a:spcPct val="100000"/>
              </a:lnSpc>
              <a:spcBef>
                <a:spcPts val="675"/>
              </a:spcBef>
              <a:buFont typeface="Arial MT"/>
              <a:buChar char="•"/>
              <a:tabLst>
                <a:tab pos="241300" algn="l"/>
              </a:tabLst>
            </a:pPr>
            <a:r>
              <a:rPr sz="2800" spc="-5" dirty="0">
                <a:latin typeface="Microsoft YaHei"/>
                <a:cs typeface="Microsoft YaHei"/>
              </a:rPr>
              <a:t>自主性提示：认知和意识的控制</a:t>
            </a:r>
            <a:endParaRPr sz="2800" dirty="0">
              <a:latin typeface="Microsoft YaHei"/>
              <a:cs typeface="Microsoft YaHei"/>
            </a:endParaRPr>
          </a:p>
        </p:txBody>
      </p:sp>
      <p:pic>
        <p:nvPicPr>
          <p:cNvPr id="6" name="object 5"/>
          <p:cNvPicPr/>
          <p:nvPr/>
        </p:nvPicPr>
        <p:blipFill>
          <a:blip r:embed="rId2" cstate="print"/>
          <a:stretch>
            <a:fillRect/>
          </a:stretch>
        </p:blipFill>
        <p:spPr>
          <a:xfrm>
            <a:off x="1327001" y="2787308"/>
            <a:ext cx="3603417" cy="2411124"/>
          </a:xfrm>
          <a:prstGeom prst="rect">
            <a:avLst/>
          </a:prstGeom>
        </p:spPr>
      </p:pic>
      <p:pic>
        <p:nvPicPr>
          <p:cNvPr id="7" name="object 6"/>
          <p:cNvPicPr/>
          <p:nvPr/>
        </p:nvPicPr>
        <p:blipFill>
          <a:blip r:embed="rId3" cstate="print"/>
          <a:stretch>
            <a:fillRect/>
          </a:stretch>
        </p:blipFill>
        <p:spPr>
          <a:xfrm>
            <a:off x="6398677" y="2648955"/>
            <a:ext cx="3234686" cy="2472080"/>
          </a:xfrm>
          <a:prstGeom prst="rect">
            <a:avLst/>
          </a:prstGeom>
        </p:spPr>
      </p:pic>
      <p:sp>
        <p:nvSpPr>
          <p:cNvPr id="10" name="object 7"/>
          <p:cNvSpPr txBox="1"/>
          <p:nvPr/>
        </p:nvSpPr>
        <p:spPr>
          <a:xfrm>
            <a:off x="2192700" y="5973562"/>
            <a:ext cx="144589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Microsoft YaHei"/>
                <a:cs typeface="Microsoft YaHei"/>
              </a:rPr>
              <a:t>自下而上</a:t>
            </a:r>
            <a:endParaRPr sz="2800">
              <a:latin typeface="Microsoft YaHei"/>
              <a:cs typeface="Microsoft YaHei"/>
            </a:endParaRPr>
          </a:p>
        </p:txBody>
      </p:sp>
      <p:sp>
        <p:nvSpPr>
          <p:cNvPr id="11" name="object 8"/>
          <p:cNvSpPr txBox="1"/>
          <p:nvPr/>
        </p:nvSpPr>
        <p:spPr>
          <a:xfrm>
            <a:off x="2192700" y="5553133"/>
            <a:ext cx="6765925" cy="452120"/>
          </a:xfrm>
          <a:prstGeom prst="rect">
            <a:avLst/>
          </a:prstGeom>
        </p:spPr>
        <p:txBody>
          <a:bodyPr vert="horz" wrap="square" lIns="0" tIns="12065" rIns="0" bIns="0" rtlCol="0">
            <a:spAutoFit/>
          </a:bodyPr>
          <a:lstStyle/>
          <a:p>
            <a:pPr marL="12700">
              <a:lnSpc>
                <a:spcPct val="100000"/>
              </a:lnSpc>
              <a:spcBef>
                <a:spcPts val="95"/>
              </a:spcBef>
              <a:tabLst>
                <a:tab pos="4560570" algn="l"/>
              </a:tabLst>
            </a:pPr>
            <a:r>
              <a:rPr sz="2800" spc="-5" dirty="0">
                <a:latin typeface="Microsoft YaHei"/>
                <a:cs typeface="Microsoft YaHei"/>
              </a:rPr>
              <a:t>汇聚（</a:t>
            </a:r>
            <a:r>
              <a:rPr sz="2800" spc="-10" dirty="0">
                <a:latin typeface="Calibri"/>
                <a:cs typeface="Calibri"/>
              </a:rPr>
              <a:t>p</a:t>
            </a:r>
            <a:r>
              <a:rPr sz="2800" spc="-5" dirty="0">
                <a:latin typeface="Calibri"/>
                <a:cs typeface="Calibri"/>
              </a:rPr>
              <a:t>oo</a:t>
            </a:r>
            <a:r>
              <a:rPr sz="2800" spc="-15" dirty="0">
                <a:latin typeface="Calibri"/>
                <a:cs typeface="Calibri"/>
              </a:rPr>
              <a:t>lin</a:t>
            </a:r>
            <a:r>
              <a:rPr sz="2800" dirty="0">
                <a:latin typeface="Calibri"/>
                <a:cs typeface="Calibri"/>
              </a:rPr>
              <a:t>g</a:t>
            </a:r>
            <a:r>
              <a:rPr sz="2800" spc="-5" dirty="0">
                <a:latin typeface="Microsoft YaHei"/>
                <a:cs typeface="Microsoft YaHei"/>
              </a:rPr>
              <a:t>）</a:t>
            </a:r>
            <a:r>
              <a:rPr sz="2800" dirty="0">
                <a:latin typeface="Microsoft YaHei"/>
                <a:cs typeface="Microsoft YaHei"/>
              </a:rPr>
              <a:t>	</a:t>
            </a:r>
            <a:r>
              <a:rPr sz="2800" spc="-5" dirty="0">
                <a:latin typeface="Microsoft YaHei"/>
                <a:cs typeface="Microsoft YaHei"/>
              </a:rPr>
              <a:t>聚焦（</a:t>
            </a:r>
            <a:r>
              <a:rPr sz="2800" spc="-10" dirty="0">
                <a:latin typeface="Calibri"/>
                <a:cs typeface="Calibri"/>
              </a:rPr>
              <a:t>f</a:t>
            </a:r>
            <a:r>
              <a:rPr sz="2800" spc="-5" dirty="0">
                <a:latin typeface="Calibri"/>
                <a:cs typeface="Calibri"/>
              </a:rPr>
              <a:t>o</a:t>
            </a:r>
            <a:r>
              <a:rPr sz="2800" dirty="0">
                <a:latin typeface="Calibri"/>
                <a:cs typeface="Calibri"/>
              </a:rPr>
              <a:t>c</a:t>
            </a:r>
            <a:r>
              <a:rPr sz="2800" spc="-10" dirty="0">
                <a:latin typeface="Calibri"/>
                <a:cs typeface="Calibri"/>
              </a:rPr>
              <a:t>us</a:t>
            </a:r>
            <a:r>
              <a:rPr sz="2800" spc="-5" dirty="0">
                <a:latin typeface="Microsoft YaHei"/>
                <a:cs typeface="Microsoft YaHei"/>
              </a:rPr>
              <a:t>）</a:t>
            </a:r>
            <a:endParaRPr sz="2800">
              <a:latin typeface="Microsoft YaHei"/>
              <a:cs typeface="Microsoft YaHei"/>
            </a:endParaRPr>
          </a:p>
        </p:txBody>
      </p:sp>
      <p:sp>
        <p:nvSpPr>
          <p:cNvPr id="12" name="object 9"/>
          <p:cNvSpPr txBox="1"/>
          <p:nvPr/>
        </p:nvSpPr>
        <p:spPr>
          <a:xfrm>
            <a:off x="4358739" y="6133894"/>
            <a:ext cx="4079875" cy="452120"/>
          </a:xfrm>
          <a:prstGeom prst="rect">
            <a:avLst/>
          </a:prstGeom>
        </p:spPr>
        <p:txBody>
          <a:bodyPr vert="horz" wrap="square" lIns="0" tIns="12065" rIns="0" bIns="0" rtlCol="0">
            <a:spAutoFit/>
          </a:bodyPr>
          <a:lstStyle/>
          <a:p>
            <a:pPr marL="38100">
              <a:lnSpc>
                <a:spcPct val="100000"/>
              </a:lnSpc>
              <a:spcBef>
                <a:spcPts val="95"/>
              </a:spcBef>
              <a:tabLst>
                <a:tab pos="2620645" algn="l"/>
              </a:tabLst>
            </a:pPr>
            <a:r>
              <a:rPr sz="2800" spc="-5" dirty="0">
                <a:latin typeface="Microsoft YaHei"/>
                <a:cs typeface="Microsoft YaHei"/>
              </a:rPr>
              <a:t>MaxPooling？	</a:t>
            </a:r>
            <a:r>
              <a:rPr sz="4200" spc="-7" baseline="22817" dirty="0">
                <a:latin typeface="Microsoft YaHei"/>
                <a:cs typeface="Microsoft YaHei"/>
              </a:rPr>
              <a:t>自上而下</a:t>
            </a:r>
            <a:endParaRPr sz="4200" baseline="22817" dirty="0">
              <a:latin typeface="Microsoft YaHei"/>
              <a:cs typeface="Microsoft YaHei"/>
            </a:endParaRPr>
          </a:p>
        </p:txBody>
      </p:sp>
    </p:spTree>
    <p:extLst>
      <p:ext uri="{BB962C8B-B14F-4D97-AF65-F5344CB8AC3E}">
        <p14:creationId xmlns:p14="http://schemas.microsoft.com/office/powerpoint/2010/main" val="12612631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9559027" cy="830997"/>
          </a:xfrm>
          <a:prstGeom prst="rect">
            <a:avLst/>
          </a:prstGeom>
        </p:spPr>
        <p:txBody>
          <a:bodyPr wrap="none">
            <a:spAutoFit/>
          </a:bodyPr>
          <a:lstStyle/>
          <a:p>
            <a:pPr>
              <a:lnSpc>
                <a:spcPct val="150000"/>
              </a:lnSpc>
            </a:pPr>
            <a:r>
              <a:rPr lang="zh-CN" altLang="en-US" sz="3200" dirty="0"/>
              <a:t>注意力机制与正则化</a:t>
            </a:r>
            <a:r>
              <a:rPr lang="en-US" altLang="zh-CN" dirty="0" smtClean="0"/>
              <a:t>---</a:t>
            </a:r>
            <a:r>
              <a:rPr lang="zh-CN" altLang="en-US" sz="3200" dirty="0"/>
              <a:t>人工神经网络中的注意力机制</a:t>
            </a:r>
          </a:p>
        </p:txBody>
      </p:sp>
      <p:sp>
        <p:nvSpPr>
          <p:cNvPr id="6" name="object 3"/>
          <p:cNvSpPr txBox="1"/>
          <p:nvPr/>
        </p:nvSpPr>
        <p:spPr>
          <a:xfrm>
            <a:off x="871218" y="1220597"/>
            <a:ext cx="4515485" cy="381515"/>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z="2400" spc="-5" dirty="0">
                <a:latin typeface="Microsoft YaHei"/>
                <a:cs typeface="Microsoft YaHei"/>
              </a:rPr>
              <a:t>注意力，“全局信息查询”</a:t>
            </a:r>
            <a:endParaRPr sz="2400" dirty="0">
              <a:latin typeface="Microsoft YaHei"/>
              <a:cs typeface="Microsoft YaHei"/>
            </a:endParaRPr>
          </a:p>
        </p:txBody>
      </p:sp>
      <p:pic>
        <p:nvPicPr>
          <p:cNvPr id="7" name="object 4"/>
          <p:cNvPicPr/>
          <p:nvPr/>
        </p:nvPicPr>
        <p:blipFill>
          <a:blip r:embed="rId2" cstate="print"/>
          <a:stretch>
            <a:fillRect/>
          </a:stretch>
        </p:blipFill>
        <p:spPr>
          <a:xfrm>
            <a:off x="1487424" y="1907488"/>
            <a:ext cx="7951216" cy="4645712"/>
          </a:xfrm>
          <a:prstGeom prst="rect">
            <a:avLst/>
          </a:prstGeom>
        </p:spPr>
      </p:pic>
    </p:spTree>
    <p:extLst>
      <p:ext uri="{BB962C8B-B14F-4D97-AF65-F5344CB8AC3E}">
        <p14:creationId xmlns:p14="http://schemas.microsoft.com/office/powerpoint/2010/main" val="38839365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8327921" cy="830997"/>
          </a:xfrm>
          <a:prstGeom prst="rect">
            <a:avLst/>
          </a:prstGeom>
        </p:spPr>
        <p:txBody>
          <a:bodyPr wrap="none">
            <a:spAutoFit/>
          </a:bodyPr>
          <a:lstStyle/>
          <a:p>
            <a:pPr>
              <a:lnSpc>
                <a:spcPct val="150000"/>
              </a:lnSpc>
            </a:pPr>
            <a:r>
              <a:rPr lang="zh-CN" altLang="en-US" sz="3200" dirty="0"/>
              <a:t>注意力机制与正则化</a:t>
            </a:r>
            <a:r>
              <a:rPr lang="en-US" altLang="zh-CN" dirty="0" smtClean="0"/>
              <a:t>---</a:t>
            </a:r>
            <a:r>
              <a:rPr lang="zh-CN" altLang="en-US" sz="3200" dirty="0"/>
              <a:t>如何实现注意力机制？</a:t>
            </a:r>
          </a:p>
        </p:txBody>
      </p:sp>
      <p:pic>
        <p:nvPicPr>
          <p:cNvPr id="5" name="object 3"/>
          <p:cNvPicPr/>
          <p:nvPr/>
        </p:nvPicPr>
        <p:blipFill>
          <a:blip r:embed="rId2" cstate="print"/>
          <a:stretch>
            <a:fillRect/>
          </a:stretch>
        </p:blipFill>
        <p:spPr>
          <a:xfrm>
            <a:off x="1186549" y="1417828"/>
            <a:ext cx="3886199" cy="3931919"/>
          </a:xfrm>
          <a:prstGeom prst="rect">
            <a:avLst/>
          </a:prstGeom>
        </p:spPr>
      </p:pic>
      <p:pic>
        <p:nvPicPr>
          <p:cNvPr id="8" name="object 4"/>
          <p:cNvPicPr/>
          <p:nvPr/>
        </p:nvPicPr>
        <p:blipFill>
          <a:blip r:embed="rId3" cstate="print"/>
          <a:stretch>
            <a:fillRect/>
          </a:stretch>
        </p:blipFill>
        <p:spPr>
          <a:xfrm>
            <a:off x="6411704" y="1905000"/>
            <a:ext cx="3173062" cy="345934"/>
          </a:xfrm>
          <a:prstGeom prst="rect">
            <a:avLst/>
          </a:prstGeom>
        </p:spPr>
      </p:pic>
      <p:sp>
        <p:nvSpPr>
          <p:cNvPr id="9" name="object 5"/>
          <p:cNvSpPr txBox="1"/>
          <p:nvPr/>
        </p:nvSpPr>
        <p:spPr>
          <a:xfrm>
            <a:off x="10791212" y="3345493"/>
            <a:ext cx="163830" cy="299720"/>
          </a:xfrm>
          <a:prstGeom prst="rect">
            <a:avLst/>
          </a:prstGeom>
        </p:spPr>
        <p:txBody>
          <a:bodyPr vert="horz" wrap="square" lIns="0" tIns="12700" rIns="0" bIns="0" rtlCol="0">
            <a:spAutoFit/>
          </a:bodyPr>
          <a:lstStyle/>
          <a:p>
            <a:pPr marL="12700">
              <a:lnSpc>
                <a:spcPct val="100000"/>
              </a:lnSpc>
              <a:spcBef>
                <a:spcPts val="100"/>
              </a:spcBef>
            </a:pPr>
            <a:r>
              <a:rPr sz="1800" spc="-900" dirty="0">
                <a:latin typeface="Cambria Math"/>
                <a:cs typeface="Cambria Math"/>
              </a:rPr>
              <a:t>𝒒𝒒</a:t>
            </a:r>
            <a:endParaRPr sz="1800">
              <a:latin typeface="Cambria Math"/>
              <a:cs typeface="Cambria Math"/>
            </a:endParaRPr>
          </a:p>
        </p:txBody>
      </p:sp>
      <p:sp>
        <p:nvSpPr>
          <p:cNvPr id="10" name="object 6"/>
          <p:cNvSpPr txBox="1"/>
          <p:nvPr/>
        </p:nvSpPr>
        <p:spPr>
          <a:xfrm>
            <a:off x="8053270" y="4975869"/>
            <a:ext cx="167640" cy="299720"/>
          </a:xfrm>
          <a:prstGeom prst="rect">
            <a:avLst/>
          </a:prstGeom>
        </p:spPr>
        <p:txBody>
          <a:bodyPr vert="horz" wrap="square" lIns="0" tIns="12700" rIns="0" bIns="0" rtlCol="0">
            <a:spAutoFit/>
          </a:bodyPr>
          <a:lstStyle/>
          <a:p>
            <a:pPr marL="12700">
              <a:lnSpc>
                <a:spcPct val="100000"/>
              </a:lnSpc>
              <a:spcBef>
                <a:spcPts val="100"/>
              </a:spcBef>
            </a:pPr>
            <a:r>
              <a:rPr sz="1800" spc="204" dirty="0">
                <a:latin typeface="Cambria Math"/>
                <a:cs typeface="Cambria Math"/>
              </a:rPr>
              <a:t>𝑎</a:t>
            </a:r>
            <a:endParaRPr sz="1800">
              <a:latin typeface="Cambria Math"/>
              <a:cs typeface="Cambria Math"/>
            </a:endParaRPr>
          </a:p>
        </p:txBody>
      </p:sp>
      <p:grpSp>
        <p:nvGrpSpPr>
          <p:cNvPr id="11" name="object 7"/>
          <p:cNvGrpSpPr/>
          <p:nvPr/>
        </p:nvGrpSpPr>
        <p:grpSpPr>
          <a:xfrm>
            <a:off x="6419595" y="2407920"/>
            <a:ext cx="4293870" cy="2548255"/>
            <a:chOff x="7130795" y="2407920"/>
            <a:chExt cx="4293870" cy="2548255"/>
          </a:xfrm>
        </p:grpSpPr>
        <p:sp>
          <p:nvSpPr>
            <p:cNvPr id="12" name="object 8"/>
            <p:cNvSpPr/>
            <p:nvPr/>
          </p:nvSpPr>
          <p:spPr>
            <a:xfrm>
              <a:off x="8762999" y="2436876"/>
              <a:ext cx="45720" cy="2374900"/>
            </a:xfrm>
            <a:custGeom>
              <a:avLst/>
              <a:gdLst/>
              <a:ahLst/>
              <a:cxnLst/>
              <a:rect l="l" t="t" r="r" b="b"/>
              <a:pathLst>
                <a:path w="45720" h="2374900">
                  <a:moveTo>
                    <a:pt x="0" y="0"/>
                  </a:moveTo>
                  <a:lnTo>
                    <a:pt x="45440" y="2374531"/>
                  </a:lnTo>
                </a:path>
              </a:pathLst>
            </a:custGeom>
            <a:ln w="57912">
              <a:solidFill>
                <a:srgbClr val="5597D2"/>
              </a:solidFill>
            </a:ln>
          </p:spPr>
          <p:txBody>
            <a:bodyPr wrap="square" lIns="0" tIns="0" rIns="0" bIns="0" rtlCol="0"/>
            <a:lstStyle/>
            <a:p>
              <a:endParaRPr/>
            </a:p>
          </p:txBody>
        </p:sp>
        <p:sp>
          <p:nvSpPr>
            <p:cNvPr id="13" name="object 9"/>
            <p:cNvSpPr/>
            <p:nvPr/>
          </p:nvSpPr>
          <p:spPr>
            <a:xfrm>
              <a:off x="8721049" y="4780796"/>
              <a:ext cx="173990" cy="175895"/>
            </a:xfrm>
            <a:custGeom>
              <a:avLst/>
              <a:gdLst/>
              <a:ahLst/>
              <a:cxnLst/>
              <a:rect l="l" t="t" r="r" b="b"/>
              <a:pathLst>
                <a:path w="173990" h="175895">
                  <a:moveTo>
                    <a:pt x="173697" y="0"/>
                  </a:moveTo>
                  <a:lnTo>
                    <a:pt x="0" y="3314"/>
                  </a:lnTo>
                  <a:lnTo>
                    <a:pt x="90157" y="175361"/>
                  </a:lnTo>
                  <a:lnTo>
                    <a:pt x="173697" y="0"/>
                  </a:lnTo>
                  <a:close/>
                </a:path>
              </a:pathLst>
            </a:custGeom>
            <a:solidFill>
              <a:srgbClr val="5597D2"/>
            </a:solidFill>
          </p:spPr>
          <p:txBody>
            <a:bodyPr wrap="square" lIns="0" tIns="0" rIns="0" bIns="0" rtlCol="0"/>
            <a:lstStyle/>
            <a:p>
              <a:endParaRPr/>
            </a:p>
          </p:txBody>
        </p:sp>
        <p:sp>
          <p:nvSpPr>
            <p:cNvPr id="14" name="object 10"/>
            <p:cNvSpPr/>
            <p:nvPr/>
          </p:nvSpPr>
          <p:spPr>
            <a:xfrm>
              <a:off x="8811762" y="3511296"/>
              <a:ext cx="2613025" cy="0"/>
            </a:xfrm>
            <a:custGeom>
              <a:avLst/>
              <a:gdLst/>
              <a:ahLst/>
              <a:cxnLst/>
              <a:rect l="l" t="t" r="r" b="b"/>
              <a:pathLst>
                <a:path w="2613025">
                  <a:moveTo>
                    <a:pt x="2612466" y="0"/>
                  </a:moveTo>
                  <a:lnTo>
                    <a:pt x="0" y="0"/>
                  </a:lnTo>
                </a:path>
              </a:pathLst>
            </a:custGeom>
            <a:ln w="57912">
              <a:solidFill>
                <a:srgbClr val="5597D2"/>
              </a:solidFill>
            </a:ln>
          </p:spPr>
          <p:txBody>
            <a:bodyPr wrap="square" lIns="0" tIns="0" rIns="0" bIns="0" rtlCol="0"/>
            <a:lstStyle/>
            <a:p>
              <a:endParaRPr/>
            </a:p>
          </p:txBody>
        </p:sp>
        <p:sp>
          <p:nvSpPr>
            <p:cNvPr id="15" name="object 11"/>
            <p:cNvSpPr/>
            <p:nvPr/>
          </p:nvSpPr>
          <p:spPr>
            <a:xfrm>
              <a:off x="7130795" y="2436876"/>
              <a:ext cx="3223895" cy="0"/>
            </a:xfrm>
            <a:custGeom>
              <a:avLst/>
              <a:gdLst/>
              <a:ahLst/>
              <a:cxnLst/>
              <a:rect l="l" t="t" r="r" b="b"/>
              <a:pathLst>
                <a:path w="3223895">
                  <a:moveTo>
                    <a:pt x="0" y="0"/>
                  </a:moveTo>
                  <a:lnTo>
                    <a:pt x="3223768" y="0"/>
                  </a:lnTo>
                </a:path>
              </a:pathLst>
            </a:custGeom>
            <a:ln w="9144">
              <a:solidFill>
                <a:srgbClr val="5597D2"/>
              </a:solidFill>
            </a:ln>
          </p:spPr>
          <p:txBody>
            <a:bodyPr wrap="square" lIns="0" tIns="0" rIns="0" bIns="0" rtlCol="0"/>
            <a:lstStyle/>
            <a:p>
              <a:endParaRPr/>
            </a:p>
          </p:txBody>
        </p:sp>
      </p:grpSp>
      <p:sp>
        <p:nvSpPr>
          <p:cNvPr id="16" name="object 12"/>
          <p:cNvSpPr txBox="1"/>
          <p:nvPr/>
        </p:nvSpPr>
        <p:spPr>
          <a:xfrm>
            <a:off x="1521459" y="5586643"/>
            <a:ext cx="300037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Try to</a:t>
            </a:r>
            <a:r>
              <a:rPr sz="1800" spc="5" dirty="0">
                <a:latin typeface="Calibri"/>
                <a:cs typeface="Calibri"/>
              </a:rPr>
              <a:t> </a:t>
            </a:r>
            <a:r>
              <a:rPr sz="1800" spc="-5" dirty="0">
                <a:latin typeface="Calibri"/>
                <a:cs typeface="Calibri"/>
              </a:rPr>
              <a:t>find</a:t>
            </a:r>
            <a:r>
              <a:rPr sz="1800" spc="10" dirty="0">
                <a:latin typeface="Calibri"/>
                <a:cs typeface="Calibri"/>
              </a:rPr>
              <a:t> </a:t>
            </a:r>
            <a:r>
              <a:rPr sz="1800" dirty="0">
                <a:latin typeface="Calibri"/>
                <a:cs typeface="Calibri"/>
              </a:rPr>
              <a:t>8</a:t>
            </a:r>
            <a:r>
              <a:rPr sz="1800" spc="-5" dirty="0">
                <a:latin typeface="Calibri"/>
                <a:cs typeface="Calibri"/>
              </a:rPr>
              <a:t> less</a:t>
            </a:r>
            <a:r>
              <a:rPr sz="1800" spc="-15" dirty="0">
                <a:latin typeface="Calibri"/>
                <a:cs typeface="Calibri"/>
              </a:rPr>
              <a:t> </a:t>
            </a:r>
            <a:r>
              <a:rPr sz="1800" spc="-5" dirty="0">
                <a:latin typeface="Calibri"/>
                <a:cs typeface="Calibri"/>
              </a:rPr>
              <a:t>than</a:t>
            </a:r>
            <a:r>
              <a:rPr sz="1800" spc="15" dirty="0">
                <a:latin typeface="Calibri"/>
                <a:cs typeface="Calibri"/>
              </a:rPr>
              <a:t> </a:t>
            </a:r>
            <a:r>
              <a:rPr sz="1800" dirty="0">
                <a:latin typeface="Calibri"/>
                <a:cs typeface="Calibri"/>
              </a:rPr>
              <a:t>8</a:t>
            </a:r>
            <a:r>
              <a:rPr sz="1800" spc="-5" dirty="0">
                <a:latin typeface="Calibri"/>
                <a:cs typeface="Calibri"/>
              </a:rPr>
              <a:t> seconds</a:t>
            </a:r>
            <a:endParaRPr sz="1800" dirty="0">
              <a:latin typeface="Calibri"/>
              <a:cs typeface="Calibri"/>
            </a:endParaRPr>
          </a:p>
        </p:txBody>
      </p:sp>
    </p:spTree>
    <p:extLst>
      <p:ext uri="{BB962C8B-B14F-4D97-AF65-F5344CB8AC3E}">
        <p14:creationId xmlns:p14="http://schemas.microsoft.com/office/powerpoint/2010/main" val="37581890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6276077" cy="584775"/>
          </a:xfrm>
          <a:prstGeom prst="rect">
            <a:avLst/>
          </a:prstGeom>
        </p:spPr>
        <p:txBody>
          <a:bodyPr wrap="none">
            <a:spAutoFit/>
          </a:bodyPr>
          <a:lstStyle/>
          <a:p>
            <a:r>
              <a:rPr lang="zh-CN" altLang="en-US" sz="3200" dirty="0"/>
              <a:t>注意力机制与正则化</a:t>
            </a:r>
            <a:r>
              <a:rPr lang="en-US" altLang="zh-CN" dirty="0" smtClean="0"/>
              <a:t>---</a:t>
            </a:r>
            <a:r>
              <a:rPr lang="zh-CN" altLang="en-US" sz="3200" dirty="0" smtClean="0"/>
              <a:t>注意力机制</a:t>
            </a:r>
            <a:endParaRPr lang="zh-CN" altLang="en-US" sz="3200" dirty="0"/>
          </a:p>
        </p:txBody>
      </p:sp>
      <p:pic>
        <p:nvPicPr>
          <p:cNvPr id="5" name="object 2"/>
          <p:cNvPicPr/>
          <p:nvPr/>
        </p:nvPicPr>
        <p:blipFill>
          <a:blip r:embed="rId2" cstate="print"/>
          <a:stretch>
            <a:fillRect/>
          </a:stretch>
        </p:blipFill>
        <p:spPr>
          <a:xfrm>
            <a:off x="7536180" y="1752600"/>
            <a:ext cx="3653027" cy="3994403"/>
          </a:xfrm>
          <a:prstGeom prst="rect">
            <a:avLst/>
          </a:prstGeom>
        </p:spPr>
      </p:pic>
      <p:sp>
        <p:nvSpPr>
          <p:cNvPr id="6" name="object 4"/>
          <p:cNvSpPr txBox="1"/>
          <p:nvPr/>
        </p:nvSpPr>
        <p:spPr>
          <a:xfrm>
            <a:off x="871218" y="1134643"/>
            <a:ext cx="7799705" cy="1386277"/>
          </a:xfrm>
          <a:prstGeom prst="rect">
            <a:avLst/>
          </a:prstGeom>
        </p:spPr>
        <p:txBody>
          <a:bodyPr vert="horz" wrap="square" lIns="0" tIns="97790" rIns="0" bIns="0" rtlCol="0">
            <a:spAutoFit/>
          </a:bodyPr>
          <a:lstStyle/>
          <a:p>
            <a:pPr marL="241300" indent="-228600">
              <a:lnSpc>
                <a:spcPct val="100000"/>
              </a:lnSpc>
              <a:spcBef>
                <a:spcPts val="770"/>
              </a:spcBef>
              <a:buFont typeface="Arial MT"/>
              <a:buChar char="•"/>
              <a:tabLst>
                <a:tab pos="241300" algn="l"/>
              </a:tabLst>
            </a:pPr>
            <a:r>
              <a:rPr sz="2400" spc="-5" dirty="0">
                <a:latin typeface="Microsoft YaHei"/>
                <a:cs typeface="Microsoft YaHei"/>
              </a:rPr>
              <a:t>软性注意力机制（soft</a:t>
            </a:r>
            <a:r>
              <a:rPr sz="2400" spc="15" dirty="0">
                <a:latin typeface="Microsoft YaHei"/>
                <a:cs typeface="Microsoft YaHei"/>
              </a:rPr>
              <a:t> </a:t>
            </a:r>
            <a:r>
              <a:rPr sz="2400" spc="-5" dirty="0">
                <a:latin typeface="Microsoft YaHei"/>
                <a:cs typeface="Microsoft YaHei"/>
              </a:rPr>
              <a:t>attention</a:t>
            </a:r>
            <a:r>
              <a:rPr sz="2400" spc="-15" dirty="0">
                <a:latin typeface="Microsoft YaHei"/>
                <a:cs typeface="Microsoft YaHei"/>
              </a:rPr>
              <a:t> </a:t>
            </a:r>
            <a:r>
              <a:rPr sz="2400" spc="-10" dirty="0">
                <a:latin typeface="Microsoft YaHei"/>
                <a:cs typeface="Microsoft YaHei"/>
              </a:rPr>
              <a:t>mechanism）</a:t>
            </a:r>
            <a:endParaRPr sz="2400" dirty="0">
              <a:latin typeface="Microsoft YaHei"/>
              <a:cs typeface="Microsoft YaHei"/>
            </a:endParaRPr>
          </a:p>
          <a:p>
            <a:pPr marL="241300" indent="-228600">
              <a:lnSpc>
                <a:spcPct val="100000"/>
              </a:lnSpc>
              <a:spcBef>
                <a:spcPts val="675"/>
              </a:spcBef>
              <a:buFont typeface="Arial MT"/>
              <a:buChar char="•"/>
              <a:tabLst>
                <a:tab pos="241300" algn="l"/>
              </a:tabLst>
            </a:pPr>
            <a:r>
              <a:rPr sz="2400" spc="-5" dirty="0">
                <a:latin typeface="Microsoft YaHei"/>
                <a:cs typeface="Microsoft YaHei"/>
              </a:rPr>
              <a:t>注意力机制可以分为两步</a:t>
            </a:r>
            <a:endParaRPr sz="2400" dirty="0">
              <a:latin typeface="Microsoft YaHei"/>
              <a:cs typeface="Microsoft YaHei"/>
            </a:endParaRPr>
          </a:p>
          <a:p>
            <a:pPr marL="736600" lvl="1" indent="-266700">
              <a:lnSpc>
                <a:spcPct val="100000"/>
              </a:lnSpc>
              <a:spcBef>
                <a:spcPts val="660"/>
              </a:spcBef>
              <a:buFont typeface="Arial MT"/>
              <a:buChar char="•"/>
              <a:tabLst>
                <a:tab pos="736600" algn="l"/>
              </a:tabLst>
            </a:pPr>
            <a:r>
              <a:rPr sz="2400" spc="-5" dirty="0">
                <a:latin typeface="Microsoft YaHei"/>
                <a:cs typeface="Microsoft YaHei"/>
              </a:rPr>
              <a:t>计算注意力分布</a:t>
            </a:r>
            <a:r>
              <a:rPr sz="2400" spc="-1405" dirty="0">
                <a:latin typeface="Cambria Math"/>
                <a:cs typeface="Cambria Math"/>
              </a:rPr>
              <a:t>𝛼𝛼</a:t>
            </a:r>
            <a:r>
              <a:rPr sz="2400" spc="80" dirty="0">
                <a:latin typeface="Cambria Math"/>
                <a:cs typeface="Cambria Math"/>
              </a:rPr>
              <a:t> </a:t>
            </a:r>
            <a:r>
              <a:rPr sz="2400" spc="-5" dirty="0">
                <a:latin typeface="Microsoft YaHei"/>
                <a:cs typeface="Microsoft YaHei"/>
              </a:rPr>
              <a:t>，</a:t>
            </a:r>
            <a:endParaRPr sz="2400" dirty="0">
              <a:latin typeface="Microsoft YaHei"/>
              <a:cs typeface="Microsoft YaHei"/>
            </a:endParaRPr>
          </a:p>
        </p:txBody>
      </p:sp>
      <mc:AlternateContent xmlns:mc="http://schemas.openxmlformats.org/markup-compatibility/2006" xmlns:a14="http://schemas.microsoft.com/office/drawing/2010/main">
        <mc:Choice Requires="a14">
          <p:sp>
            <p:nvSpPr>
              <p:cNvPr id="7" name="object 5"/>
              <p:cNvSpPr txBox="1"/>
              <p:nvPr/>
            </p:nvSpPr>
            <p:spPr>
              <a:xfrm>
                <a:off x="518160" y="5389138"/>
                <a:ext cx="6802120" cy="920765"/>
              </a:xfrm>
              <a:prstGeom prst="rect">
                <a:avLst/>
              </a:prstGeom>
            </p:spPr>
            <p:txBody>
              <a:bodyPr vert="horz" wrap="square" lIns="0" tIns="78740" rIns="0" bIns="0" rtlCol="0">
                <a:spAutoFit/>
              </a:bodyPr>
              <a:lstStyle/>
              <a:p>
                <a:pPr marL="531495" lvl="1">
                  <a:spcBef>
                    <a:spcPts val="620"/>
                  </a:spcBef>
                </a:pPr>
                <a:r>
                  <a:rPr lang="en-US" altLang="zh-CN" sz="1800" dirty="0" smtClean="0">
                    <a:solidFill>
                      <a:srgbClr val="FF0000"/>
                    </a:solidFill>
                    <a:latin typeface="Microsoft YaHei"/>
                    <a:cs typeface="Microsoft YaHei"/>
                  </a:rPr>
                  <a:t>s</a:t>
                </a:r>
                <a:r>
                  <a:rPr lang="en-US" altLang="zh-CN" dirty="0" smtClean="0">
                    <a:solidFill>
                      <a:srgbClr val="FF0000"/>
                    </a:solidFill>
                    <a:latin typeface="Microsoft YaHei"/>
                    <a:cs typeface="Microsoft YaHei"/>
                  </a:rPr>
                  <a:t>(</a:t>
                </a:r>
                <a14:m>
                  <m:oMath xmlns:m="http://schemas.openxmlformats.org/officeDocument/2006/math">
                    <m:sSub>
                      <m:sSubPr>
                        <m:ctrlPr>
                          <a:rPr lang="zh-CN" altLang="en-US" sz="2000" i="1" dirty="0" smtClean="0">
                            <a:solidFill>
                              <a:srgbClr val="FF0000"/>
                            </a:solidFill>
                            <a:latin typeface="Cambria Math" panose="02040503050406030204" pitchFamily="18" charset="0"/>
                          </a:rPr>
                        </m:ctrlPr>
                      </m:sSubPr>
                      <m:e>
                        <m:r>
                          <a:rPr lang="zh-CN" altLang="en-US" sz="2000" b="0" i="1" dirty="0" smtClean="0">
                            <a:solidFill>
                              <a:srgbClr val="FF0000"/>
                            </a:solidFill>
                            <a:latin typeface="Cambria Math" panose="02040503050406030204" pitchFamily="18" charset="0"/>
                          </a:rPr>
                          <m:t>𝑥</m:t>
                        </m:r>
                      </m:e>
                      <m:sub>
                        <m:r>
                          <a:rPr lang="en-US" altLang="zh-CN" sz="2000" b="0" i="1" dirty="0" smtClean="0">
                            <a:solidFill>
                              <a:srgbClr val="FF0000"/>
                            </a:solidFill>
                            <a:latin typeface="Cambria Math" panose="02040503050406030204" pitchFamily="18" charset="0"/>
                          </a:rPr>
                          <m:t>𝑛</m:t>
                        </m:r>
                      </m:sub>
                    </m:sSub>
                  </m:oMath>
                </a14:m>
                <a:r>
                  <a:rPr lang="en-US" altLang="zh-CN" dirty="0" smtClean="0">
                    <a:solidFill>
                      <a:srgbClr val="FF0000"/>
                    </a:solidFill>
                    <a:latin typeface="Microsoft YaHei"/>
                    <a:cs typeface="Microsoft YaHei"/>
                  </a:rPr>
                  <a:t>,</a:t>
                </a:r>
                <a14:m>
                  <m:oMath xmlns:m="http://schemas.openxmlformats.org/officeDocument/2006/math">
                    <m:r>
                      <a:rPr lang="zh-CN" altLang="en-US" i="1" dirty="0" smtClean="0">
                        <a:solidFill>
                          <a:srgbClr val="FF0000"/>
                        </a:solidFill>
                        <a:latin typeface="Cambria Math" panose="02040503050406030204" pitchFamily="18" charset="0"/>
                        <a:cs typeface="Microsoft YaHei"/>
                      </a:rPr>
                      <m:t>𝑞</m:t>
                    </m:r>
                  </m:oMath>
                </a14:m>
                <a:r>
                  <a:rPr lang="zh-CN" altLang="en-US" dirty="0" smtClean="0">
                    <a:solidFill>
                      <a:srgbClr val="FF0000"/>
                    </a:solidFill>
                    <a:latin typeface="Microsoft YaHei"/>
                    <a:cs typeface="Microsoft YaHei"/>
                  </a:rPr>
                  <a:t> </a:t>
                </a:r>
                <a:r>
                  <a:rPr lang="en-US" altLang="zh-CN" dirty="0" smtClean="0">
                    <a:solidFill>
                      <a:srgbClr val="FF0000"/>
                    </a:solidFill>
                    <a:latin typeface="Microsoft YaHei"/>
                    <a:cs typeface="Microsoft YaHei"/>
                  </a:rPr>
                  <a:t>)</a:t>
                </a:r>
                <a:r>
                  <a:rPr lang="zh-CN" altLang="en-US" sz="1800" dirty="0" smtClean="0">
                    <a:solidFill>
                      <a:srgbClr val="FF0000"/>
                    </a:solidFill>
                    <a:latin typeface="Microsoft YaHei"/>
                    <a:cs typeface="Microsoft YaHei"/>
                  </a:rPr>
                  <a:t>打分函数</a:t>
                </a:r>
                <a:r>
                  <a:rPr lang="en-US" altLang="zh-CN" sz="1800" dirty="0" smtClean="0">
                    <a:solidFill>
                      <a:srgbClr val="FF0000"/>
                    </a:solidFill>
                    <a:latin typeface="Microsoft YaHei"/>
                    <a:cs typeface="Microsoft YaHei"/>
                  </a:rPr>
                  <a:t>, q</a:t>
                </a:r>
                <a:r>
                  <a:rPr lang="zh-CN" altLang="en-US" sz="1800" dirty="0" smtClean="0">
                    <a:solidFill>
                      <a:srgbClr val="FF0000"/>
                    </a:solidFill>
                    <a:latin typeface="Microsoft YaHei"/>
                    <a:cs typeface="Microsoft YaHei"/>
                  </a:rPr>
                  <a:t>是</a:t>
                </a:r>
                <a:r>
                  <a:rPr lang="en-US" altLang="zh-CN" sz="1800" dirty="0" smtClean="0">
                    <a:solidFill>
                      <a:srgbClr val="FF0000"/>
                    </a:solidFill>
                    <a:latin typeface="Microsoft YaHei"/>
                    <a:cs typeface="Microsoft YaHei"/>
                  </a:rPr>
                  <a:t>query</a:t>
                </a:r>
                <a:r>
                  <a:rPr lang="zh-CN" altLang="en-US" sz="2000" dirty="0">
                    <a:solidFill>
                      <a:srgbClr val="FF0000"/>
                    </a:solidFill>
                    <a:latin typeface="Microsoft YaHei"/>
                    <a:cs typeface="Microsoft YaHei"/>
                  </a:rPr>
                  <a:t>输入一个</a:t>
                </a:r>
                <a:r>
                  <a:rPr lang="zh-CN" altLang="en-US" sz="2000" dirty="0" smtClean="0">
                    <a:solidFill>
                      <a:srgbClr val="FF0000"/>
                    </a:solidFill>
                    <a:latin typeface="Microsoft YaHei"/>
                    <a:cs typeface="Microsoft YaHei"/>
                  </a:rPr>
                  <a:t>查询</a:t>
                </a:r>
                <a:endParaRPr lang="zh-CN" altLang="en-US" sz="1800" dirty="0">
                  <a:solidFill>
                    <a:srgbClr val="FF0000"/>
                  </a:solidFill>
                  <a:latin typeface="Microsoft YaHei"/>
                  <a:cs typeface="Microsoft YaHei"/>
                </a:endParaRPr>
              </a:p>
              <a:p>
                <a:pPr marL="304800" indent="-266700">
                  <a:lnSpc>
                    <a:spcPct val="100000"/>
                  </a:lnSpc>
                  <a:spcBef>
                    <a:spcPts val="805"/>
                  </a:spcBef>
                  <a:buFont typeface="Arial MT"/>
                  <a:buChar char="•"/>
                  <a:tabLst>
                    <a:tab pos="304800" algn="l"/>
                  </a:tabLst>
                </a:pPr>
                <a:r>
                  <a:rPr lang="zh-CN" altLang="en-US" sz="2800" spc="-5" dirty="0">
                    <a:latin typeface="Microsoft YaHei"/>
                    <a:cs typeface="Microsoft YaHei"/>
                  </a:rPr>
                  <a:t>根据</a:t>
                </a:r>
                <a:r>
                  <a:rPr lang="en-US" altLang="zh-CN" sz="2800" spc="-10" dirty="0">
                    <a:latin typeface="Microsoft YaHei"/>
                    <a:cs typeface="Microsoft YaHei"/>
                  </a:rPr>
                  <a:t>α</a:t>
                </a:r>
                <a:r>
                  <a:rPr lang="zh-CN" altLang="en-US" sz="2800" spc="-5" dirty="0">
                    <a:latin typeface="Microsoft YaHei"/>
                    <a:cs typeface="Microsoft YaHei"/>
                  </a:rPr>
                  <a:t>来计算输入信息的加权平均。</a:t>
                </a:r>
                <a:endParaRPr sz="2800" dirty="0">
                  <a:latin typeface="Microsoft YaHei"/>
                  <a:cs typeface="Microsoft YaHei"/>
                </a:endParaRPr>
              </a:p>
            </p:txBody>
          </p:sp>
        </mc:Choice>
        <mc:Fallback xmlns="">
          <p:sp>
            <p:nvSpPr>
              <p:cNvPr id="7" name="object 5"/>
              <p:cNvSpPr txBox="1">
                <a:spLocks noRot="1" noChangeAspect="1" noMove="1" noResize="1" noEditPoints="1" noAdjustHandles="1" noChangeArrowheads="1" noChangeShapeType="1" noTextEdit="1"/>
              </p:cNvSpPr>
              <p:nvPr/>
            </p:nvSpPr>
            <p:spPr>
              <a:xfrm>
                <a:off x="518160" y="5389138"/>
                <a:ext cx="6802120" cy="920765"/>
              </a:xfrm>
              <a:prstGeom prst="rect">
                <a:avLst/>
              </a:prstGeom>
              <a:blipFill>
                <a:blip r:embed="rId3"/>
                <a:stretch>
                  <a:fillRect l="-2061" b="-21854"/>
                </a:stretch>
              </a:blipFill>
            </p:spPr>
            <p:txBody>
              <a:bodyPr/>
              <a:lstStyle/>
              <a:p>
                <a:r>
                  <a:rPr lang="zh-CN" altLang="en-US">
                    <a:noFill/>
                  </a:rPr>
                  <a:t> </a:t>
                </a:r>
              </a:p>
            </p:txBody>
          </p:sp>
        </mc:Fallback>
      </mc:AlternateContent>
      <p:pic>
        <p:nvPicPr>
          <p:cNvPr id="8" name="object 6"/>
          <p:cNvPicPr/>
          <p:nvPr/>
        </p:nvPicPr>
        <p:blipFill>
          <a:blip r:embed="rId4" cstate="print"/>
          <a:stretch>
            <a:fillRect/>
          </a:stretch>
        </p:blipFill>
        <p:spPr>
          <a:xfrm>
            <a:off x="1486084" y="3348902"/>
            <a:ext cx="2115635" cy="1604098"/>
          </a:xfrm>
          <a:prstGeom prst="rect">
            <a:avLst/>
          </a:prstGeom>
        </p:spPr>
      </p:pic>
      <p:pic>
        <p:nvPicPr>
          <p:cNvPr id="9" name="object 7"/>
          <p:cNvPicPr/>
          <p:nvPr/>
        </p:nvPicPr>
        <p:blipFill>
          <a:blip r:embed="rId5" cstate="print"/>
          <a:stretch>
            <a:fillRect/>
          </a:stretch>
        </p:blipFill>
        <p:spPr>
          <a:xfrm>
            <a:off x="4338320" y="3479151"/>
            <a:ext cx="2505497" cy="1228670"/>
          </a:xfrm>
          <a:prstGeom prst="rect">
            <a:avLst/>
          </a:prstGeom>
        </p:spPr>
      </p:pic>
    </p:spTree>
    <p:extLst>
      <p:ext uri="{BB962C8B-B14F-4D97-AF65-F5344CB8AC3E}">
        <p14:creationId xmlns:p14="http://schemas.microsoft.com/office/powerpoint/2010/main" val="35548185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6276077" cy="584775"/>
          </a:xfrm>
          <a:prstGeom prst="rect">
            <a:avLst/>
          </a:prstGeom>
        </p:spPr>
        <p:txBody>
          <a:bodyPr wrap="none">
            <a:spAutoFit/>
          </a:bodyPr>
          <a:lstStyle/>
          <a:p>
            <a:r>
              <a:rPr lang="zh-CN" altLang="en-US" sz="3200" dirty="0"/>
              <a:t>注意力机制与正则化</a:t>
            </a:r>
            <a:r>
              <a:rPr lang="en-US" altLang="zh-CN" dirty="0" smtClean="0"/>
              <a:t>---</a:t>
            </a:r>
            <a:r>
              <a:rPr lang="zh-CN" altLang="en-US" sz="3200" dirty="0" smtClean="0"/>
              <a:t>注意力机制</a:t>
            </a:r>
            <a:endParaRPr lang="zh-CN" altLang="en-US" sz="3200" dirty="0"/>
          </a:p>
        </p:txBody>
      </p:sp>
      <p:sp>
        <p:nvSpPr>
          <p:cNvPr id="10" name="object 3"/>
          <p:cNvSpPr txBox="1"/>
          <p:nvPr/>
        </p:nvSpPr>
        <p:spPr>
          <a:xfrm>
            <a:off x="5140960" y="1473200"/>
            <a:ext cx="5486400" cy="289823"/>
          </a:xfrm>
          <a:prstGeom prst="rect">
            <a:avLst/>
          </a:prstGeom>
        </p:spPr>
        <p:txBody>
          <a:bodyPr vert="horz" wrap="square" lIns="0" tIns="12700" rIns="0" bIns="0" rtlCol="0">
            <a:spAutoFit/>
          </a:bodyPr>
          <a:lstStyle/>
          <a:p>
            <a:pPr marL="38100">
              <a:lnSpc>
                <a:spcPct val="100000"/>
              </a:lnSpc>
              <a:spcBef>
                <a:spcPts val="100"/>
              </a:spcBef>
            </a:pPr>
            <a:r>
              <a:rPr lang="zh-CN" altLang="en-US" sz="1800" dirty="0" smtClean="0">
                <a:latin typeface="Microsoft YaHei"/>
                <a:cs typeface="Microsoft YaHei"/>
              </a:rPr>
              <a:t>用                                          表示</a:t>
            </a:r>
            <a:r>
              <a:rPr lang="en-US" altLang="zh-CN" sz="1800" dirty="0" err="1">
                <a:latin typeface="Calibri"/>
                <a:cs typeface="Calibri"/>
              </a:rPr>
              <a:t>N</a:t>
            </a:r>
            <a:r>
              <a:rPr lang="zh-CN" altLang="en-US" sz="1800" dirty="0" err="1">
                <a:latin typeface="Microsoft YaHei"/>
                <a:cs typeface="Microsoft YaHei"/>
              </a:rPr>
              <a:t>个输入信息</a:t>
            </a:r>
            <a:endParaRPr sz="1800" dirty="0">
              <a:latin typeface="Microsoft YaHei"/>
              <a:cs typeface="Microsoft YaHei"/>
            </a:endParaRPr>
          </a:p>
        </p:txBody>
      </p:sp>
      <p:pic>
        <p:nvPicPr>
          <p:cNvPr id="11" name="object 4"/>
          <p:cNvPicPr/>
          <p:nvPr/>
        </p:nvPicPr>
        <p:blipFill>
          <a:blip r:embed="rId2" cstate="print"/>
          <a:stretch>
            <a:fillRect/>
          </a:stretch>
        </p:blipFill>
        <p:spPr>
          <a:xfrm>
            <a:off x="875859" y="1097758"/>
            <a:ext cx="3346867" cy="3520498"/>
          </a:xfrm>
          <a:prstGeom prst="rect">
            <a:avLst/>
          </a:prstGeom>
        </p:spPr>
      </p:pic>
      <p:pic>
        <p:nvPicPr>
          <p:cNvPr id="12" name="object 5"/>
          <p:cNvPicPr/>
          <p:nvPr/>
        </p:nvPicPr>
        <p:blipFill>
          <a:blip r:embed="rId3" cstate="print"/>
          <a:stretch>
            <a:fillRect/>
          </a:stretch>
        </p:blipFill>
        <p:spPr>
          <a:xfrm>
            <a:off x="5690907" y="2125602"/>
            <a:ext cx="3445951" cy="1464810"/>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5558827" y="1514807"/>
                <a:ext cx="2644506" cy="276999"/>
              </a:xfrm>
              <a:prstGeom prst="rect">
                <a:avLst/>
              </a:prstGeom>
              <a:noFill/>
            </p:spPr>
            <p:txBody>
              <a:bodyPr wrap="none" lIns="0" tIns="0" rIns="0" bIns="0" rtlCol="0">
                <a:spAutoFit/>
              </a:bodyPr>
              <a:lstStyle/>
              <a:p>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𝐾</m:t>
                        </m:r>
                        <m:r>
                          <a:rPr lang="en-US" altLang="zh-CN" b="0" i="1" smtClean="0">
                            <a:latin typeface="Cambria Math" panose="02040503050406030204" pitchFamily="18" charset="0"/>
                          </a:rPr>
                          <m:t>,</m:t>
                        </m:r>
                        <m:r>
                          <a:rPr lang="en-US" altLang="zh-CN" b="0" i="1" smtClean="0">
                            <a:latin typeface="Cambria Math" panose="02040503050406030204" pitchFamily="18" charset="0"/>
                          </a:rPr>
                          <m:t>𝑉</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oMath>
                </a14:m>
                <a:r>
                  <a:rPr lang="en-US" altLang="zh-CN" dirty="0" smtClean="0"/>
                  <a:t>,</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1</m:t>
                        </m:r>
                      </m:sub>
                    </m:sSub>
                  </m:oMath>
                </a14:m>
                <a:r>
                  <a:rPr lang="en-US" altLang="zh-CN" dirty="0" smtClean="0"/>
                  <a:t>),…(</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𝑘</m:t>
                        </m:r>
                      </m:e>
                      <m:sub>
                        <m:r>
                          <a:rPr lang="en-US" altLang="zh-CN" b="0" i="1" dirty="0" smtClean="0">
                            <a:latin typeface="Cambria Math" panose="02040503050406030204" pitchFamily="18" charset="0"/>
                          </a:rPr>
                          <m:t>𝑁</m:t>
                        </m:r>
                      </m:sub>
                    </m:sSub>
                  </m:oMath>
                </a14:m>
                <a:r>
                  <a:rPr lang="en-US" altLang="zh-CN" dirty="0" smtClean="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𝑁</m:t>
                        </m:r>
                      </m:sub>
                    </m:sSub>
                  </m:oMath>
                </a14:m>
                <a:r>
                  <a:rPr lang="en-US" altLang="zh-CN" dirty="0" smtClean="0"/>
                  <a:t>)]</a:t>
                </a:r>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5558827" y="1514807"/>
                <a:ext cx="2644506" cy="276999"/>
              </a:xfrm>
              <a:prstGeom prst="rect">
                <a:avLst/>
              </a:prstGeom>
              <a:blipFill>
                <a:blip r:embed="rId4"/>
                <a:stretch>
                  <a:fillRect t="-28261" r="-4378"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311187" y="4980835"/>
                <a:ext cx="10180320" cy="1567096"/>
              </a:xfrm>
              <a:prstGeom prst="rect">
                <a:avLst/>
              </a:prstGeom>
              <a:noFill/>
            </p:spPr>
            <p:txBody>
              <a:bodyPr wrap="square" rtlCol="0">
                <a:spAutoFit/>
              </a:bodyPr>
              <a:lstStyle/>
              <a:p>
                <a:pPr marL="1247140" lvl="2" indent="-320675">
                  <a:lnSpc>
                    <a:spcPct val="100000"/>
                  </a:lnSpc>
                  <a:spcBef>
                    <a:spcPts val="660"/>
                  </a:spcBef>
                  <a:buFont typeface="Arial MT"/>
                  <a:buChar char="•"/>
                  <a:tabLst>
                    <a:tab pos="1246505" algn="l"/>
                    <a:tab pos="1247140" algn="l"/>
                  </a:tabLst>
                </a:pPr>
                <a:r>
                  <a:rPr lang="en-US" altLang="zh-CN" dirty="0" smtClean="0"/>
                  <a:t>Q</a:t>
                </a:r>
                <a:r>
                  <a:rPr lang="zh-CN" altLang="en-US" dirty="0" smtClean="0"/>
                  <a:t>是查询</a:t>
                </a:r>
                <a:r>
                  <a:rPr lang="en-US" altLang="zh-CN" dirty="0" smtClean="0"/>
                  <a:t>(query)</a:t>
                </a:r>
                <a:r>
                  <a:rPr lang="zh-CN" altLang="en-US" dirty="0" smtClean="0"/>
                  <a:t>，表示要寻找的目标（</a:t>
                </a: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搜索</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物品单词）</a:t>
                </a:r>
                <a:r>
                  <a:rPr lang="zh-CN" altLang="en-US" dirty="0" smtClean="0"/>
                  <a:t>，</a:t>
                </a:r>
                <a:r>
                  <a:rPr lang="en-US" altLang="zh-CN" dirty="0" smtClean="0"/>
                  <a:t>K</a:t>
                </a:r>
                <a:r>
                  <a:rPr lang="zh-CN" altLang="en-US" dirty="0" smtClean="0"/>
                  <a:t>是键</a:t>
                </a:r>
                <a:r>
                  <a:rPr lang="en-US" altLang="zh-CN" dirty="0" smtClean="0"/>
                  <a:t>(key)</a:t>
                </a:r>
                <a:r>
                  <a:rPr lang="zh-CN" altLang="en-US" dirty="0" smtClean="0"/>
                  <a:t>，表示与查询匹配，确定相关性（</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被搜索物品的描述信息</a:t>
                </a:r>
                <a:r>
                  <a:rPr lang="zh-CN" altLang="en-US" dirty="0" smtClean="0"/>
                  <a:t>），</a:t>
                </a:r>
                <a:r>
                  <a:rPr lang="en-US" altLang="zh-CN" dirty="0" smtClean="0"/>
                  <a:t>V</a:t>
                </a:r>
                <a:r>
                  <a:rPr lang="zh-CN" altLang="en-US" dirty="0" smtClean="0"/>
                  <a:t>是值（</a:t>
                </a:r>
                <a:r>
                  <a:rPr lang="en-US" altLang="zh-CN" dirty="0" smtClean="0"/>
                  <a:t>value</a:t>
                </a:r>
                <a:r>
                  <a:rPr lang="zh-CN" altLang="en-US" dirty="0" smtClean="0"/>
                  <a:t>）表示与键对应的实际数据内容（</a:t>
                </a: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搜索</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物品的语义</a:t>
                </a:r>
                <a:r>
                  <a:rPr lang="zh-CN" altLang="zh-CN" dirty="0" smtClean="0">
                    <a:latin typeface="Times New Roman" panose="02020603050405020304" pitchFamily="18" charset="0"/>
                    <a:ea typeface="微软雅黑" panose="020B0503020204020204" pitchFamily="34" charset="-122"/>
                    <a:cs typeface="Times New Roman" panose="02020603050405020304" pitchFamily="18" charset="0"/>
                  </a:rPr>
                  <a:t>内容</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smtClean="0"/>
              </a:p>
              <a:p>
                <a:pPr marL="1247140" lvl="2" indent="-320675">
                  <a:spcBef>
                    <a:spcPts val="660"/>
                  </a:spcBef>
                  <a:buFont typeface="Arial MT"/>
                  <a:buChar char="•"/>
                  <a:tabLst>
                    <a:tab pos="1246505" algn="l"/>
                    <a:tab pos="1247140" algn="l"/>
                  </a:tabLst>
                </a:pPr>
                <a:r>
                  <a:rPr lang="zh-CN" altLang="en-US" spc="-5" dirty="0">
                    <a:latin typeface="Microsoft YaHei"/>
                    <a:cs typeface="Microsoft YaHei"/>
                  </a:rPr>
                  <a:t>把</a:t>
                </a:r>
                <a:r>
                  <a:rPr lang="en-US" altLang="zh-CN" spc="-5" dirty="0">
                    <a:latin typeface="Microsoft YaHei"/>
                    <a:cs typeface="Microsoft YaHei"/>
                  </a:rPr>
                  <a:t>Q</a:t>
                </a:r>
                <a:r>
                  <a:rPr lang="zh-CN" altLang="en-US" spc="-5" dirty="0">
                    <a:latin typeface="Microsoft YaHei"/>
                    <a:cs typeface="Microsoft YaHei"/>
                  </a:rPr>
                  <a:t>和</a:t>
                </a:r>
                <a:r>
                  <a:rPr lang="en-US" altLang="zh-CN" spc="-5" dirty="0">
                    <a:latin typeface="Microsoft YaHei"/>
                    <a:cs typeface="Microsoft YaHei"/>
                  </a:rPr>
                  <a:t>K</a:t>
                </a:r>
                <a:r>
                  <a:rPr lang="zh-CN" altLang="en-US" spc="-5" dirty="0">
                    <a:latin typeface="Microsoft YaHei"/>
                    <a:cs typeface="Microsoft YaHei"/>
                  </a:rPr>
                  <a:t>各建模成一个</a:t>
                </a:r>
                <a:r>
                  <a:rPr lang="zh-CN" altLang="en-US" spc="-5" dirty="0" smtClean="0">
                    <a:latin typeface="Microsoft YaHei"/>
                    <a:cs typeface="Microsoft YaHei"/>
                  </a:rPr>
                  <a:t>向量</a:t>
                </a:r>
                <a:r>
                  <a:rPr lang="zh-CN" altLang="en-US" dirty="0" smtClean="0">
                    <a:latin typeface="Microsoft YaHei"/>
                    <a:cs typeface="Microsoft YaHei"/>
                  </a:rPr>
                  <a:t>，</a:t>
                </a:r>
                <a:r>
                  <a:rPr lang="en-US" altLang="zh-CN" spc="-5" dirty="0" smtClean="0">
                    <a:latin typeface="Microsoft YaHei"/>
                    <a:cs typeface="Microsoft YaHei"/>
                  </a:rPr>
                  <a:t>Q</a:t>
                </a:r>
                <a:r>
                  <a:rPr lang="zh-CN" altLang="en-US" spc="-5" dirty="0">
                    <a:latin typeface="Microsoft YaHei"/>
                    <a:cs typeface="Microsoft YaHei"/>
                  </a:rPr>
                  <a:t>和</a:t>
                </a:r>
                <a:r>
                  <a:rPr lang="en-US" altLang="zh-CN" spc="-5" dirty="0">
                    <a:latin typeface="Microsoft YaHei"/>
                    <a:cs typeface="Microsoft YaHei"/>
                  </a:rPr>
                  <a:t>K</a:t>
                </a:r>
                <a:r>
                  <a:rPr lang="zh-CN" altLang="en-US" spc="-5" dirty="0">
                    <a:latin typeface="Microsoft YaHei"/>
                    <a:cs typeface="Microsoft YaHei"/>
                  </a:rPr>
                  <a:t>计算一个相似度（比如向量</a:t>
                </a:r>
                <a:r>
                  <a:rPr lang="zh-CN" altLang="en-US" spc="5" dirty="0">
                    <a:latin typeface="Microsoft YaHei"/>
                    <a:cs typeface="Microsoft YaHei"/>
                  </a:rPr>
                  <a:t>内</a:t>
                </a:r>
                <a:r>
                  <a:rPr lang="zh-CN" altLang="en-US" spc="-5" dirty="0">
                    <a:latin typeface="Microsoft YaHei"/>
                    <a:cs typeface="Microsoft YaHei"/>
                  </a:rPr>
                  <a:t>积</a:t>
                </a:r>
                <a:r>
                  <a:rPr lang="zh-CN" altLang="en-US" spc="-5" dirty="0" smtClean="0">
                    <a:latin typeface="Microsoft YaHei"/>
                    <a:cs typeface="Microsoft YaHei"/>
                  </a:rPr>
                  <a:t>）</a:t>
                </a:r>
                <a:r>
                  <a:rPr lang="en-US" altLang="zh-CN" dirty="0">
                    <a:solidFill>
                      <a:srgbClr val="FF0000"/>
                    </a:solidFill>
                    <a:latin typeface="Microsoft YaHei"/>
                    <a:cs typeface="Microsoft YaHei"/>
                  </a:rPr>
                  <a:t> s(</a:t>
                </a:r>
                <a14:m>
                  <m:oMath xmlns:m="http://schemas.openxmlformats.org/officeDocument/2006/math">
                    <m:sSub>
                      <m:sSubPr>
                        <m:ctrlPr>
                          <a:rPr lang="zh-CN" altLang="en-US" i="1" dirty="0">
                            <a:solidFill>
                              <a:srgbClr val="FF0000"/>
                            </a:solidFill>
                            <a:latin typeface="Cambria Math" panose="02040503050406030204" pitchFamily="18" charset="0"/>
                          </a:rPr>
                        </m:ctrlPr>
                      </m:sSubPr>
                      <m:e>
                        <m:r>
                          <a:rPr lang="en-US" altLang="zh-CN" b="0" i="1" dirty="0" smtClean="0">
                            <a:solidFill>
                              <a:srgbClr val="FF0000"/>
                            </a:solidFill>
                            <a:latin typeface="Cambria Math" panose="02040503050406030204" pitchFamily="18" charset="0"/>
                          </a:rPr>
                          <m:t>𝑘</m:t>
                        </m:r>
                      </m:e>
                      <m:sub>
                        <m:r>
                          <a:rPr lang="en-US" altLang="zh-CN" i="1" dirty="0">
                            <a:solidFill>
                              <a:srgbClr val="FF0000"/>
                            </a:solidFill>
                            <a:latin typeface="Cambria Math" panose="02040503050406030204" pitchFamily="18" charset="0"/>
                          </a:rPr>
                          <m:t>𝑛</m:t>
                        </m:r>
                      </m:sub>
                    </m:sSub>
                  </m:oMath>
                </a14:m>
                <a:r>
                  <a:rPr lang="en-US" altLang="zh-CN" dirty="0">
                    <a:solidFill>
                      <a:srgbClr val="FF0000"/>
                    </a:solidFill>
                    <a:latin typeface="Microsoft YaHei"/>
                    <a:cs typeface="Microsoft YaHei"/>
                  </a:rPr>
                  <a:t>,</a:t>
                </a:r>
                <a14:m>
                  <m:oMath xmlns:m="http://schemas.openxmlformats.org/officeDocument/2006/math">
                    <m:r>
                      <a:rPr lang="zh-CN" altLang="en-US" i="1" dirty="0">
                        <a:solidFill>
                          <a:srgbClr val="FF0000"/>
                        </a:solidFill>
                        <a:latin typeface="Cambria Math" panose="02040503050406030204" pitchFamily="18" charset="0"/>
                        <a:cs typeface="Microsoft YaHei"/>
                      </a:rPr>
                      <m:t>𝑞</m:t>
                    </m:r>
                  </m:oMath>
                </a14:m>
                <a:r>
                  <a:rPr lang="zh-CN" altLang="en-US" dirty="0">
                    <a:solidFill>
                      <a:srgbClr val="FF0000"/>
                    </a:solidFill>
                    <a:latin typeface="Microsoft YaHei"/>
                    <a:cs typeface="Microsoft YaHei"/>
                  </a:rPr>
                  <a:t> </a:t>
                </a:r>
                <a:r>
                  <a:rPr lang="en-US" altLang="zh-CN" dirty="0" smtClean="0">
                    <a:solidFill>
                      <a:srgbClr val="FF0000"/>
                    </a:solidFill>
                    <a:latin typeface="Microsoft YaHei"/>
                    <a:cs typeface="Microsoft YaHei"/>
                  </a:rPr>
                  <a:t>)</a:t>
                </a:r>
                <a:r>
                  <a:rPr lang="zh-CN" altLang="en-US" dirty="0" smtClean="0">
                    <a:solidFill>
                      <a:srgbClr val="FF0000"/>
                    </a:solidFill>
                    <a:latin typeface="Microsoft YaHei"/>
                    <a:cs typeface="Microsoft YaHei"/>
                  </a:rPr>
                  <a:t>相似度函数</a:t>
                </a:r>
                <a:endParaRPr lang="zh-CN" altLang="en-US" dirty="0">
                  <a:latin typeface="Microsoft YaHei"/>
                  <a:cs typeface="Microsoft YaHei"/>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311187" y="4980835"/>
                <a:ext cx="10180320" cy="1567096"/>
              </a:xfrm>
              <a:prstGeom prst="rect">
                <a:avLst/>
              </a:prstGeom>
              <a:blipFill>
                <a:blip r:embed="rId5"/>
                <a:stretch>
                  <a:fillRect t="-2335" r="-778" b="-54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06173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8007320" cy="584775"/>
          </a:xfrm>
          <a:prstGeom prst="rect">
            <a:avLst/>
          </a:prstGeom>
        </p:spPr>
        <p:txBody>
          <a:bodyPr wrap="none">
            <a:spAutoFit/>
          </a:bodyPr>
          <a:lstStyle/>
          <a:p>
            <a:r>
              <a:rPr lang="zh-CN" altLang="en-US" sz="3200" dirty="0"/>
              <a:t>注意力机制与正则化</a:t>
            </a:r>
            <a:r>
              <a:rPr lang="en-US" altLang="zh-CN" dirty="0" smtClean="0"/>
              <a:t>---</a:t>
            </a:r>
            <a:r>
              <a:rPr lang="en-US" altLang="zh-CN" sz="3200" dirty="0" smtClean="0"/>
              <a:t>Transformer</a:t>
            </a:r>
            <a:r>
              <a:rPr lang="zh-CN" altLang="en-US" sz="3200" dirty="0" smtClean="0"/>
              <a:t>自注意力</a:t>
            </a:r>
            <a:endParaRPr lang="zh-CN" altLang="en-US" sz="3200" dirty="0"/>
          </a:p>
        </p:txBody>
      </p:sp>
      <mc:AlternateContent xmlns:mc="http://schemas.openxmlformats.org/markup-compatibility/2006" xmlns:a14="http://schemas.microsoft.com/office/drawing/2010/main">
        <mc:Choice Requires="a14">
          <p:sp>
            <p:nvSpPr>
              <p:cNvPr id="5" name="矩形 4"/>
              <p:cNvSpPr/>
              <p:nvPr/>
            </p:nvSpPr>
            <p:spPr>
              <a:xfrm>
                <a:off x="1117600" y="1383288"/>
                <a:ext cx="8478520" cy="5091715"/>
              </a:xfrm>
              <a:prstGeom prst="rect">
                <a:avLst/>
              </a:prstGeom>
            </p:spPr>
            <p:txBody>
              <a:bodyPr wrap="square">
                <a:spAutoFit/>
              </a:bodyPr>
              <a:lstStyle/>
              <a:p>
                <a:pPr marL="342900" indent="-342900" algn="just">
                  <a:lnSpc>
                    <a:spcPct val="150000"/>
                  </a:lnSpc>
                  <a:spcBef>
                    <a:spcPts val="1200"/>
                  </a:spcBef>
                  <a:spcAft>
                    <a:spcPts val="0"/>
                  </a:spcAft>
                  <a:buFont typeface="Wingdings" panose="05000000000000000000" pitchFamily="2" charset="2"/>
                  <a:buChar char="Ø"/>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首先生成每个单词的内嵌向量（</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包含单词</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在句子中位置编码向量信息</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a:t>
                </a:r>
                <a:endParaRPr lang="en-US" altLang="zh-CN" sz="2000" dirty="0" smtClean="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150000"/>
                  </a:lnSpc>
                  <a:spcBef>
                    <a:spcPts val="1200"/>
                  </a:spcBef>
                  <a:spcAft>
                    <a:spcPts val="0"/>
                  </a:spcAft>
                  <a:buFont typeface="Wingdings" panose="05000000000000000000" pitchFamily="2" charset="2"/>
                  <a:buChar char="Ø"/>
                </a:pPr>
                <a:r>
                  <a:rPr lang="zh-CN" altLang="en-US" sz="2000" dirty="0" smtClean="0">
                    <a:solidFill>
                      <a:srgbClr val="000000"/>
                    </a:solidFill>
                    <a:latin typeface="Times New Roman" panose="02020603050405020304" pitchFamily="18" charset="0"/>
                    <a:ea typeface="楷体_GB2312"/>
                    <a:cs typeface="Times New Roman" panose="02020603050405020304" pitchFamily="18" charset="0"/>
                  </a:rPr>
                  <a:t>生成</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每个</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单词</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的查询向量</a:t>
                </a:r>
                <a14:m>
                  <m:oMath xmlns:m="http://schemas.openxmlformats.org/officeDocument/2006/math">
                    <m:sSub>
                      <m:sSubPr>
                        <m:ctrlPr>
                          <a:rPr lang="zh-CN" altLang="zh-CN" sz="20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FF0000"/>
                            </a:solidFill>
                            <a:latin typeface="Cambria Math" panose="02040503050406030204" pitchFamily="18" charset="0"/>
                            <a:ea typeface="楷体_GB2312"/>
                            <a:cs typeface="Times New Roman" panose="02020603050405020304" pitchFamily="18" charset="0"/>
                          </a:rPr>
                          <m:t>𝑞</m:t>
                        </m:r>
                      </m:e>
                      <m:sub>
                        <m:r>
                          <a:rPr lang="en-US" altLang="zh-CN" sz="2000" i="1">
                            <a:solidFill>
                              <a:srgbClr val="FF0000"/>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rgbClr val="FF0000"/>
                    </a:solidFill>
                    <a:latin typeface="Times New Roman" panose="02020603050405020304" pitchFamily="18" charset="0"/>
                    <a:ea typeface="楷体_GB2312"/>
                    <a:cs typeface="Times New Roman" panose="02020603050405020304" pitchFamily="18" charset="0"/>
                  </a:rPr>
                  <a:t>（</a:t>
                </a:r>
                <a:r>
                  <a:rPr lang="en-US" altLang="zh-CN" sz="2000" dirty="0">
                    <a:solidFill>
                      <a:srgbClr val="FF0000"/>
                    </a:solidFill>
                    <a:latin typeface="Times New Roman" panose="02020603050405020304" pitchFamily="18" charset="0"/>
                    <a:ea typeface="楷体_GB2312"/>
                    <a:cs typeface="Times New Roman" panose="02020603050405020304" pitchFamily="18" charset="0"/>
                  </a:rPr>
                  <a:t>query</a:t>
                </a:r>
                <a:r>
                  <a:rPr lang="zh-CN" altLang="zh-CN" sz="2000" dirty="0">
                    <a:solidFill>
                      <a:srgbClr val="FF0000"/>
                    </a:solidFill>
                    <a:latin typeface="Times New Roman" panose="02020603050405020304" pitchFamily="18" charset="0"/>
                    <a:ea typeface="楷体_GB2312"/>
                    <a:cs typeface="Times New Roman" panose="02020603050405020304" pitchFamily="18" charset="0"/>
                  </a:rPr>
                  <a:t>）</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、键向量</a:t>
                </a:r>
                <a14:m>
                  <m:oMath xmlns:m="http://schemas.openxmlformats.org/officeDocument/2006/math">
                    <m:sSub>
                      <m:sSubPr>
                        <m:ctrlPr>
                          <a:rPr lang="zh-CN" altLang="zh-CN" sz="20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FF0000"/>
                            </a:solidFill>
                            <a:latin typeface="Cambria Math" panose="02040503050406030204" pitchFamily="18" charset="0"/>
                            <a:ea typeface="楷体_GB2312"/>
                            <a:cs typeface="Times New Roman" panose="02020603050405020304" pitchFamily="18" charset="0"/>
                          </a:rPr>
                          <m:t>𝑘</m:t>
                        </m:r>
                      </m:e>
                      <m:sub>
                        <m:r>
                          <a:rPr lang="en-US" altLang="zh-CN" sz="2000" i="1">
                            <a:solidFill>
                              <a:srgbClr val="FF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FF0000"/>
                        </a:solidFill>
                        <a:latin typeface="Cambria Math" panose="02040503050406030204" pitchFamily="18" charset="0"/>
                        <a:ea typeface="楷体_GB2312"/>
                        <a:cs typeface="Times New Roman" panose="02020603050405020304" pitchFamily="18" charset="0"/>
                      </a:rPr>
                      <m:t> </m:t>
                    </m:r>
                  </m:oMath>
                </a14:m>
                <a:r>
                  <a:rPr lang="en-US" altLang="zh-CN" sz="2000" dirty="0">
                    <a:solidFill>
                      <a:srgbClr val="FF0000"/>
                    </a:solidFill>
                    <a:latin typeface="Times New Roman" panose="02020603050405020304" pitchFamily="18" charset="0"/>
                    <a:ea typeface="楷体_GB2312"/>
                    <a:cs typeface="Times New Roman" panose="02020603050405020304" pitchFamily="18" charset="0"/>
                  </a:rPr>
                  <a:t>(key)</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和值向量</a:t>
                </a:r>
                <a14:m>
                  <m:oMath xmlns:m="http://schemas.openxmlformats.org/officeDocument/2006/math">
                    <m:sSub>
                      <m:sSubPr>
                        <m:ctrlPr>
                          <a:rPr lang="zh-CN" altLang="zh-CN" sz="20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FF0000"/>
                            </a:solidFill>
                            <a:latin typeface="Cambria Math" panose="02040503050406030204" pitchFamily="18" charset="0"/>
                            <a:ea typeface="楷体_GB2312"/>
                            <a:cs typeface="Times New Roman" panose="02020603050405020304" pitchFamily="18" charset="0"/>
                          </a:rPr>
                          <m:t>𝑣</m:t>
                        </m:r>
                      </m:e>
                      <m:sub>
                        <m:r>
                          <a:rPr lang="en-US" altLang="zh-CN" sz="2000" i="1">
                            <a:solidFill>
                              <a:srgbClr val="FF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FF0000"/>
                        </a:solidFill>
                        <a:latin typeface="Cambria Math" panose="02040503050406030204" pitchFamily="18" charset="0"/>
                        <a:ea typeface="楷体_GB2312"/>
                        <a:cs typeface="Times New Roman" panose="02020603050405020304" pitchFamily="18" charset="0"/>
                      </a:rPr>
                      <m:t> </m:t>
                    </m:r>
                  </m:oMath>
                </a14:m>
                <a:r>
                  <a:rPr lang="en-US" altLang="zh-CN" sz="2000" dirty="0">
                    <a:solidFill>
                      <a:srgbClr val="FF0000"/>
                    </a:solidFill>
                    <a:latin typeface="Times New Roman" panose="02020603050405020304" pitchFamily="18" charset="0"/>
                    <a:ea typeface="楷体_GB2312"/>
                    <a:cs typeface="Times New Roman" panose="02020603050405020304" pitchFamily="18" charset="0"/>
                  </a:rPr>
                  <a:t>(value)</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p>
              <a:p>
                <a:pPr marL="342900" indent="-342900" algn="just">
                  <a:lnSpc>
                    <a:spcPct val="150000"/>
                  </a:lnSpc>
                  <a:spcBef>
                    <a:spcPts val="1200"/>
                  </a:spcBef>
                  <a:spcAft>
                    <a:spcPts val="0"/>
                  </a:spcAft>
                  <a:buFont typeface="Wingdings" panose="05000000000000000000" pitchFamily="2" charset="2"/>
                  <a:buChar char="Ø"/>
                </a:pP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𝑞</m:t>
                        </m:r>
                      </m:sup>
                    </m:sSup>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𝑘</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𝑘</m:t>
                        </m:r>
                      </m:sup>
                    </m:sSup>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𝑣</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𝑣</m:t>
                        </m:r>
                      </m:sup>
                    </m:sSup>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zh-CN" altLang="en-US" sz="20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20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FF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FF0000"/>
                            </a:solidFill>
                            <a:latin typeface="Cambria Math" panose="02040503050406030204" pitchFamily="18" charset="0"/>
                            <a:ea typeface="楷体_GB2312"/>
                            <a:cs typeface="Times New Roman" panose="02020603050405020304" pitchFamily="18" charset="0"/>
                          </a:rPr>
                          <m:t>𝑞</m:t>
                        </m:r>
                      </m:sup>
                    </m:sSup>
                  </m:oMath>
                </a14:m>
                <a:r>
                  <a:rPr lang="zh-CN" altLang="zh-CN" sz="2000" dirty="0">
                    <a:solidFill>
                      <a:srgbClr val="FF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p>
                      <m:sSupPr>
                        <m:ctrlPr>
                          <a:rPr lang="zh-CN" altLang="zh-CN"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FF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FF0000"/>
                            </a:solidFill>
                            <a:latin typeface="Cambria Math" panose="02040503050406030204" pitchFamily="18" charset="0"/>
                            <a:ea typeface="楷体_GB2312"/>
                            <a:cs typeface="Times New Roman" panose="02020603050405020304" pitchFamily="18" charset="0"/>
                          </a:rPr>
                          <m:t>𝑘</m:t>
                        </m:r>
                      </m:sup>
                    </m:sSup>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p>
                      <m:sSupPr>
                        <m:ctrlPr>
                          <a:rPr lang="zh-CN" altLang="zh-CN" sz="20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FF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FF0000"/>
                            </a:solidFill>
                            <a:latin typeface="Cambria Math" panose="02040503050406030204" pitchFamily="18" charset="0"/>
                            <a:ea typeface="楷体_GB2312"/>
                            <a:cs typeface="Times New Roman" panose="02020603050405020304" pitchFamily="18" charset="0"/>
                          </a:rPr>
                          <m:t>𝑣</m:t>
                        </m:r>
                      </m:sup>
                    </m:sSup>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三个映射</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矩阵是</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自注意力模型需要训练的</a:t>
                </a:r>
                <a:r>
                  <a:rPr lang="zh-CN" altLang="zh-CN" sz="2000" dirty="0">
                    <a:solidFill>
                      <a:srgbClr val="FF0000"/>
                    </a:solidFill>
                    <a:latin typeface="Times New Roman" panose="02020603050405020304" pitchFamily="18" charset="0"/>
                    <a:ea typeface="楷体_GB2312"/>
                    <a:cs typeface="Times New Roman" panose="02020603050405020304" pitchFamily="18" charset="0"/>
                  </a:rPr>
                  <a:t>全部参数</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a:t>
                </a:r>
                <a:endParaRPr lang="en-US" altLang="zh-CN" sz="2000" dirty="0" smtClean="0">
                  <a:solidFill>
                    <a:srgbClr val="000000"/>
                  </a:solidFill>
                  <a:latin typeface="Times New Roman" panose="02020603050405020304" pitchFamily="18" charset="0"/>
                  <a:ea typeface="楷体_GB2312"/>
                  <a:cs typeface="Times New Roman" panose="02020603050405020304" pitchFamily="18" charset="0"/>
                </a:endParaRPr>
              </a:p>
              <a:p>
                <a:pPr marL="342900" indent="-342900" algn="just">
                  <a:lnSpc>
                    <a:spcPct val="150000"/>
                  </a:lnSpc>
                  <a:spcBef>
                    <a:spcPts val="1200"/>
                  </a:spcBef>
                  <a:buFont typeface="Wingdings" panose="05000000000000000000" pitchFamily="2" charset="2"/>
                  <a:buChar char="Ø"/>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计算给定单词和句子中其他单词之间归一化关联</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度</a:t>
                </a:r>
                <a:r>
                  <a:rPr lang="zh-CN" altLang="en-US" dirty="0" smtClean="0">
                    <a:solidFill>
                      <a:srgbClr val="FF0000"/>
                    </a:solidFill>
                    <a:latin typeface="Times New Roman" panose="02020603050405020304" pitchFamily="18" charset="0"/>
                    <a:ea typeface="楷体_GB2312"/>
                    <a:cs typeface="Times New Roman" panose="02020603050405020304" pitchFamily="18" charset="0"/>
                  </a:rPr>
                  <a:t>（</a:t>
                </a:r>
                <a:r>
                  <a:rPr lang="en-US" altLang="zh-CN" dirty="0" err="1" smtClean="0">
                    <a:solidFill>
                      <a:srgbClr val="FF0000"/>
                    </a:solidFill>
                    <a:latin typeface="Times New Roman" panose="02020603050405020304" pitchFamily="18" charset="0"/>
                    <a:ea typeface="楷体_GB2312"/>
                    <a:cs typeface="Times New Roman" panose="02020603050405020304" pitchFamily="18" charset="0"/>
                  </a:rPr>
                  <a:t>softmax</a:t>
                </a:r>
                <a:r>
                  <a:rPr lang="en-US" altLang="zh-CN" dirty="0" smtClean="0">
                    <a:solidFill>
                      <a:srgbClr val="FF0000"/>
                    </a:solidFill>
                    <a:latin typeface="Times New Roman" panose="02020603050405020304" pitchFamily="18" charset="0"/>
                    <a:ea typeface="楷体_GB2312"/>
                    <a:cs typeface="Times New Roman" panose="02020603050405020304" pitchFamily="18" charset="0"/>
                  </a:rPr>
                  <a:t>()</a:t>
                </a:r>
                <a:r>
                  <a:rPr lang="zh-CN" altLang="en-US" dirty="0" smtClean="0">
                    <a:solidFill>
                      <a:srgbClr val="FF0000"/>
                    </a:solidFill>
                    <a:latin typeface="Times New Roman" panose="02020603050405020304" pitchFamily="18" charset="0"/>
                    <a:ea typeface="楷体_GB2312"/>
                    <a:cs typeface="Times New Roman" panose="02020603050405020304" pitchFamily="18" charset="0"/>
                  </a:rPr>
                  <a:t>函数的输出）</a:t>
                </a:r>
                <a:r>
                  <a:rPr lang="zh-CN" altLang="zh-CN" dirty="0" smtClean="0">
                    <a:solidFill>
                      <a:srgbClr val="FF0000"/>
                    </a:solidFill>
                    <a:latin typeface="Times New Roman" panose="02020603050405020304" pitchFamily="18" charset="0"/>
                    <a:ea typeface="楷体_GB2312"/>
                    <a:cs typeface="Times New Roman" panose="02020603050405020304" pitchFamily="18" charset="0"/>
                  </a:rPr>
                  <a:t>，</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利用关联度大小来对每个单词的自身内容调整和加权取和</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en-US" sz="2000" dirty="0" smtClean="0">
                    <a:solidFill>
                      <a:srgbClr val="000000"/>
                    </a:solidFill>
                    <a:latin typeface="Times New Roman" panose="02020603050405020304" pitchFamily="18" charset="0"/>
                    <a:ea typeface="楷体_GB2312"/>
                    <a:cs typeface="Times New Roman" panose="02020603050405020304" pitchFamily="18" charset="0"/>
                  </a:rPr>
                  <a:t>求出</a:t>
                </a:r>
                <a:r>
                  <a:rPr lang="zh-CN" altLang="zh-CN" sz="2000" dirty="0" smtClean="0">
                    <a:solidFill>
                      <a:srgbClr val="000000"/>
                    </a:solidFill>
                    <a:latin typeface="Times New Roman" panose="02020603050405020304" pitchFamily="18" charset="0"/>
                    <a:ea typeface="楷体_GB2312"/>
                    <a:cs typeface="Times New Roman" panose="02020603050405020304" pitchFamily="18" charset="0"/>
                  </a:rPr>
                  <a:t>每个</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单词在句子中因为上下文语义而与其他单词之间的自注意力。</a:t>
                </a:r>
              </a:p>
              <a:p>
                <a:pPr algn="just">
                  <a:lnSpc>
                    <a:spcPct val="150000"/>
                  </a:lnSpc>
                </a:pPr>
                <a:endParaRPr lang="zh-CN" altLang="zh-CN" sz="24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117600" y="1383288"/>
                <a:ext cx="8478520" cy="5091715"/>
              </a:xfrm>
              <a:prstGeom prst="rect">
                <a:avLst/>
              </a:prstGeom>
              <a:blipFill>
                <a:blip r:embed="rId2"/>
                <a:stretch>
                  <a:fillRect l="-647" r="-7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424859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8007320" cy="584775"/>
          </a:xfrm>
          <a:prstGeom prst="rect">
            <a:avLst/>
          </a:prstGeom>
        </p:spPr>
        <p:txBody>
          <a:bodyPr wrap="none">
            <a:spAutoFit/>
          </a:bodyPr>
          <a:lstStyle/>
          <a:p>
            <a:r>
              <a:rPr lang="zh-CN" altLang="en-US" sz="3200" dirty="0"/>
              <a:t>注意力机制与正则化</a:t>
            </a:r>
            <a:r>
              <a:rPr lang="en-US" altLang="zh-CN" dirty="0" smtClean="0"/>
              <a:t>---</a:t>
            </a:r>
            <a:r>
              <a:rPr lang="en-US" altLang="zh-CN" sz="3200" dirty="0" smtClean="0"/>
              <a:t>Transformer</a:t>
            </a:r>
            <a:r>
              <a:rPr lang="zh-CN" altLang="en-US" sz="3200" dirty="0" smtClean="0"/>
              <a:t>自注意力</a:t>
            </a:r>
            <a:endParaRPr lang="zh-CN" altLang="en-US" sz="3200" dirty="0"/>
          </a:p>
        </p:txBody>
      </p:sp>
      <p:pic>
        <p:nvPicPr>
          <p:cNvPr id="4" name="图片 3">
            <a:extLst>
              <a:ext uri="{FF2B5EF4-FFF2-40B4-BE49-F238E27FC236}">
                <a16:creationId xmlns:a16="http://schemas.microsoft.com/office/drawing/2014/main" id="{E60C97F6-3560-4B80-9E31-8CD8B44FF33B}"/>
              </a:ext>
            </a:extLst>
          </p:cNvPr>
          <p:cNvPicPr>
            <a:picLocks noChangeAspect="1"/>
          </p:cNvPicPr>
          <p:nvPr/>
        </p:nvPicPr>
        <p:blipFill>
          <a:blip r:embed="rId2"/>
          <a:stretch>
            <a:fillRect/>
          </a:stretch>
        </p:blipFill>
        <p:spPr>
          <a:xfrm>
            <a:off x="4770509" y="1468310"/>
            <a:ext cx="6527943" cy="4298080"/>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507063" y="1748724"/>
                <a:ext cx="3744898" cy="3595215"/>
              </a:xfrm>
              <a:prstGeom prst="rect">
                <a:avLst/>
              </a:prstGeom>
            </p:spPr>
            <p:txBody>
              <a:bodyPr wrap="square">
                <a:spAutoFit/>
              </a:bodyPr>
              <a:lstStyle/>
              <a:p>
                <a:pPr indent="266700" algn="just">
                  <a:lnSpc>
                    <a:spcPct val="150000"/>
                  </a:lnSpc>
                  <a:spcBef>
                    <a:spcPts val="600"/>
                  </a:spcBef>
                  <a:spcAft>
                    <a:spcPts val="0"/>
                  </a:spcAft>
                </a:pPr>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、计算</a:t>
                </a: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𝒘</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sub>
                    </m:sSub>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所对应查询向量与其他单词健向量之间</a:t>
                </a:r>
                <a:r>
                  <a:rPr lang="zh-CN" altLang="zh-CN" sz="1400" b="1" dirty="0" smtClean="0">
                    <a:solidFill>
                      <a:srgbClr val="000000"/>
                    </a:solidFill>
                    <a:latin typeface="Times New Roman" panose="02020603050405020304" pitchFamily="18" charset="0"/>
                    <a:ea typeface="楷体_GB2312"/>
                    <a:cs typeface="Times New Roman" panose="02020603050405020304" pitchFamily="18" charset="0"/>
                  </a:rPr>
                  <a:t>的</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关联</a:t>
                </a:r>
                <a:r>
                  <a:rPr lang="zh-CN" altLang="zh-CN" sz="1400" b="1" dirty="0" smtClean="0">
                    <a:solidFill>
                      <a:srgbClr val="000000"/>
                    </a:solidFill>
                    <a:latin typeface="Times New Roman" panose="02020603050405020304" pitchFamily="18" charset="0"/>
                    <a:ea typeface="楷体_GB2312"/>
                    <a:cs typeface="Times New Roman" panose="02020603050405020304" pitchFamily="18" charset="0"/>
                  </a:rPr>
                  <a:t>度</a:t>
                </a:r>
                <a:r>
                  <a:rPr lang="zh-CN" altLang="en-US" sz="1400" b="1"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sz="1400" b="1" dirty="0" smtClean="0">
                    <a:solidFill>
                      <a:srgbClr val="000000"/>
                    </a:solidFill>
                    <a:latin typeface="Times New Roman" panose="02020603050405020304" pitchFamily="18" charset="0"/>
                    <a:ea typeface="楷体_GB2312"/>
                    <a:cs typeface="Times New Roman" panose="02020603050405020304" pitchFamily="18" charset="0"/>
                  </a:rPr>
                  <a:t>点积</a:t>
                </a:r>
                <a:r>
                  <a:rPr lang="zh-CN" altLang="en-US" sz="1400" b="1"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𝜶</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Sub>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𝒒</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sub>
                    </m:sSub>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𝒌</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Sub>
                  </m:oMath>
                </a14:m>
                <a:endParaRPr lang="zh-CN" altLang="zh-CN" sz="1400" b="1"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Bef>
                    <a:spcPts val="600"/>
                  </a:spcBef>
                  <a:spcAft>
                    <a:spcPts val="0"/>
                  </a:spcAft>
                </a:pPr>
                <a:r>
                  <a:rPr lang="en-US" altLang="zh-CN" sz="1400" b="1" dirty="0">
                    <a:solidFill>
                      <a:srgbClr val="191919"/>
                    </a:solidFill>
                    <a:latin typeface="Times New Roman" panose="02020603050405020304" pitchFamily="18" charset="0"/>
                    <a:ea typeface="PingFang SC"/>
                    <a:cs typeface="Times New Roman" panose="02020603050405020304" pitchFamily="18" charset="0"/>
                  </a:rPr>
                  <a:t>2</a:t>
                </a:r>
                <a:r>
                  <a:rPr lang="zh-CN" altLang="zh-CN" sz="1400" b="1" dirty="0">
                    <a:solidFill>
                      <a:srgbClr val="191919"/>
                    </a:solidFill>
                    <a:latin typeface="Times New Roman" panose="02020603050405020304" pitchFamily="18" charset="0"/>
                    <a:ea typeface="PingFang SC"/>
                    <a:cs typeface="Times New Roman" panose="02020603050405020304" pitchFamily="18" charset="0"/>
                  </a:rPr>
                  <a:t>、</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𝜶</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Sub>
                  </m:oMath>
                </a14:m>
                <a:r>
                  <a:rPr lang="zh-CN" altLang="zh-CN" sz="1400" b="1" dirty="0" smtClean="0">
                    <a:solidFill>
                      <a:srgbClr val="000000"/>
                    </a:solidFill>
                    <a:latin typeface="Times New Roman" panose="02020603050405020304" pitchFamily="18" charset="0"/>
                    <a:ea typeface="楷体_GB2312"/>
                    <a:cs typeface="Times New Roman" panose="02020603050405020304" pitchFamily="18" charset="0"/>
                  </a:rPr>
                  <a:t>通过</a:t>
                </a:r>
                <a:r>
                  <a:rPr lang="en-US" altLang="zh-CN" sz="1400" b="1"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函数进行</a:t>
                </a:r>
                <a:r>
                  <a:rPr lang="zh-CN" altLang="zh-CN" sz="1400" b="1" dirty="0" smtClean="0">
                    <a:solidFill>
                      <a:srgbClr val="000000"/>
                    </a:solidFill>
                    <a:latin typeface="Times New Roman" panose="02020603050405020304" pitchFamily="18" charset="0"/>
                    <a:ea typeface="楷体_GB2312"/>
                    <a:cs typeface="Times New Roman" panose="02020603050405020304" pitchFamily="18" charset="0"/>
                  </a:rPr>
                  <a:t>归一化，</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得到</a:t>
                </a:r>
                <a14:m>
                  <m:oMath xmlns:m="http://schemas.openxmlformats.org/officeDocument/2006/math">
                    <m:sSubSup>
                      <m:sSubSup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up>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up>
                    </m:sSubSup>
                  </m:oMath>
                </a14:m>
                <a:r>
                  <a:rPr lang="zh-CN" altLang="zh-CN" sz="1400" b="1" dirty="0" smtClean="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Sup>
                      <m:sSubSup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up>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up>
                    </m:sSubSup>
                  </m:oMath>
                </a14:m>
                <a:r>
                  <a:rPr lang="zh-CN" altLang="en-US" sz="1400" b="1" dirty="0" smtClean="0">
                    <a:solidFill>
                      <a:srgbClr val="000000"/>
                    </a:solidFill>
                    <a:latin typeface="Times New Roman" panose="02020603050405020304" pitchFamily="18" charset="0"/>
                    <a:ea typeface="楷体_GB2312"/>
                    <a:cs typeface="Times New Roman" panose="02020603050405020304" pitchFamily="18" charset="0"/>
                  </a:rPr>
                  <a:t>为</a:t>
                </a:r>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意在</a:t>
                </a:r>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单词与其他单词所具有的重要程度（即注意力）。</a:t>
                </a:r>
              </a:p>
              <a:p>
                <a:pPr indent="266700" algn="just">
                  <a:lnSpc>
                    <a:spcPct val="150000"/>
                  </a:lnSpc>
                  <a:spcBef>
                    <a:spcPts val="600"/>
                  </a:spcBef>
                  <a:spcAft>
                    <a:spcPts val="0"/>
                  </a:spcAft>
                </a:pPr>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3</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Sup>
                      <m:sSubSup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up>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up>
                    </m:sSubSup>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乘以每个单词</a:t>
                </a: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𝒘</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Sub>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所对应的值向量</a:t>
                </a: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𝒗</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Sub>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，即</a:t>
                </a:r>
                <a14:m>
                  <m:oMath xmlns:m="http://schemas.openxmlformats.org/officeDocument/2006/math">
                    <m:sSubSup>
                      <m:sSubSup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up>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up>
                    </m:sSubSup>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𝒗</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Sub>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ct val="150000"/>
                  </a:lnSpc>
                  <a:spcBef>
                    <a:spcPts val="600"/>
                  </a:spcBef>
                  <a:spcAft>
                    <a:spcPts val="0"/>
                  </a:spcAft>
                </a:pPr>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4</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、对上一步结果进行</a:t>
                </a:r>
                <a14:m>
                  <m:oMath xmlns:m="http://schemas.openxmlformats.org/officeDocument/2006/math">
                    <m:nary>
                      <m:naryPr>
                        <m:chr m:val="∑"/>
                        <m:limLoc m:val="subSup"/>
                        <m:supHide m:val="on"/>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𝒋</m:t>
                        </m:r>
                      </m:sub>
                      <m:sup/>
                      <m:e>
                        <m:sSubSup>
                          <m:sSubSup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𝒂</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up>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up>
                        </m:sSubSup>
                        <m:r>
                          <a:rPr lang="en-US" altLang="zh-CN" sz="1400" b="1"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𝒗</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𝒊</m:t>
                            </m:r>
                          </m:sub>
                        </m:sSub>
                      </m:e>
                    </m:nary>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，这个结果作为在当前句子语境下单词</a:t>
                </a: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𝒘</m:t>
                        </m:r>
                      </m:e>
                      <m:sub>
                        <m:r>
                          <a:rPr lang="en-US" altLang="zh-CN" sz="1400" b="1" i="1">
                            <a:solidFill>
                              <a:srgbClr val="000000"/>
                            </a:solidFill>
                            <a:latin typeface="Cambria Math" panose="02040503050406030204" pitchFamily="18" charset="0"/>
                            <a:ea typeface="楷体_GB2312"/>
                            <a:cs typeface="Times New Roman" panose="02020603050405020304" pitchFamily="18" charset="0"/>
                          </a:rPr>
                          <m:t>𝟑</m:t>
                        </m:r>
                      </m:sub>
                    </m:sSub>
                  </m:oMath>
                </a14:m>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 “</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注意</a:t>
                </a:r>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到与其他单词的关联程度（</a:t>
                </a:r>
                <a:r>
                  <a:rPr lang="en-US" altLang="zh-CN" sz="1400" b="1" dirty="0">
                    <a:solidFill>
                      <a:srgbClr val="000000"/>
                    </a:solidFill>
                    <a:latin typeface="Times New Roman" panose="02020603050405020304" pitchFamily="18" charset="0"/>
                    <a:ea typeface="楷体_GB2312"/>
                    <a:cs typeface="Times New Roman" panose="02020603050405020304" pitchFamily="18" charset="0"/>
                  </a:rPr>
                  <a:t>self-attention</a:t>
                </a:r>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2" name="矩形 1"/>
              <p:cNvSpPr>
                <a:spLocks noRot="1" noChangeAspect="1" noMove="1" noResize="1" noEditPoints="1" noAdjustHandles="1" noChangeArrowheads="1" noChangeShapeType="1" noTextEdit="1"/>
              </p:cNvSpPr>
              <p:nvPr/>
            </p:nvSpPr>
            <p:spPr>
              <a:xfrm>
                <a:off x="507063" y="1748724"/>
                <a:ext cx="3744898" cy="3595215"/>
              </a:xfrm>
              <a:prstGeom prst="rect">
                <a:avLst/>
              </a:prstGeom>
              <a:blipFill>
                <a:blip r:embed="rId3"/>
                <a:stretch>
                  <a:fillRect l="-488" r="-50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60589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5455340" cy="584775"/>
          </a:xfrm>
          <a:prstGeom prst="rect">
            <a:avLst/>
          </a:prstGeom>
        </p:spPr>
        <p:txBody>
          <a:bodyPr wrap="none">
            <a:spAutoFit/>
          </a:bodyPr>
          <a:lstStyle/>
          <a:p>
            <a:r>
              <a:rPr lang="zh-CN" altLang="en-US" sz="3200" dirty="0"/>
              <a:t>注意力机制与正则化</a:t>
            </a:r>
            <a:r>
              <a:rPr lang="en-US" altLang="zh-CN" dirty="0" smtClean="0"/>
              <a:t>---</a:t>
            </a:r>
            <a:r>
              <a:rPr lang="zh-CN" altLang="en-US" sz="3200" dirty="0"/>
              <a:t>正则化</a:t>
            </a:r>
          </a:p>
        </p:txBody>
      </p:sp>
      <p:sp>
        <p:nvSpPr>
          <p:cNvPr id="4" name="矩形 3"/>
          <p:cNvSpPr/>
          <p:nvPr/>
        </p:nvSpPr>
        <p:spPr>
          <a:xfrm>
            <a:off x="558800" y="1141561"/>
            <a:ext cx="9900920" cy="584775"/>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深度神经网络结构复杂、参数众多，很容易造成过拟合（</a:t>
            </a:r>
            <a:r>
              <a:rPr lang="en-US" altLang="zh-CN" sz="1600" dirty="0">
                <a:latin typeface="微软雅黑" panose="020B0503020204020204" pitchFamily="34" charset="-122"/>
                <a:ea typeface="微软雅黑" panose="020B0503020204020204" pitchFamily="34" charset="-122"/>
              </a:rPr>
              <a:t>over-fitting</a:t>
            </a:r>
            <a:r>
              <a:rPr lang="zh-CN" altLang="en-US" sz="1600" dirty="0">
                <a:latin typeface="微软雅黑" panose="020B0503020204020204" pitchFamily="34" charset="-122"/>
                <a:ea typeface="微软雅黑" panose="020B0503020204020204" pitchFamily="34" charset="-122"/>
              </a:rPr>
              <a:t>）。为了缓解神经网络在训练过程中出现的过拟合现象，需要采取一些正则化技术来提升神经网络的泛化能力（</a:t>
            </a:r>
            <a:r>
              <a:rPr lang="en-US" altLang="zh-CN" sz="1600" dirty="0">
                <a:latin typeface="微软雅黑" panose="020B0503020204020204" pitchFamily="34" charset="-122"/>
                <a:ea typeface="微软雅黑" panose="020B0503020204020204" pitchFamily="34" charset="-122"/>
              </a:rPr>
              <a:t>generalization</a:t>
            </a:r>
            <a:r>
              <a:rPr lang="zh-CN" altLang="en-US" sz="1600" dirty="0">
                <a:latin typeface="微软雅黑" panose="020B0503020204020204" pitchFamily="34" charset="-122"/>
                <a:ea typeface="微软雅黑" panose="020B0503020204020204" pitchFamily="34" charset="-122"/>
              </a:rPr>
              <a:t>）。</a:t>
            </a:r>
          </a:p>
        </p:txBody>
      </p:sp>
      <p:sp>
        <p:nvSpPr>
          <p:cNvPr id="5" name="矩形: 圆角 6">
            <a:extLst>
              <a:ext uri="{FF2B5EF4-FFF2-40B4-BE49-F238E27FC236}">
                <a16:creationId xmlns:a16="http://schemas.microsoft.com/office/drawing/2014/main" id="{3BEEA551-1D76-4786-B93E-9E7A88ED4DC4}"/>
              </a:ext>
            </a:extLst>
          </p:cNvPr>
          <p:cNvSpPr/>
          <p:nvPr/>
        </p:nvSpPr>
        <p:spPr>
          <a:xfrm>
            <a:off x="423110" y="2450833"/>
            <a:ext cx="5515502" cy="367166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F2BF4FA-36AE-4B45-B28B-355FD2B1DC46}"/>
              </a:ext>
            </a:extLst>
          </p:cNvPr>
          <p:cNvSpPr/>
          <p:nvPr/>
        </p:nvSpPr>
        <p:spPr>
          <a:xfrm>
            <a:off x="423110" y="2602278"/>
            <a:ext cx="5341518" cy="2716385"/>
          </a:xfrm>
          <a:prstGeom prst="rect">
            <a:avLst/>
          </a:prstGeom>
        </p:spPr>
        <p:txBody>
          <a:bodyPr wrap="square">
            <a:spAutoFit/>
          </a:bodyPr>
          <a:lstStyle/>
          <a:p>
            <a:pPr marL="342900" indent="-342900">
              <a:lnSpc>
                <a:spcPct val="150000"/>
              </a:lnSpc>
              <a:spcBef>
                <a:spcPts val="600"/>
              </a:spcBef>
              <a:buClr>
                <a:schemeClr val="bg1"/>
              </a:buClr>
              <a:buSzPct val="80000"/>
              <a:buFont typeface="Wingdings" panose="05000000000000000000" pitchFamily="2" charset="2"/>
              <a:buChar char="u"/>
            </a:pPr>
            <a:r>
              <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Dropout</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：指在训练神经网络的过程中随机</a:t>
            </a:r>
            <a:r>
              <a:rPr lang="zh-CN" altLang="en-US" sz="1400" b="1"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丢掉（屏蔽）一部分</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神经元来降低神经网络的复杂度，从而防止过拟合</a:t>
            </a:r>
            <a:r>
              <a:rPr lang="zh-CN" altLang="en-US" sz="1400" b="1"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b="1"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spcBef>
                <a:spcPts val="600"/>
              </a:spcBef>
              <a:buClr>
                <a:schemeClr val="bg1"/>
              </a:buClr>
              <a:buSzPct val="80000"/>
              <a:buFont typeface="Wingdings" panose="05000000000000000000" pitchFamily="2" charset="2"/>
              <a:buChar char="u"/>
            </a:pPr>
            <a:r>
              <a:rPr lang="zh-CN" altLang="en-US" sz="1400" b="1" dirty="0" smtClean="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批</a:t>
            </a: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归一化</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：批归一化（</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batch normalization</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）就是通过规范化手段，把神经网络每层中任意神经元的输入值分布改变成均值为</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、方差为</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的标准正态分布，把偏移较大的分布强制映射为标准正态分布。经过批归一化处理，激活函数的输入值被映射到非线性函数梯度较大的区域，使得梯度变大从而克服梯度消失问题，进而加快收敛速度。</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A9214A51-F0B1-41AE-BE2E-3CC671C74A8E}"/>
              </a:ext>
            </a:extLst>
          </p:cNvPr>
          <p:cNvPicPr>
            <a:picLocks noChangeAspect="1"/>
          </p:cNvPicPr>
          <p:nvPr/>
        </p:nvPicPr>
        <p:blipFill>
          <a:blip r:embed="rId2"/>
          <a:stretch>
            <a:fillRect/>
          </a:stretch>
        </p:blipFill>
        <p:spPr>
          <a:xfrm>
            <a:off x="6683822" y="1890425"/>
            <a:ext cx="3608257" cy="4453433"/>
          </a:xfrm>
          <a:prstGeom prst="rect">
            <a:avLst/>
          </a:prstGeom>
        </p:spPr>
      </p:pic>
    </p:spTree>
    <p:extLst>
      <p:ext uri="{BB962C8B-B14F-4D97-AF65-F5344CB8AC3E}">
        <p14:creationId xmlns:p14="http://schemas.microsoft.com/office/powerpoint/2010/main" val="5711099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5455340" cy="584775"/>
          </a:xfrm>
          <a:prstGeom prst="rect">
            <a:avLst/>
          </a:prstGeom>
        </p:spPr>
        <p:txBody>
          <a:bodyPr wrap="none">
            <a:spAutoFit/>
          </a:bodyPr>
          <a:lstStyle/>
          <a:p>
            <a:r>
              <a:rPr lang="zh-CN" altLang="en-US" sz="3200" dirty="0"/>
              <a:t>注意力机制与正则化</a:t>
            </a:r>
            <a:r>
              <a:rPr lang="en-US" altLang="zh-CN" dirty="0" smtClean="0"/>
              <a:t>---</a:t>
            </a:r>
            <a:r>
              <a:rPr lang="zh-CN" altLang="en-US" sz="3200" dirty="0"/>
              <a:t>正则化</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86499CD-1870-4D78-BFC1-704468D000D7}"/>
                  </a:ext>
                </a:extLst>
              </p:cNvPr>
              <p:cNvSpPr/>
              <p:nvPr/>
            </p:nvSpPr>
            <p:spPr>
              <a:xfrm>
                <a:off x="1254760" y="977077"/>
                <a:ext cx="9067800" cy="5365058"/>
              </a:xfrm>
              <a:prstGeom prst="rect">
                <a:avLst/>
              </a:prstGeom>
            </p:spPr>
            <p:txBody>
              <a:bodyPr wrap="square">
                <a:spAutoFit/>
              </a:bodyPr>
              <a:lstStyle/>
              <a:p>
                <a:pPr indent="266700" algn="just">
                  <a:lnSpc>
                    <a:spcPct val="150000"/>
                  </a:lnSpc>
                  <a:spcAft>
                    <a:spcPts val="0"/>
                  </a:spcAft>
                </a:pPr>
                <a:r>
                  <a:rPr lang="en-US" altLang="zh-CN" sz="1400" dirty="0">
                    <a:solidFill>
                      <a:srgbClr val="000000"/>
                    </a:solidFill>
                    <a:latin typeface="Times New Roman" panose="02020603050405020304" pitchFamily="18" charset="0"/>
                    <a:ea typeface="楷体_GB2312"/>
                    <a:cs typeface="Times New Roman" panose="02020603050405020304" pitchFamily="18" charset="0"/>
                  </a:rPr>
                  <a:t> </a:t>
                </a: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algn="just">
                  <a:lnSpc>
                    <a:spcPct val="150000"/>
                  </a:lnSpc>
                  <a:spcAft>
                    <a:spcPts val="600"/>
                  </a:spcAft>
                </a:pPr>
                <a14:m>
                  <m:oMath xmlns:m="http://schemas.openxmlformats.org/officeDocument/2006/math">
                    <m:sSub>
                      <m:sSubPr>
                        <m:ctrlPr>
                          <a:rPr lang="zh-CN" altLang="zh-CN" sz="1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kern="100">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400" b="1" i="1" kern="100">
                            <a:latin typeface="Cambria Math" panose="02040503050406030204" pitchFamily="18" charset="0"/>
                            <a:ea typeface="Cambria Math" panose="02040503050406030204" pitchFamily="18" charset="0"/>
                            <a:cs typeface="Times New Roman" panose="02020603050405020304" pitchFamily="18" charset="0"/>
                          </a:rPr>
                          <m:t>𝟏</m:t>
                        </m:r>
                      </m:sub>
                    </m:sSub>
                  </m:oMath>
                </a14:m>
                <a:r>
                  <a:rPr lang="zh-CN" altLang="zh-CN" sz="1400" b="1" kern="100" dirty="0">
                    <a:effectLst/>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sz="14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kern="100">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400" b="1" i="1" kern="100">
                            <a:latin typeface="Cambria Math" panose="02040503050406030204" pitchFamily="18" charset="0"/>
                            <a:ea typeface="等线" panose="02010600030101010101" pitchFamily="2" charset="-122"/>
                            <a:cs typeface="Times New Roman" panose="02020603050405020304" pitchFamily="18" charset="0"/>
                          </a:rPr>
                          <m:t>𝟐</m:t>
                        </m:r>
                      </m:sub>
                    </m:sSub>
                  </m:oMath>
                </a14:m>
                <a:r>
                  <a:rPr lang="zh-CN" altLang="zh-CN" sz="1400" b="1" kern="100" dirty="0">
                    <a:effectLst/>
                    <a:latin typeface="Times New Roman" panose="02020603050405020304" pitchFamily="18" charset="0"/>
                    <a:ea typeface="楷体_GB2312"/>
                    <a:cs typeface="Times New Roman" panose="02020603050405020304" pitchFamily="18" charset="0"/>
                  </a:rPr>
                  <a:t>正则化</a:t>
                </a:r>
                <a:r>
                  <a:rPr lang="zh-CN" altLang="en-US" sz="14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对于具有</a:t>
                </a:r>
                <a14:m>
                  <m:oMath xmlns:m="http://schemas.openxmlformats.org/officeDocument/2006/math">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个训练数据</a:t>
                </a:r>
                <a14:m>
                  <m:oMath xmlns:m="http://schemas.openxmlformats.org/officeDocument/2006/math">
                    <m:r>
                      <a:rPr lang="en-US" altLang="zh-CN" sz="1400">
                        <a:solidFill>
                          <a:srgbClr val="000000"/>
                        </a:solidFill>
                        <a:latin typeface="Cambria Math" panose="02040503050406030204" pitchFamily="18" charset="0"/>
                        <a:ea typeface="楷体_GB2312"/>
                        <a:cs typeface="Times New Roman" panose="02020603050405020304" pitchFamily="18" charset="0"/>
                      </a:rPr>
                      <m:t>{</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4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e>
                    </m:d>
                    <m:r>
                      <a:rPr lang="en-US" altLang="zh-CN" sz="14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𝑛</m:t>
                        </m:r>
                      </m:sub>
                    </m:sSub>
                    <m:r>
                      <a:rPr lang="en-US" altLang="zh-CN" sz="14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𝑛</m:t>
                        </m:r>
                      </m:sub>
                    </m:sSub>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的神经网络，其中</a:t>
                </a:r>
                <a14:m>
                  <m:oMath xmlns:m="http://schemas.openxmlformats.org/officeDocument/2006/math">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4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sz="1400" i="1">
                        <a:solidFill>
                          <a:srgbClr val="000000"/>
                        </a:solidFill>
                        <a:latin typeface="Cambria Math" panose="02040503050406030204" pitchFamily="18" charset="0"/>
                        <a:ea typeface="楷体_GB2312"/>
                        <a:cs typeface="Times New Roman" panose="02020603050405020304" pitchFamily="18" charset="0"/>
                      </a:rPr>
                      <m:t>(1≤</m:t>
                    </m:r>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𝑛</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分别为输入样本及其对应的标签。加入正则化项后，神经网络的损失函数一般可如下表示：</a:t>
                </a:r>
              </a:p>
              <a:p>
                <a:pPr algn="just">
                  <a:lnSpc>
                    <a:spcPct val="150000"/>
                  </a:lnSpc>
                  <a:spcAft>
                    <a:spcPts val="600"/>
                  </a:spcAft>
                </a:pPr>
                <a14:m>
                  <m:oMathPara xmlns:m="http://schemas.openxmlformats.org/officeDocument/2006/math">
                    <m:oMathParaPr>
                      <m:jc m:val="centerGroup"/>
                    </m:oMathParaPr>
                    <m:oMath xmlns:m="http://schemas.openxmlformats.org/officeDocument/2006/math">
                      <m:func>
                        <m:func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min</m:t>
                          </m:r>
                        </m:fName>
                        <m:e>
                          <m:f>
                            <m:f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𝑛</m:t>
                              </m:r>
                            </m:den>
                          </m:f>
                        </m:e>
                      </m:func>
                      <m:nary>
                        <m:naryPr>
                          <m:chr m:val="∑"/>
                          <m:limLoc m:val="subSup"/>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𝑛</m:t>
                          </m:r>
                        </m:sup>
                        <m:e>
                          <m:limLow>
                            <m:limLow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𝐿𝑜𝑠𝑠</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kern="100">
                                              <a:latin typeface="Cambria Math" panose="02040503050406030204" pitchFamily="18" charset="0"/>
                                              <a:ea typeface="华文楷体" panose="02010600040101010101" pitchFamily="2" charset="-122"/>
                                              <a:cs typeface="Times New Roman" panose="02020603050405020304" pitchFamily="18" charset="0"/>
                                            </a:rPr>
                                            <m:t>𝑾</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𝑥</m:t>
                                              </m:r>
                                            </m:e>
                                            <m:sub>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𝑖</m:t>
                                              </m:r>
                                            </m:sub>
                                          </m:sSub>
                                        </m:e>
                                      </m:d>
                                    </m:e>
                                  </m:d>
                                </m:e>
                              </m:groupChr>
                            </m:e>
                            <m:lim>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损失函数</m:t>
                              </m:r>
                            </m:lim>
                          </m:limLow>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𝜆</m:t>
                                  </m:r>
                                </m:e>
                              </m:groupChr>
                            </m:e>
                            <m:lim>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正则化权重</m:t>
                              </m:r>
                            </m:lim>
                          </m:limLow>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groupChrPr>
                                <m:e>
                                  <m:r>
                                    <m:rPr>
                                      <m:sty m:val="p"/>
                                    </m:rPr>
                                    <a:rPr lang="en-US" altLang="zh-CN" sz="1400" kern="100">
                                      <a:latin typeface="Cambria Math" panose="02040503050406030204" pitchFamily="18" charset="0"/>
                                      <a:ea typeface="华文楷体" panose="02010600040101010101" pitchFamily="2" charset="-122"/>
                                      <a:cs typeface="Times New Roman" panose="02020603050405020304" pitchFamily="18" charset="0"/>
                                    </a:rPr>
                                    <m:t>Φ</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400" b="1" i="1" kern="100">
                                      <a:latin typeface="Cambria Math" panose="02040503050406030204" pitchFamily="18" charset="0"/>
                                      <a:ea typeface="华文楷体" panose="02010600040101010101" pitchFamily="2" charset="-122"/>
                                      <a:cs typeface="Times New Roman" panose="02020603050405020304" pitchFamily="18" charset="0"/>
                                    </a:rPr>
                                    <m:t>𝑾</m:t>
                                  </m:r>
                                  <m:r>
                                    <a:rPr lang="en-US" altLang="zh-CN" sz="1400" i="1" kern="100">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400" kern="100">
                                  <a:latin typeface="Cambria Math" panose="02040503050406030204" pitchFamily="18" charset="0"/>
                                  <a:ea typeface="华文楷体" panose="02010600040101010101" pitchFamily="2" charset="-122"/>
                                  <a:cs typeface="Times New Roman" panose="02020603050405020304" pitchFamily="18" charset="0"/>
                                </a:rPr>
                                <m:t>正则化项</m:t>
                              </m:r>
                            </m:lim>
                          </m:limLow>
                        </m:e>
                      </m:nary>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e>
                    </m:d>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表示参数为</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的神经网络对输入</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的预测、</a:t>
                </a:r>
                <a14:m>
                  <m:oMath xmlns:m="http://schemas.openxmlformats.org/officeDocument/2006/math">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Φ</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为正则化项（又称惩罚项）、</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𝜆</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为正则项权重。</a:t>
                </a:r>
              </a:p>
              <a:p>
                <a:pPr indent="266700" algn="just">
                  <a:lnSpc>
                    <a:spcPct val="1500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正则化项</a:t>
                </a:r>
                <a14:m>
                  <m:oMath xmlns:m="http://schemas.openxmlformats.org/officeDocument/2006/math">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Φ</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一般用模型参数</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的范数形式来表示。假设神经网络模型中参数数目为</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ℕ</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，则参数的范数形式主要有：</a:t>
                </a:r>
              </a:p>
              <a:p>
                <a:pPr indent="267970" algn="just">
                  <a:lnSpc>
                    <a:spcPct val="150000"/>
                  </a:lnSpc>
                  <a:spcAft>
                    <a:spcPts val="0"/>
                  </a:spcAft>
                </a:pP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𝟎</m:t>
                        </m:r>
                      </m:sub>
                    </m:sSub>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范数</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：数学表示为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e>
                        </m:d>
                      </m:e>
                      <m:sub>
                        <m:r>
                          <a:rPr lang="en-US" altLang="zh-CN" sz="1400" i="1">
                            <a:solidFill>
                              <a:srgbClr val="000000"/>
                            </a:solidFill>
                            <a:latin typeface="Cambria Math" panose="02040503050406030204" pitchFamily="18" charset="0"/>
                            <a:ea typeface="楷体_GB2312"/>
                            <a:cs typeface="Times New Roman" panose="02020603050405020304" pitchFamily="18" charset="0"/>
                          </a:rPr>
                          <m:t>0</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nary>
                      <m:naryPr>
                        <m:chr m:val="∑"/>
                        <m:limLoc m:val="subSup"/>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400" i="1">
                            <a:solidFill>
                              <a:srgbClr val="000000"/>
                            </a:solidFill>
                            <a:latin typeface="Cambria Math" panose="02040503050406030204" pitchFamily="18" charset="0"/>
                            <a:ea typeface="楷体_GB2312"/>
                            <a:cs typeface="Times New Roman" panose="02020603050405020304" pitchFamily="18" charset="0"/>
                          </a:rPr>
                          <m:t>ℕ</m:t>
                        </m:r>
                      </m:sup>
                      <m:e>
                        <m:r>
                          <a:rPr lang="en-US" altLang="zh-CN" sz="1400" i="1">
                            <a:solidFill>
                              <a:srgbClr val="000000"/>
                            </a:solidFill>
                            <a:latin typeface="Cambria Math" panose="02040503050406030204" pitchFamily="18" charset="0"/>
                            <a:ea typeface="楷体_GB2312"/>
                            <a:cs typeface="Times New Roman" panose="02020603050405020304" pitchFamily="18" charset="0"/>
                          </a:rPr>
                          <m:t>𝕀</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≠0]</m:t>
                        </m:r>
                      </m:e>
                    </m:nary>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𝕀</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是指示函数，若括号内表达式为真，函数值为</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，反之为</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。所以</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范数指模型参数</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中非零元素个数。</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可实现模型参数的稀疏化。但是，由于</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范数正则化是一个</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NP Hard</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问题，难以求解，因此一般不用</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范数。</a:t>
                </a:r>
              </a:p>
              <a:p>
                <a:pPr indent="267970" algn="just">
                  <a:lnSpc>
                    <a:spcPct val="150000"/>
                  </a:lnSpc>
                  <a:spcAft>
                    <a:spcPts val="0"/>
                  </a:spcAft>
                </a:pP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𝟏</m:t>
                        </m:r>
                      </m:sub>
                    </m:sSub>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范数</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：数学表示为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𝑊</m:t>
                            </m:r>
                          </m:e>
                        </m:d>
                      </m:e>
                      <m: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nary>
                      <m:naryPr>
                        <m:chr m:val="∑"/>
                        <m:limLoc m:val="subSup"/>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400" i="1">
                            <a:solidFill>
                              <a:srgbClr val="000000"/>
                            </a:solidFill>
                            <a:latin typeface="Cambria Math" panose="02040503050406030204" pitchFamily="18" charset="0"/>
                            <a:ea typeface="楷体_GB2312"/>
                            <a:cs typeface="Times New Roman" panose="02020603050405020304" pitchFamily="18" charset="0"/>
                          </a:rPr>
                          <m:t>ℕ</m:t>
                        </m:r>
                      </m:sup>
                      <m:e>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e>
                    </m:nary>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，指模型参数</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中各个元素的绝对值之和。</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范数也被称为</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稀疏规则算子</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Lasso regularization</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a:t>
                </a:r>
              </a:p>
              <a:p>
                <a:pPr indent="267970" algn="just">
                  <a:lnSpc>
                    <a:spcPct val="150000"/>
                  </a:lnSpc>
                  <a:spcAft>
                    <a:spcPts val="0"/>
                  </a:spcAft>
                </a:pPr>
                <a14:m>
                  <m:oMath xmlns:m="http://schemas.openxmlformats.org/officeDocument/2006/math">
                    <m:sSub>
                      <m:sSubPr>
                        <m:ctrlPr>
                          <a:rPr lang="zh-CN"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4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𝟐</m:t>
                        </m:r>
                      </m:sub>
                    </m:sSub>
                  </m:oMath>
                </a14:m>
                <a:r>
                  <a:rPr lang="zh-CN" altLang="zh-CN" sz="1400" b="1" dirty="0">
                    <a:solidFill>
                      <a:srgbClr val="000000"/>
                    </a:solidFill>
                    <a:latin typeface="Times New Roman" panose="02020603050405020304" pitchFamily="18" charset="0"/>
                    <a:ea typeface="楷体_GB2312"/>
                    <a:cs typeface="Times New Roman" panose="02020603050405020304" pitchFamily="18" charset="0"/>
                  </a:rPr>
                  <a:t>范数</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：数学表示为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𝑊</m:t>
                            </m:r>
                          </m:e>
                        </m:d>
                      </m:e>
                      <m:sub>
                        <m:r>
                          <a:rPr lang="en-US" altLang="zh-CN" sz="14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rad>
                      <m:radPr>
                        <m:degHide m:val="on"/>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nary>
                          <m:naryPr>
                            <m:chr m:val="∑"/>
                            <m:limLoc m:val="subSup"/>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400" i="1">
                                <a:solidFill>
                                  <a:srgbClr val="000000"/>
                                </a:solidFill>
                                <a:latin typeface="Cambria Math" panose="02040503050406030204" pitchFamily="18" charset="0"/>
                                <a:ea typeface="楷体_GB2312"/>
                                <a:cs typeface="Times New Roman" panose="02020603050405020304" pitchFamily="18" charset="0"/>
                              </a:rPr>
                              <m:t>ℕ</m:t>
                            </m:r>
                          </m:sup>
                          <m:e>
                            <m:sSubSup>
                              <m:sSub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400" i="1">
                                    <a:solidFill>
                                      <a:srgbClr val="000000"/>
                                    </a:solidFill>
                                    <a:latin typeface="Cambria Math" panose="02040503050406030204" pitchFamily="18" charset="0"/>
                                    <a:ea typeface="楷体_GB2312"/>
                                    <a:cs typeface="Times New Roman" panose="02020603050405020304" pitchFamily="18" charset="0"/>
                                  </a:rPr>
                                  <m:t>2</m:t>
                                </m:r>
                              </m:sup>
                            </m:sSubSup>
                          </m:e>
                        </m:nary>
                      </m:e>
                    </m:rad>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，指模型参数</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中各个元素平方和的开方。</a:t>
                </a:r>
              </a:p>
            </p:txBody>
          </p:sp>
        </mc:Choice>
        <mc:Fallback xmlns="">
          <p:sp>
            <p:nvSpPr>
              <p:cNvPr id="4" name="矩形 3">
                <a:extLst>
                  <a:ext uri="{FF2B5EF4-FFF2-40B4-BE49-F238E27FC236}">
                    <a16:creationId xmlns:a16="http://schemas.microsoft.com/office/drawing/2014/main" id="{786499CD-1870-4D78-BFC1-704468D000D7}"/>
                  </a:ext>
                </a:extLst>
              </p:cNvPr>
              <p:cNvSpPr>
                <a:spLocks noRot="1" noChangeAspect="1" noMove="1" noResize="1" noEditPoints="1" noAdjustHandles="1" noChangeArrowheads="1" noChangeShapeType="1" noTextEdit="1"/>
              </p:cNvSpPr>
              <p:nvPr/>
            </p:nvSpPr>
            <p:spPr>
              <a:xfrm>
                <a:off x="1254760" y="977077"/>
                <a:ext cx="9067800" cy="5365058"/>
              </a:xfrm>
              <a:prstGeom prst="rect">
                <a:avLst/>
              </a:prstGeom>
              <a:blipFill>
                <a:blip r:embed="rId2"/>
                <a:stretch>
                  <a:fillRect l="-202" r="-2085" b="-55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32928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4961" y="200075"/>
            <a:ext cx="7776488" cy="584775"/>
          </a:xfrm>
          <a:prstGeom prst="rect">
            <a:avLst/>
          </a:prstGeom>
        </p:spPr>
        <p:txBody>
          <a:bodyPr wrap="none">
            <a:spAutoFit/>
          </a:bodyPr>
          <a:lstStyle/>
          <a:p>
            <a:r>
              <a:rPr lang="zh-CN" altLang="en-US" sz="3200" dirty="0"/>
              <a:t>自然语言和计算机视觉</a:t>
            </a:r>
            <a:r>
              <a:rPr lang="zh-CN" altLang="en-US" sz="3200" dirty="0" smtClean="0"/>
              <a:t>应用</a:t>
            </a:r>
            <a:r>
              <a:rPr lang="en-US" altLang="zh-CN" sz="3200" dirty="0" smtClean="0"/>
              <a:t>---</a:t>
            </a:r>
            <a:r>
              <a:rPr lang="zh-CN" altLang="en-US" sz="3200" dirty="0" smtClean="0"/>
              <a:t>词向量生成</a:t>
            </a:r>
            <a:endParaRPr lang="zh-CN" altLang="en-US" sz="3200" dirty="0"/>
          </a:p>
        </p:txBody>
      </p:sp>
      <p:sp>
        <p:nvSpPr>
          <p:cNvPr id="5" name="object 3"/>
          <p:cNvSpPr txBox="1"/>
          <p:nvPr/>
        </p:nvSpPr>
        <p:spPr>
          <a:xfrm>
            <a:off x="429387" y="3550411"/>
            <a:ext cx="1552575" cy="631190"/>
          </a:xfrm>
          <a:prstGeom prst="rect">
            <a:avLst/>
          </a:prstGeom>
        </p:spPr>
        <p:txBody>
          <a:bodyPr vert="horz" wrap="square" lIns="0" tIns="27305" rIns="0" bIns="0" rtlCol="0">
            <a:spAutoFit/>
          </a:bodyPr>
          <a:lstStyle/>
          <a:p>
            <a:pPr marL="393065" marR="5080" indent="-381000">
              <a:lnSpc>
                <a:spcPts val="2360"/>
              </a:lnSpc>
              <a:spcBef>
                <a:spcPts val="215"/>
              </a:spcBef>
            </a:pPr>
            <a:r>
              <a:rPr sz="2000" dirty="0">
                <a:latin typeface="Microsoft YaHei"/>
                <a:cs typeface="Microsoft YaHei"/>
              </a:rPr>
              <a:t>“我喜欢这部 电影”</a:t>
            </a:r>
            <a:endParaRPr sz="2000">
              <a:latin typeface="Microsoft YaHei"/>
              <a:cs typeface="Microsoft YaHei"/>
            </a:endParaRPr>
          </a:p>
        </p:txBody>
      </p:sp>
      <p:grpSp>
        <p:nvGrpSpPr>
          <p:cNvPr id="6" name="object 4"/>
          <p:cNvGrpSpPr/>
          <p:nvPr/>
        </p:nvGrpSpPr>
        <p:grpSpPr>
          <a:xfrm>
            <a:off x="2423922" y="3824093"/>
            <a:ext cx="634365" cy="116839"/>
            <a:chOff x="2423922" y="3824093"/>
            <a:chExt cx="634365" cy="116839"/>
          </a:xfrm>
        </p:grpSpPr>
        <p:sp>
          <p:nvSpPr>
            <p:cNvPr id="7" name="object 5"/>
            <p:cNvSpPr/>
            <p:nvPr/>
          </p:nvSpPr>
          <p:spPr>
            <a:xfrm>
              <a:off x="2423922" y="3882390"/>
              <a:ext cx="621030" cy="0"/>
            </a:xfrm>
            <a:custGeom>
              <a:avLst/>
              <a:gdLst/>
              <a:ahLst/>
              <a:cxnLst/>
              <a:rect l="l" t="t" r="r" b="b"/>
              <a:pathLst>
                <a:path w="621030">
                  <a:moveTo>
                    <a:pt x="0" y="0"/>
                  </a:moveTo>
                  <a:lnTo>
                    <a:pt x="620776" y="0"/>
                  </a:lnTo>
                </a:path>
              </a:pathLst>
            </a:custGeom>
            <a:ln w="25908">
              <a:solidFill>
                <a:srgbClr val="000000"/>
              </a:solidFill>
            </a:ln>
          </p:spPr>
          <p:txBody>
            <a:bodyPr wrap="square" lIns="0" tIns="0" rIns="0" bIns="0" rtlCol="0"/>
            <a:lstStyle/>
            <a:p>
              <a:endParaRPr/>
            </a:p>
          </p:txBody>
        </p:sp>
        <p:sp>
          <p:nvSpPr>
            <p:cNvPr id="8" name="object 6"/>
            <p:cNvSpPr/>
            <p:nvPr/>
          </p:nvSpPr>
          <p:spPr>
            <a:xfrm>
              <a:off x="2966981" y="3837047"/>
              <a:ext cx="78105" cy="90805"/>
            </a:xfrm>
            <a:custGeom>
              <a:avLst/>
              <a:gdLst/>
              <a:ahLst/>
              <a:cxnLst/>
              <a:rect l="l" t="t" r="r" b="b"/>
              <a:pathLst>
                <a:path w="78105" h="90804">
                  <a:moveTo>
                    <a:pt x="0" y="0"/>
                  </a:moveTo>
                  <a:lnTo>
                    <a:pt x="77724" y="45339"/>
                  </a:lnTo>
                  <a:lnTo>
                    <a:pt x="0" y="90678"/>
                  </a:lnTo>
                </a:path>
              </a:pathLst>
            </a:custGeom>
            <a:ln w="25908">
              <a:solidFill>
                <a:srgbClr val="000000"/>
              </a:solidFill>
            </a:ln>
          </p:spPr>
          <p:txBody>
            <a:bodyPr wrap="square" lIns="0" tIns="0" rIns="0" bIns="0" rtlCol="0"/>
            <a:lstStyle/>
            <a:p>
              <a:endParaRPr/>
            </a:p>
          </p:txBody>
        </p:sp>
      </p:grpSp>
      <p:pic>
        <p:nvPicPr>
          <p:cNvPr id="9" name="object 7"/>
          <p:cNvPicPr/>
          <p:nvPr/>
        </p:nvPicPr>
        <p:blipFill>
          <a:blip r:embed="rId2" cstate="print"/>
          <a:stretch>
            <a:fillRect/>
          </a:stretch>
        </p:blipFill>
        <p:spPr>
          <a:xfrm>
            <a:off x="3287267" y="2860548"/>
            <a:ext cx="1002791" cy="2042147"/>
          </a:xfrm>
          <a:prstGeom prst="rect">
            <a:avLst/>
          </a:prstGeom>
        </p:spPr>
      </p:pic>
      <p:sp>
        <p:nvSpPr>
          <p:cNvPr id="10" name="object 8"/>
          <p:cNvSpPr txBox="1"/>
          <p:nvPr/>
        </p:nvSpPr>
        <p:spPr>
          <a:xfrm>
            <a:off x="3040202" y="5250433"/>
            <a:ext cx="1594485" cy="572770"/>
          </a:xfrm>
          <a:prstGeom prst="rect">
            <a:avLst/>
          </a:prstGeom>
        </p:spPr>
        <p:txBody>
          <a:bodyPr vert="horz" wrap="square" lIns="0" tIns="12700" rIns="0" bIns="0" rtlCol="0">
            <a:spAutoFit/>
          </a:bodyPr>
          <a:lstStyle/>
          <a:p>
            <a:pPr marL="635" algn="ctr">
              <a:lnSpc>
                <a:spcPts val="2155"/>
              </a:lnSpc>
              <a:spcBef>
                <a:spcPts val="100"/>
              </a:spcBef>
            </a:pPr>
            <a:r>
              <a:rPr sz="1800" dirty="0">
                <a:latin typeface="Microsoft YaHei"/>
                <a:cs typeface="Microsoft YaHei"/>
              </a:rPr>
              <a:t>表征</a:t>
            </a:r>
          </a:p>
          <a:p>
            <a:pPr algn="ctr">
              <a:lnSpc>
                <a:spcPts val="2155"/>
              </a:lnSpc>
            </a:pPr>
            <a:r>
              <a:rPr sz="1800" spc="-5" dirty="0">
                <a:latin typeface="Calibri"/>
                <a:cs typeface="Calibri"/>
              </a:rPr>
              <a:t>(Representation)</a:t>
            </a:r>
            <a:endParaRPr sz="1800" dirty="0">
              <a:latin typeface="Calibri"/>
              <a:cs typeface="Calibri"/>
            </a:endParaRPr>
          </a:p>
        </p:txBody>
      </p:sp>
      <p:sp>
        <p:nvSpPr>
          <p:cNvPr id="11" name="object 9"/>
          <p:cNvSpPr txBox="1"/>
          <p:nvPr/>
        </p:nvSpPr>
        <p:spPr>
          <a:xfrm>
            <a:off x="948283" y="5250433"/>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YaHei"/>
                <a:cs typeface="Microsoft YaHei"/>
              </a:rPr>
              <a:t>文本</a:t>
            </a:r>
            <a:endParaRPr sz="1800">
              <a:latin typeface="Microsoft YaHei"/>
              <a:cs typeface="Microsoft YaHei"/>
            </a:endParaRPr>
          </a:p>
        </p:txBody>
      </p:sp>
      <p:sp>
        <p:nvSpPr>
          <p:cNvPr id="12" name="object 10"/>
          <p:cNvSpPr txBox="1"/>
          <p:nvPr/>
        </p:nvSpPr>
        <p:spPr>
          <a:xfrm>
            <a:off x="2274163" y="3474897"/>
            <a:ext cx="7112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Microsoft YaHei"/>
                <a:cs typeface="Microsoft YaHei"/>
              </a:rPr>
              <a:t>向量化</a:t>
            </a:r>
            <a:endParaRPr sz="1800">
              <a:latin typeface="Microsoft YaHei"/>
              <a:cs typeface="Microsoft YaHei"/>
            </a:endParaRPr>
          </a:p>
        </p:txBody>
      </p:sp>
      <p:grpSp>
        <p:nvGrpSpPr>
          <p:cNvPr id="13" name="object 11"/>
          <p:cNvGrpSpPr/>
          <p:nvPr/>
        </p:nvGrpSpPr>
        <p:grpSpPr>
          <a:xfrm>
            <a:off x="4368546" y="3824093"/>
            <a:ext cx="633730" cy="116839"/>
            <a:chOff x="4368546" y="3824093"/>
            <a:chExt cx="633730" cy="116839"/>
          </a:xfrm>
        </p:grpSpPr>
        <p:sp>
          <p:nvSpPr>
            <p:cNvPr id="14" name="object 12"/>
            <p:cNvSpPr/>
            <p:nvPr/>
          </p:nvSpPr>
          <p:spPr>
            <a:xfrm>
              <a:off x="4368546" y="3882390"/>
              <a:ext cx="621030" cy="0"/>
            </a:xfrm>
            <a:custGeom>
              <a:avLst/>
              <a:gdLst/>
              <a:ahLst/>
              <a:cxnLst/>
              <a:rect l="l" t="t" r="r" b="b"/>
              <a:pathLst>
                <a:path w="621029">
                  <a:moveTo>
                    <a:pt x="0" y="0"/>
                  </a:moveTo>
                  <a:lnTo>
                    <a:pt x="620776" y="0"/>
                  </a:lnTo>
                </a:path>
              </a:pathLst>
            </a:custGeom>
            <a:ln w="25908">
              <a:solidFill>
                <a:srgbClr val="000000"/>
              </a:solidFill>
            </a:ln>
          </p:spPr>
          <p:txBody>
            <a:bodyPr wrap="square" lIns="0" tIns="0" rIns="0" bIns="0" rtlCol="0"/>
            <a:lstStyle/>
            <a:p>
              <a:endParaRPr/>
            </a:p>
          </p:txBody>
        </p:sp>
        <p:sp>
          <p:nvSpPr>
            <p:cNvPr id="15" name="object 13"/>
            <p:cNvSpPr/>
            <p:nvPr/>
          </p:nvSpPr>
          <p:spPr>
            <a:xfrm>
              <a:off x="4911604" y="3837047"/>
              <a:ext cx="78105" cy="90805"/>
            </a:xfrm>
            <a:custGeom>
              <a:avLst/>
              <a:gdLst/>
              <a:ahLst/>
              <a:cxnLst/>
              <a:rect l="l" t="t" r="r" b="b"/>
              <a:pathLst>
                <a:path w="78104" h="90804">
                  <a:moveTo>
                    <a:pt x="0" y="0"/>
                  </a:moveTo>
                  <a:lnTo>
                    <a:pt x="77724" y="45339"/>
                  </a:lnTo>
                  <a:lnTo>
                    <a:pt x="0" y="90678"/>
                  </a:lnTo>
                </a:path>
              </a:pathLst>
            </a:custGeom>
            <a:ln w="25908">
              <a:solidFill>
                <a:srgbClr val="000000"/>
              </a:solidFill>
            </a:ln>
          </p:spPr>
          <p:txBody>
            <a:bodyPr wrap="square" lIns="0" tIns="0" rIns="0" bIns="0" rtlCol="0"/>
            <a:lstStyle/>
            <a:p>
              <a:endParaRPr/>
            </a:p>
          </p:txBody>
        </p:sp>
      </p:grpSp>
      <p:grpSp>
        <p:nvGrpSpPr>
          <p:cNvPr id="16" name="object 14"/>
          <p:cNvGrpSpPr/>
          <p:nvPr/>
        </p:nvGrpSpPr>
        <p:grpSpPr>
          <a:xfrm>
            <a:off x="5175553" y="2947390"/>
            <a:ext cx="5452745" cy="2087880"/>
            <a:chOff x="5175553" y="2947390"/>
            <a:chExt cx="5452745" cy="2087880"/>
          </a:xfrm>
        </p:grpSpPr>
        <p:pic>
          <p:nvPicPr>
            <p:cNvPr id="17" name="object 15"/>
            <p:cNvPicPr/>
            <p:nvPr/>
          </p:nvPicPr>
          <p:blipFill>
            <a:blip r:embed="rId3" cstate="print"/>
            <a:stretch>
              <a:fillRect/>
            </a:stretch>
          </p:blipFill>
          <p:spPr>
            <a:xfrm>
              <a:off x="5175553" y="2947390"/>
              <a:ext cx="4647212" cy="1956857"/>
            </a:xfrm>
            <a:prstGeom prst="rect">
              <a:avLst/>
            </a:prstGeom>
          </p:spPr>
        </p:pic>
        <p:sp>
          <p:nvSpPr>
            <p:cNvPr id="18" name="object 16"/>
            <p:cNvSpPr/>
            <p:nvPr/>
          </p:nvSpPr>
          <p:spPr>
            <a:xfrm>
              <a:off x="9841229" y="2969907"/>
              <a:ext cx="701040" cy="630555"/>
            </a:xfrm>
            <a:custGeom>
              <a:avLst/>
              <a:gdLst/>
              <a:ahLst/>
              <a:cxnLst/>
              <a:rect l="l" t="t" r="r" b="b"/>
              <a:pathLst>
                <a:path w="701040" h="630554">
                  <a:moveTo>
                    <a:pt x="0" y="630542"/>
                  </a:moveTo>
                  <a:lnTo>
                    <a:pt x="701014" y="0"/>
                  </a:lnTo>
                </a:path>
              </a:pathLst>
            </a:custGeom>
            <a:ln w="25908">
              <a:solidFill>
                <a:srgbClr val="000000"/>
              </a:solidFill>
            </a:ln>
          </p:spPr>
          <p:txBody>
            <a:bodyPr wrap="square" lIns="0" tIns="0" rIns="0" bIns="0" rtlCol="0"/>
            <a:lstStyle/>
            <a:p>
              <a:endParaRPr/>
            </a:p>
          </p:txBody>
        </p:sp>
        <p:sp>
          <p:nvSpPr>
            <p:cNvPr id="19" name="object 17"/>
            <p:cNvSpPr/>
            <p:nvPr/>
          </p:nvSpPr>
          <p:spPr>
            <a:xfrm>
              <a:off x="10454145" y="2969905"/>
              <a:ext cx="88265" cy="85725"/>
            </a:xfrm>
            <a:custGeom>
              <a:avLst/>
              <a:gdLst/>
              <a:ahLst/>
              <a:cxnLst/>
              <a:rect l="l" t="t" r="r" b="b"/>
              <a:pathLst>
                <a:path w="88265" h="85725">
                  <a:moveTo>
                    <a:pt x="60642" y="85686"/>
                  </a:moveTo>
                  <a:lnTo>
                    <a:pt x="88099" y="0"/>
                  </a:lnTo>
                  <a:lnTo>
                    <a:pt x="0" y="18275"/>
                  </a:lnTo>
                </a:path>
              </a:pathLst>
            </a:custGeom>
            <a:ln w="25908">
              <a:solidFill>
                <a:srgbClr val="000000"/>
              </a:solidFill>
            </a:ln>
          </p:spPr>
          <p:txBody>
            <a:bodyPr wrap="square" lIns="0" tIns="0" rIns="0" bIns="0" rtlCol="0"/>
            <a:lstStyle/>
            <a:p>
              <a:endParaRPr/>
            </a:p>
          </p:txBody>
        </p:sp>
        <p:sp>
          <p:nvSpPr>
            <p:cNvPr id="20" name="object 18"/>
            <p:cNvSpPr/>
            <p:nvPr/>
          </p:nvSpPr>
          <p:spPr>
            <a:xfrm>
              <a:off x="9912858" y="4283202"/>
              <a:ext cx="702945" cy="739140"/>
            </a:xfrm>
            <a:custGeom>
              <a:avLst/>
              <a:gdLst/>
              <a:ahLst/>
              <a:cxnLst/>
              <a:rect l="l" t="t" r="r" b="b"/>
              <a:pathLst>
                <a:path w="702945" h="739139">
                  <a:moveTo>
                    <a:pt x="0" y="0"/>
                  </a:moveTo>
                  <a:lnTo>
                    <a:pt x="702424" y="738962"/>
                  </a:lnTo>
                </a:path>
              </a:pathLst>
            </a:custGeom>
            <a:ln w="25908">
              <a:solidFill>
                <a:srgbClr val="000000"/>
              </a:solidFill>
            </a:ln>
          </p:spPr>
          <p:txBody>
            <a:bodyPr wrap="square" lIns="0" tIns="0" rIns="0" bIns="0" rtlCol="0"/>
            <a:lstStyle/>
            <a:p>
              <a:endParaRPr/>
            </a:p>
          </p:txBody>
        </p:sp>
        <p:sp>
          <p:nvSpPr>
            <p:cNvPr id="21" name="object 19"/>
            <p:cNvSpPr/>
            <p:nvPr/>
          </p:nvSpPr>
          <p:spPr>
            <a:xfrm>
              <a:off x="10528871" y="4934593"/>
              <a:ext cx="86995" cy="87630"/>
            </a:xfrm>
            <a:custGeom>
              <a:avLst/>
              <a:gdLst/>
              <a:ahLst/>
              <a:cxnLst/>
              <a:rect l="l" t="t" r="r" b="b"/>
              <a:pathLst>
                <a:path w="86995" h="87629">
                  <a:moveTo>
                    <a:pt x="65722" y="0"/>
                  </a:moveTo>
                  <a:lnTo>
                    <a:pt x="86410" y="87566"/>
                  </a:lnTo>
                  <a:lnTo>
                    <a:pt x="0" y="62471"/>
                  </a:lnTo>
                </a:path>
              </a:pathLst>
            </a:custGeom>
            <a:ln w="25908">
              <a:solidFill>
                <a:srgbClr val="000000"/>
              </a:solidFill>
            </a:ln>
          </p:spPr>
          <p:txBody>
            <a:bodyPr wrap="square" lIns="0" tIns="0" rIns="0" bIns="0" rtlCol="0"/>
            <a:lstStyle/>
            <a:p>
              <a:endParaRPr/>
            </a:p>
          </p:txBody>
        </p:sp>
      </p:grpSp>
      <p:sp>
        <p:nvSpPr>
          <p:cNvPr id="22" name="object 20"/>
          <p:cNvSpPr txBox="1"/>
          <p:nvPr/>
        </p:nvSpPr>
        <p:spPr>
          <a:xfrm>
            <a:off x="6968869" y="5203444"/>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Microsoft YaHei"/>
                <a:cs typeface="Microsoft YaHei"/>
              </a:rPr>
              <a:t>神经网络</a:t>
            </a:r>
            <a:endParaRPr sz="1800">
              <a:latin typeface="Microsoft YaHei"/>
              <a:cs typeface="Microsoft YaHei"/>
            </a:endParaRPr>
          </a:p>
        </p:txBody>
      </p:sp>
      <p:sp>
        <p:nvSpPr>
          <p:cNvPr id="23" name="object 21"/>
          <p:cNvSpPr txBox="1"/>
          <p:nvPr/>
        </p:nvSpPr>
        <p:spPr>
          <a:xfrm>
            <a:off x="10465179" y="1963673"/>
            <a:ext cx="1578610" cy="833119"/>
          </a:xfrm>
          <a:prstGeom prst="rect">
            <a:avLst/>
          </a:prstGeom>
        </p:spPr>
        <p:txBody>
          <a:bodyPr vert="horz" wrap="square" lIns="0" tIns="12700" rIns="0" bIns="0" rtlCol="0">
            <a:spAutoFit/>
          </a:bodyPr>
          <a:lstStyle/>
          <a:p>
            <a:pPr marL="260350">
              <a:lnSpc>
                <a:spcPct val="100000"/>
              </a:lnSpc>
              <a:spcBef>
                <a:spcPts val="100"/>
              </a:spcBef>
            </a:pPr>
            <a:r>
              <a:rPr sz="1800" b="1" dirty="0">
                <a:latin typeface="Microsoft YaHei"/>
                <a:cs typeface="Microsoft YaHei"/>
              </a:rPr>
              <a:t>生成任务</a:t>
            </a:r>
            <a:endParaRPr sz="1800">
              <a:latin typeface="Microsoft YaHei"/>
              <a:cs typeface="Microsoft YaHei"/>
            </a:endParaRPr>
          </a:p>
          <a:p>
            <a:pPr marL="12700">
              <a:lnSpc>
                <a:spcPct val="100000"/>
              </a:lnSpc>
              <a:spcBef>
                <a:spcPts val="1795"/>
              </a:spcBef>
            </a:pPr>
            <a:r>
              <a:rPr sz="2000" dirty="0">
                <a:latin typeface="Calibri"/>
                <a:cs typeface="Calibri"/>
              </a:rPr>
              <a:t>A</a:t>
            </a:r>
            <a:r>
              <a:rPr sz="2000" spc="-5" dirty="0">
                <a:latin typeface="Calibri"/>
                <a:cs typeface="Calibri"/>
              </a:rPr>
              <a:t>I</a:t>
            </a:r>
            <a:r>
              <a:rPr sz="2000" dirty="0">
                <a:latin typeface="Calibri"/>
                <a:cs typeface="Calibri"/>
              </a:rPr>
              <a:t>:</a:t>
            </a:r>
            <a:r>
              <a:rPr sz="2000" dirty="0">
                <a:latin typeface="Microsoft YaHei"/>
                <a:cs typeface="Microsoft YaHei"/>
              </a:rPr>
              <a:t>“我也是”</a:t>
            </a:r>
            <a:endParaRPr sz="2000">
              <a:latin typeface="Microsoft YaHei"/>
              <a:cs typeface="Microsoft YaHei"/>
            </a:endParaRPr>
          </a:p>
        </p:txBody>
      </p:sp>
      <p:sp>
        <p:nvSpPr>
          <p:cNvPr id="24" name="object 22"/>
          <p:cNvSpPr txBox="1"/>
          <p:nvPr/>
        </p:nvSpPr>
        <p:spPr>
          <a:xfrm>
            <a:off x="10811889" y="4632932"/>
            <a:ext cx="939800" cy="898525"/>
          </a:xfrm>
          <a:prstGeom prst="rect">
            <a:avLst/>
          </a:prstGeom>
        </p:spPr>
        <p:txBody>
          <a:bodyPr vert="horz" wrap="square" lIns="0" tIns="151130" rIns="0" bIns="0" rtlCol="0">
            <a:spAutoFit/>
          </a:bodyPr>
          <a:lstStyle/>
          <a:p>
            <a:pPr algn="ctr">
              <a:lnSpc>
                <a:spcPct val="100000"/>
              </a:lnSpc>
              <a:spcBef>
                <a:spcPts val="1190"/>
              </a:spcBef>
            </a:pPr>
            <a:r>
              <a:rPr sz="1800" b="1" dirty="0">
                <a:latin typeface="Microsoft YaHei"/>
                <a:cs typeface="Microsoft YaHei"/>
              </a:rPr>
              <a:t>分类任务</a:t>
            </a:r>
            <a:endParaRPr sz="1800">
              <a:latin typeface="Microsoft YaHei"/>
              <a:cs typeface="Microsoft YaHei"/>
            </a:endParaRPr>
          </a:p>
          <a:p>
            <a:pPr algn="ctr">
              <a:lnSpc>
                <a:spcPct val="100000"/>
              </a:lnSpc>
              <a:spcBef>
                <a:spcPts val="1220"/>
              </a:spcBef>
            </a:pPr>
            <a:r>
              <a:rPr sz="2000" dirty="0">
                <a:latin typeface="Calibri"/>
                <a:cs typeface="Calibri"/>
              </a:rPr>
              <a:t>0/1</a:t>
            </a:r>
            <a:endParaRPr sz="2000">
              <a:latin typeface="Calibri"/>
              <a:cs typeface="Calibri"/>
            </a:endParaRPr>
          </a:p>
        </p:txBody>
      </p:sp>
      <p:grpSp>
        <p:nvGrpSpPr>
          <p:cNvPr id="25" name="object 23"/>
          <p:cNvGrpSpPr/>
          <p:nvPr/>
        </p:nvGrpSpPr>
        <p:grpSpPr>
          <a:xfrm>
            <a:off x="1043939" y="1716025"/>
            <a:ext cx="2906395" cy="745490"/>
            <a:chOff x="1043939" y="1716025"/>
            <a:chExt cx="2906395" cy="745490"/>
          </a:xfrm>
        </p:grpSpPr>
        <p:sp>
          <p:nvSpPr>
            <p:cNvPr id="26" name="object 24"/>
            <p:cNvSpPr/>
            <p:nvPr/>
          </p:nvSpPr>
          <p:spPr>
            <a:xfrm>
              <a:off x="1056893" y="1728979"/>
              <a:ext cx="2880360" cy="719455"/>
            </a:xfrm>
            <a:custGeom>
              <a:avLst/>
              <a:gdLst/>
              <a:ahLst/>
              <a:cxnLst/>
              <a:rect l="l" t="t" r="r" b="b"/>
              <a:pathLst>
                <a:path w="2880360" h="719455">
                  <a:moveTo>
                    <a:pt x="2760472" y="0"/>
                  </a:moveTo>
                  <a:lnTo>
                    <a:pt x="119888" y="0"/>
                  </a:lnTo>
                  <a:lnTo>
                    <a:pt x="73219" y="9420"/>
                  </a:lnTo>
                  <a:lnTo>
                    <a:pt x="35112" y="35112"/>
                  </a:lnTo>
                  <a:lnTo>
                    <a:pt x="9420" y="73219"/>
                  </a:lnTo>
                  <a:lnTo>
                    <a:pt x="0" y="119887"/>
                  </a:lnTo>
                  <a:lnTo>
                    <a:pt x="0" y="599440"/>
                  </a:lnTo>
                  <a:lnTo>
                    <a:pt x="9420" y="646102"/>
                  </a:lnTo>
                  <a:lnTo>
                    <a:pt x="35112" y="684210"/>
                  </a:lnTo>
                  <a:lnTo>
                    <a:pt x="73219" y="709905"/>
                  </a:lnTo>
                  <a:lnTo>
                    <a:pt x="119888" y="719328"/>
                  </a:lnTo>
                  <a:lnTo>
                    <a:pt x="2760472" y="719328"/>
                  </a:lnTo>
                  <a:lnTo>
                    <a:pt x="2807140" y="709905"/>
                  </a:lnTo>
                  <a:lnTo>
                    <a:pt x="2845247" y="684210"/>
                  </a:lnTo>
                  <a:lnTo>
                    <a:pt x="2870939" y="646102"/>
                  </a:lnTo>
                  <a:lnTo>
                    <a:pt x="2880360" y="599440"/>
                  </a:lnTo>
                  <a:lnTo>
                    <a:pt x="2880360" y="119887"/>
                  </a:lnTo>
                  <a:lnTo>
                    <a:pt x="2870939" y="73219"/>
                  </a:lnTo>
                  <a:lnTo>
                    <a:pt x="2845247" y="35112"/>
                  </a:lnTo>
                  <a:lnTo>
                    <a:pt x="2807140" y="9420"/>
                  </a:lnTo>
                  <a:lnTo>
                    <a:pt x="2760472" y="0"/>
                  </a:lnTo>
                  <a:close/>
                </a:path>
              </a:pathLst>
            </a:custGeom>
            <a:solidFill>
              <a:srgbClr val="BCD6ED"/>
            </a:solidFill>
          </p:spPr>
          <p:txBody>
            <a:bodyPr wrap="square" lIns="0" tIns="0" rIns="0" bIns="0" rtlCol="0"/>
            <a:lstStyle/>
            <a:p>
              <a:endParaRPr/>
            </a:p>
          </p:txBody>
        </p:sp>
        <p:sp>
          <p:nvSpPr>
            <p:cNvPr id="27" name="object 25"/>
            <p:cNvSpPr/>
            <p:nvPr/>
          </p:nvSpPr>
          <p:spPr>
            <a:xfrm>
              <a:off x="1056893" y="1728979"/>
              <a:ext cx="2880360" cy="719455"/>
            </a:xfrm>
            <a:custGeom>
              <a:avLst/>
              <a:gdLst/>
              <a:ahLst/>
              <a:cxnLst/>
              <a:rect l="l" t="t" r="r" b="b"/>
              <a:pathLst>
                <a:path w="2880360" h="719455">
                  <a:moveTo>
                    <a:pt x="0" y="119887"/>
                  </a:moveTo>
                  <a:lnTo>
                    <a:pt x="9420" y="73219"/>
                  </a:lnTo>
                  <a:lnTo>
                    <a:pt x="35112" y="35112"/>
                  </a:lnTo>
                  <a:lnTo>
                    <a:pt x="73219" y="9420"/>
                  </a:lnTo>
                  <a:lnTo>
                    <a:pt x="119888" y="0"/>
                  </a:lnTo>
                  <a:lnTo>
                    <a:pt x="2760472" y="0"/>
                  </a:lnTo>
                  <a:lnTo>
                    <a:pt x="2807140" y="9420"/>
                  </a:lnTo>
                  <a:lnTo>
                    <a:pt x="2845247" y="35112"/>
                  </a:lnTo>
                  <a:lnTo>
                    <a:pt x="2870939" y="73219"/>
                  </a:lnTo>
                  <a:lnTo>
                    <a:pt x="2880360" y="119887"/>
                  </a:lnTo>
                  <a:lnTo>
                    <a:pt x="2880360" y="599440"/>
                  </a:lnTo>
                  <a:lnTo>
                    <a:pt x="2870939" y="646102"/>
                  </a:lnTo>
                  <a:lnTo>
                    <a:pt x="2845247" y="684210"/>
                  </a:lnTo>
                  <a:lnTo>
                    <a:pt x="2807140" y="709905"/>
                  </a:lnTo>
                  <a:lnTo>
                    <a:pt x="2760472" y="719328"/>
                  </a:lnTo>
                  <a:lnTo>
                    <a:pt x="119888" y="719328"/>
                  </a:lnTo>
                  <a:lnTo>
                    <a:pt x="73219" y="709905"/>
                  </a:lnTo>
                  <a:lnTo>
                    <a:pt x="35112" y="684210"/>
                  </a:lnTo>
                  <a:lnTo>
                    <a:pt x="9420" y="646102"/>
                  </a:lnTo>
                  <a:lnTo>
                    <a:pt x="0" y="599440"/>
                  </a:lnTo>
                  <a:lnTo>
                    <a:pt x="0" y="119887"/>
                  </a:lnTo>
                  <a:close/>
                </a:path>
              </a:pathLst>
            </a:custGeom>
            <a:ln w="25908">
              <a:solidFill>
                <a:srgbClr val="2D75B6"/>
              </a:solidFill>
            </a:ln>
          </p:spPr>
          <p:txBody>
            <a:bodyPr wrap="square" lIns="0" tIns="0" rIns="0" bIns="0" rtlCol="0"/>
            <a:lstStyle/>
            <a:p>
              <a:endParaRPr/>
            </a:p>
          </p:txBody>
        </p:sp>
      </p:grpSp>
      <p:sp>
        <p:nvSpPr>
          <p:cNvPr id="28" name="object 26"/>
          <p:cNvSpPr txBox="1"/>
          <p:nvPr/>
        </p:nvSpPr>
        <p:spPr>
          <a:xfrm>
            <a:off x="1682051" y="1924303"/>
            <a:ext cx="1625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1.</a:t>
            </a:r>
            <a:r>
              <a:rPr sz="1800" b="1" spc="-85" dirty="0">
                <a:latin typeface="Calibri"/>
                <a:cs typeface="Calibri"/>
              </a:rPr>
              <a:t> </a:t>
            </a:r>
            <a:r>
              <a:rPr sz="1800" b="1" dirty="0">
                <a:latin typeface="Microsoft YaHei"/>
                <a:cs typeface="Microsoft YaHei"/>
              </a:rPr>
              <a:t>文本表征方法</a:t>
            </a:r>
            <a:endParaRPr sz="1800" dirty="0">
              <a:latin typeface="Microsoft YaHei"/>
              <a:cs typeface="Microsoft YaHei"/>
            </a:endParaRPr>
          </a:p>
        </p:txBody>
      </p:sp>
      <p:grpSp>
        <p:nvGrpSpPr>
          <p:cNvPr id="29" name="object 27"/>
          <p:cNvGrpSpPr/>
          <p:nvPr/>
        </p:nvGrpSpPr>
        <p:grpSpPr>
          <a:xfrm>
            <a:off x="5795771" y="1719073"/>
            <a:ext cx="2906395" cy="745490"/>
            <a:chOff x="5795771" y="1719073"/>
            <a:chExt cx="2906395" cy="745490"/>
          </a:xfrm>
        </p:grpSpPr>
        <p:sp>
          <p:nvSpPr>
            <p:cNvPr id="30" name="object 28"/>
            <p:cNvSpPr/>
            <p:nvPr/>
          </p:nvSpPr>
          <p:spPr>
            <a:xfrm>
              <a:off x="5808725" y="1732027"/>
              <a:ext cx="2880360" cy="719455"/>
            </a:xfrm>
            <a:custGeom>
              <a:avLst/>
              <a:gdLst/>
              <a:ahLst/>
              <a:cxnLst/>
              <a:rect l="l" t="t" r="r" b="b"/>
              <a:pathLst>
                <a:path w="2880359" h="719455">
                  <a:moveTo>
                    <a:pt x="2760472" y="0"/>
                  </a:moveTo>
                  <a:lnTo>
                    <a:pt x="119888" y="0"/>
                  </a:lnTo>
                  <a:lnTo>
                    <a:pt x="73219" y="9420"/>
                  </a:lnTo>
                  <a:lnTo>
                    <a:pt x="35112" y="35112"/>
                  </a:lnTo>
                  <a:lnTo>
                    <a:pt x="9420" y="73219"/>
                  </a:lnTo>
                  <a:lnTo>
                    <a:pt x="0" y="119887"/>
                  </a:lnTo>
                  <a:lnTo>
                    <a:pt x="0" y="599440"/>
                  </a:lnTo>
                  <a:lnTo>
                    <a:pt x="9420" y="646102"/>
                  </a:lnTo>
                  <a:lnTo>
                    <a:pt x="35112" y="684210"/>
                  </a:lnTo>
                  <a:lnTo>
                    <a:pt x="73219" y="709905"/>
                  </a:lnTo>
                  <a:lnTo>
                    <a:pt x="119888" y="719328"/>
                  </a:lnTo>
                  <a:lnTo>
                    <a:pt x="2760472" y="719328"/>
                  </a:lnTo>
                  <a:lnTo>
                    <a:pt x="2807140" y="709905"/>
                  </a:lnTo>
                  <a:lnTo>
                    <a:pt x="2845247" y="684210"/>
                  </a:lnTo>
                  <a:lnTo>
                    <a:pt x="2870939" y="646102"/>
                  </a:lnTo>
                  <a:lnTo>
                    <a:pt x="2880360" y="599440"/>
                  </a:lnTo>
                  <a:lnTo>
                    <a:pt x="2880360" y="119887"/>
                  </a:lnTo>
                  <a:lnTo>
                    <a:pt x="2870939" y="73219"/>
                  </a:lnTo>
                  <a:lnTo>
                    <a:pt x="2845247" y="35112"/>
                  </a:lnTo>
                  <a:lnTo>
                    <a:pt x="2807140" y="9420"/>
                  </a:lnTo>
                  <a:lnTo>
                    <a:pt x="2760472" y="0"/>
                  </a:lnTo>
                  <a:close/>
                </a:path>
              </a:pathLst>
            </a:custGeom>
            <a:solidFill>
              <a:srgbClr val="BCD6ED"/>
            </a:solidFill>
          </p:spPr>
          <p:txBody>
            <a:bodyPr wrap="square" lIns="0" tIns="0" rIns="0" bIns="0" rtlCol="0"/>
            <a:lstStyle/>
            <a:p>
              <a:endParaRPr/>
            </a:p>
          </p:txBody>
        </p:sp>
        <p:sp>
          <p:nvSpPr>
            <p:cNvPr id="31" name="object 29"/>
            <p:cNvSpPr/>
            <p:nvPr/>
          </p:nvSpPr>
          <p:spPr>
            <a:xfrm>
              <a:off x="5808725" y="1732027"/>
              <a:ext cx="2880360" cy="719455"/>
            </a:xfrm>
            <a:custGeom>
              <a:avLst/>
              <a:gdLst/>
              <a:ahLst/>
              <a:cxnLst/>
              <a:rect l="l" t="t" r="r" b="b"/>
              <a:pathLst>
                <a:path w="2880359" h="719455">
                  <a:moveTo>
                    <a:pt x="0" y="119887"/>
                  </a:moveTo>
                  <a:lnTo>
                    <a:pt x="9420" y="73219"/>
                  </a:lnTo>
                  <a:lnTo>
                    <a:pt x="35112" y="35112"/>
                  </a:lnTo>
                  <a:lnTo>
                    <a:pt x="73219" y="9420"/>
                  </a:lnTo>
                  <a:lnTo>
                    <a:pt x="119888" y="0"/>
                  </a:lnTo>
                  <a:lnTo>
                    <a:pt x="2760472" y="0"/>
                  </a:lnTo>
                  <a:lnTo>
                    <a:pt x="2807140" y="9420"/>
                  </a:lnTo>
                  <a:lnTo>
                    <a:pt x="2845247" y="35112"/>
                  </a:lnTo>
                  <a:lnTo>
                    <a:pt x="2870939" y="73219"/>
                  </a:lnTo>
                  <a:lnTo>
                    <a:pt x="2880360" y="119887"/>
                  </a:lnTo>
                  <a:lnTo>
                    <a:pt x="2880360" y="599440"/>
                  </a:lnTo>
                  <a:lnTo>
                    <a:pt x="2870939" y="646102"/>
                  </a:lnTo>
                  <a:lnTo>
                    <a:pt x="2845247" y="684210"/>
                  </a:lnTo>
                  <a:lnTo>
                    <a:pt x="2807140" y="709905"/>
                  </a:lnTo>
                  <a:lnTo>
                    <a:pt x="2760472" y="719328"/>
                  </a:lnTo>
                  <a:lnTo>
                    <a:pt x="119888" y="719328"/>
                  </a:lnTo>
                  <a:lnTo>
                    <a:pt x="73219" y="709905"/>
                  </a:lnTo>
                  <a:lnTo>
                    <a:pt x="35112" y="684210"/>
                  </a:lnTo>
                  <a:lnTo>
                    <a:pt x="9420" y="646102"/>
                  </a:lnTo>
                  <a:lnTo>
                    <a:pt x="0" y="599440"/>
                  </a:lnTo>
                  <a:lnTo>
                    <a:pt x="0" y="119887"/>
                  </a:lnTo>
                  <a:close/>
                </a:path>
              </a:pathLst>
            </a:custGeom>
            <a:ln w="25908">
              <a:solidFill>
                <a:srgbClr val="2D75B6"/>
              </a:solidFill>
            </a:ln>
          </p:spPr>
          <p:txBody>
            <a:bodyPr wrap="square" lIns="0" tIns="0" rIns="0" bIns="0" rtlCol="0"/>
            <a:lstStyle/>
            <a:p>
              <a:endParaRPr/>
            </a:p>
          </p:txBody>
        </p:sp>
      </p:grpSp>
      <p:sp>
        <p:nvSpPr>
          <p:cNvPr id="32" name="object 30"/>
          <p:cNvSpPr txBox="1"/>
          <p:nvPr/>
        </p:nvSpPr>
        <p:spPr>
          <a:xfrm>
            <a:off x="6435026" y="1927478"/>
            <a:ext cx="1625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2.</a:t>
            </a:r>
            <a:r>
              <a:rPr sz="1800" b="1" spc="-85" dirty="0">
                <a:latin typeface="Calibri"/>
                <a:cs typeface="Calibri"/>
              </a:rPr>
              <a:t> </a:t>
            </a:r>
            <a:r>
              <a:rPr sz="1800" b="1" dirty="0">
                <a:latin typeface="Microsoft YaHei"/>
                <a:cs typeface="Microsoft YaHei"/>
              </a:rPr>
              <a:t>网络结构设计</a:t>
            </a:r>
            <a:endParaRPr sz="1800">
              <a:latin typeface="Microsoft YaHei"/>
              <a:cs typeface="Microsoft YaHei"/>
            </a:endParaRPr>
          </a:p>
        </p:txBody>
      </p:sp>
      <p:grpSp>
        <p:nvGrpSpPr>
          <p:cNvPr id="33" name="object 31"/>
          <p:cNvGrpSpPr/>
          <p:nvPr/>
        </p:nvGrpSpPr>
        <p:grpSpPr>
          <a:xfrm>
            <a:off x="9037319" y="1135381"/>
            <a:ext cx="2906395" cy="745490"/>
            <a:chOff x="9037319" y="1135381"/>
            <a:chExt cx="2906395" cy="745490"/>
          </a:xfrm>
        </p:grpSpPr>
        <p:sp>
          <p:nvSpPr>
            <p:cNvPr id="34" name="object 32"/>
            <p:cNvSpPr/>
            <p:nvPr/>
          </p:nvSpPr>
          <p:spPr>
            <a:xfrm>
              <a:off x="9050273" y="1148335"/>
              <a:ext cx="2880360" cy="719455"/>
            </a:xfrm>
            <a:custGeom>
              <a:avLst/>
              <a:gdLst/>
              <a:ahLst/>
              <a:cxnLst/>
              <a:rect l="l" t="t" r="r" b="b"/>
              <a:pathLst>
                <a:path w="2880359" h="719455">
                  <a:moveTo>
                    <a:pt x="2760472" y="0"/>
                  </a:moveTo>
                  <a:lnTo>
                    <a:pt x="119888" y="0"/>
                  </a:lnTo>
                  <a:lnTo>
                    <a:pt x="73219" y="9420"/>
                  </a:lnTo>
                  <a:lnTo>
                    <a:pt x="35112" y="35112"/>
                  </a:lnTo>
                  <a:lnTo>
                    <a:pt x="9420" y="73219"/>
                  </a:lnTo>
                  <a:lnTo>
                    <a:pt x="0" y="119887"/>
                  </a:lnTo>
                  <a:lnTo>
                    <a:pt x="0" y="599440"/>
                  </a:lnTo>
                  <a:lnTo>
                    <a:pt x="9420" y="646102"/>
                  </a:lnTo>
                  <a:lnTo>
                    <a:pt x="35112" y="684210"/>
                  </a:lnTo>
                  <a:lnTo>
                    <a:pt x="73219" y="709905"/>
                  </a:lnTo>
                  <a:lnTo>
                    <a:pt x="119888" y="719328"/>
                  </a:lnTo>
                  <a:lnTo>
                    <a:pt x="2760472" y="719328"/>
                  </a:lnTo>
                  <a:lnTo>
                    <a:pt x="2807140" y="709905"/>
                  </a:lnTo>
                  <a:lnTo>
                    <a:pt x="2845247" y="684210"/>
                  </a:lnTo>
                  <a:lnTo>
                    <a:pt x="2870939" y="646102"/>
                  </a:lnTo>
                  <a:lnTo>
                    <a:pt x="2880360" y="599440"/>
                  </a:lnTo>
                  <a:lnTo>
                    <a:pt x="2880360" y="119887"/>
                  </a:lnTo>
                  <a:lnTo>
                    <a:pt x="2870939" y="73219"/>
                  </a:lnTo>
                  <a:lnTo>
                    <a:pt x="2845247" y="35112"/>
                  </a:lnTo>
                  <a:lnTo>
                    <a:pt x="2807140" y="9420"/>
                  </a:lnTo>
                  <a:lnTo>
                    <a:pt x="2760472" y="0"/>
                  </a:lnTo>
                  <a:close/>
                </a:path>
              </a:pathLst>
            </a:custGeom>
            <a:solidFill>
              <a:srgbClr val="BCD6ED"/>
            </a:solidFill>
          </p:spPr>
          <p:txBody>
            <a:bodyPr wrap="square" lIns="0" tIns="0" rIns="0" bIns="0" rtlCol="0"/>
            <a:lstStyle/>
            <a:p>
              <a:endParaRPr/>
            </a:p>
          </p:txBody>
        </p:sp>
        <p:sp>
          <p:nvSpPr>
            <p:cNvPr id="35" name="object 33"/>
            <p:cNvSpPr/>
            <p:nvPr/>
          </p:nvSpPr>
          <p:spPr>
            <a:xfrm>
              <a:off x="9050273" y="1148335"/>
              <a:ext cx="2880360" cy="719455"/>
            </a:xfrm>
            <a:custGeom>
              <a:avLst/>
              <a:gdLst/>
              <a:ahLst/>
              <a:cxnLst/>
              <a:rect l="l" t="t" r="r" b="b"/>
              <a:pathLst>
                <a:path w="2880359" h="719455">
                  <a:moveTo>
                    <a:pt x="0" y="119887"/>
                  </a:moveTo>
                  <a:lnTo>
                    <a:pt x="9420" y="73219"/>
                  </a:lnTo>
                  <a:lnTo>
                    <a:pt x="35112" y="35112"/>
                  </a:lnTo>
                  <a:lnTo>
                    <a:pt x="73219" y="9420"/>
                  </a:lnTo>
                  <a:lnTo>
                    <a:pt x="119888" y="0"/>
                  </a:lnTo>
                  <a:lnTo>
                    <a:pt x="2760472" y="0"/>
                  </a:lnTo>
                  <a:lnTo>
                    <a:pt x="2807140" y="9420"/>
                  </a:lnTo>
                  <a:lnTo>
                    <a:pt x="2845247" y="35112"/>
                  </a:lnTo>
                  <a:lnTo>
                    <a:pt x="2870939" y="73219"/>
                  </a:lnTo>
                  <a:lnTo>
                    <a:pt x="2880360" y="119887"/>
                  </a:lnTo>
                  <a:lnTo>
                    <a:pt x="2880360" y="599440"/>
                  </a:lnTo>
                  <a:lnTo>
                    <a:pt x="2870939" y="646102"/>
                  </a:lnTo>
                  <a:lnTo>
                    <a:pt x="2845247" y="684210"/>
                  </a:lnTo>
                  <a:lnTo>
                    <a:pt x="2807140" y="709905"/>
                  </a:lnTo>
                  <a:lnTo>
                    <a:pt x="2760472" y="719328"/>
                  </a:lnTo>
                  <a:lnTo>
                    <a:pt x="119888" y="719328"/>
                  </a:lnTo>
                  <a:lnTo>
                    <a:pt x="73219" y="709905"/>
                  </a:lnTo>
                  <a:lnTo>
                    <a:pt x="35112" y="684210"/>
                  </a:lnTo>
                  <a:lnTo>
                    <a:pt x="9420" y="646102"/>
                  </a:lnTo>
                  <a:lnTo>
                    <a:pt x="0" y="599440"/>
                  </a:lnTo>
                  <a:lnTo>
                    <a:pt x="0" y="119887"/>
                  </a:lnTo>
                  <a:close/>
                </a:path>
              </a:pathLst>
            </a:custGeom>
            <a:ln w="25908">
              <a:solidFill>
                <a:srgbClr val="2D75B6"/>
              </a:solidFill>
            </a:ln>
          </p:spPr>
          <p:txBody>
            <a:bodyPr wrap="square" lIns="0" tIns="0" rIns="0" bIns="0" rtlCol="0"/>
            <a:lstStyle/>
            <a:p>
              <a:endParaRPr/>
            </a:p>
          </p:txBody>
        </p:sp>
      </p:grpSp>
      <p:sp>
        <p:nvSpPr>
          <p:cNvPr id="36" name="object 34"/>
          <p:cNvSpPr txBox="1"/>
          <p:nvPr/>
        </p:nvSpPr>
        <p:spPr>
          <a:xfrm>
            <a:off x="9332531" y="1343278"/>
            <a:ext cx="23114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3.</a:t>
            </a:r>
            <a:r>
              <a:rPr sz="1800" b="1" spc="-85" dirty="0">
                <a:latin typeface="Calibri"/>
                <a:cs typeface="Calibri"/>
              </a:rPr>
              <a:t> </a:t>
            </a:r>
            <a:r>
              <a:rPr sz="1800" b="1" dirty="0">
                <a:latin typeface="Microsoft YaHei"/>
                <a:cs typeface="Microsoft YaHei"/>
              </a:rPr>
              <a:t>如何设计学习任务？</a:t>
            </a:r>
            <a:endParaRPr sz="1800">
              <a:latin typeface="Microsoft YaHei"/>
              <a:cs typeface="Microsoft YaHei"/>
            </a:endParaRPr>
          </a:p>
        </p:txBody>
      </p:sp>
    </p:spTree>
    <p:extLst>
      <p:ext uri="{BB962C8B-B14F-4D97-AF65-F5344CB8AC3E}">
        <p14:creationId xmlns:p14="http://schemas.microsoft.com/office/powerpoint/2010/main" val="21507488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4961" y="200075"/>
            <a:ext cx="7776488" cy="584775"/>
          </a:xfrm>
          <a:prstGeom prst="rect">
            <a:avLst/>
          </a:prstGeom>
        </p:spPr>
        <p:txBody>
          <a:bodyPr wrap="none">
            <a:spAutoFit/>
          </a:bodyPr>
          <a:lstStyle/>
          <a:p>
            <a:r>
              <a:rPr lang="zh-CN" altLang="en-US" sz="3200" dirty="0"/>
              <a:t>自然语言和计算机视觉</a:t>
            </a:r>
            <a:r>
              <a:rPr lang="zh-CN" altLang="en-US" sz="3200" dirty="0" smtClean="0"/>
              <a:t>应用</a:t>
            </a:r>
            <a:r>
              <a:rPr lang="en-US" altLang="zh-CN" sz="3200" dirty="0"/>
              <a:t>---</a:t>
            </a:r>
            <a:r>
              <a:rPr lang="zh-CN" altLang="en-US" sz="3200" dirty="0"/>
              <a:t>词向量生成</a:t>
            </a:r>
          </a:p>
        </p:txBody>
      </p:sp>
      <p:pic>
        <p:nvPicPr>
          <p:cNvPr id="4" name="图片 3">
            <a:extLst>
              <a:ext uri="{FF2B5EF4-FFF2-40B4-BE49-F238E27FC236}">
                <a16:creationId xmlns:a16="http://schemas.microsoft.com/office/drawing/2014/main" id="{E6B0A54F-2D01-4D19-95FD-33046CF3C04E}"/>
              </a:ext>
            </a:extLst>
          </p:cNvPr>
          <p:cNvPicPr>
            <a:picLocks noChangeAspect="1"/>
          </p:cNvPicPr>
          <p:nvPr/>
        </p:nvPicPr>
        <p:blipFill>
          <a:blip r:embed="rId2"/>
          <a:stretch>
            <a:fillRect/>
          </a:stretch>
        </p:blipFill>
        <p:spPr>
          <a:xfrm>
            <a:off x="6024880" y="1336805"/>
            <a:ext cx="4175759" cy="4753560"/>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5496915-B4D4-4889-9D78-95DC7BC41061}"/>
                  </a:ext>
                </a:extLst>
              </p:cNvPr>
              <p:cNvSpPr/>
              <p:nvPr/>
            </p:nvSpPr>
            <p:spPr>
              <a:xfrm>
                <a:off x="562759" y="1980382"/>
                <a:ext cx="4664561" cy="3046988"/>
              </a:xfrm>
              <a:prstGeom prst="rect">
                <a:avLst/>
              </a:prstGeom>
            </p:spPr>
            <p:txBody>
              <a:bodyPr wrap="square">
                <a:spAutoFit/>
              </a:bodyPr>
              <a:lstStyle/>
              <a:p>
                <a:pPr marL="457200" indent="-457200">
                  <a:buFont typeface="Wingdings" panose="05000000000000000000" pitchFamily="2" charset="2"/>
                  <a:buChar char="l"/>
                </a:pP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在</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词袋</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模型：一</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个单词按照词典序被表示为一个词典维数大小的向量（称为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one-hot vector</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），向量中该单词所对应位置按照其在文档中出现与否取值为</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表示该单词在文档中出现，</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表示没有</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出现，导致单词间关联丢失</a:t>
                </a:r>
                <a:endPar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Bef>
                    <a:spcPts val="1200"/>
                  </a:spcBef>
                  <a:buFont typeface="Wingdings" panose="05000000000000000000" pitchFamily="2" charset="2"/>
                  <a:buChar char="l"/>
                </a:pP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词向量（</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Word2Vec</a:t>
                </a:r>
                <a:r>
                  <a:rPr lang="zh-CN"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）模型</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为了刻画不同单词之间的语义</a:t>
                </a:r>
                <a:r>
                  <a:rPr lang="zh-CN"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相关性</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利用</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深度学习模型</a:t>
                </a:r>
                <a:r>
                  <a:rPr lang="zh-CN"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，将</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每个单词表征为</a:t>
                </a:r>
                <a14:m>
                  <m:oMath xmlns:m="http://schemas.openxmlformats.org/officeDocument/2006/math">
                    <m:r>
                      <a:rPr lang="en-US" altLang="zh-CN" sz="140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维实数值的分布式</a:t>
                </a:r>
                <a:r>
                  <a:rPr lang="zh-CN"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向量</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F5496915-B4D4-4889-9D78-95DC7BC41061}"/>
                  </a:ext>
                </a:extLst>
              </p:cNvPr>
              <p:cNvSpPr>
                <a:spLocks noRot="1" noChangeAspect="1" noMove="1" noResize="1" noEditPoints="1" noAdjustHandles="1" noChangeArrowheads="1" noChangeShapeType="1" noTextEdit="1"/>
              </p:cNvSpPr>
              <p:nvPr/>
            </p:nvSpPr>
            <p:spPr>
              <a:xfrm>
                <a:off x="562759" y="1980382"/>
                <a:ext cx="4664561" cy="3046988"/>
              </a:xfrm>
              <a:prstGeom prst="rect">
                <a:avLst/>
              </a:prstGeom>
              <a:blipFill>
                <a:blip r:embed="rId3"/>
                <a:stretch>
                  <a:fillRect l="-131" r="-2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514608" y="911308"/>
                <a:ext cx="9082271" cy="461665"/>
              </a:xfrm>
              <a:prstGeom prst="rect">
                <a:avLst/>
              </a:prstGeom>
            </p:spPr>
            <p:txBody>
              <a:bodyPr wrap="square">
                <a:spAutoFit/>
              </a:bodyPr>
              <a:lstStyle/>
              <a:p>
                <a:r>
                  <a:rPr lang="zh-CN" altLang="zh-CN" sz="2400" b="1" dirty="0" smtClean="0">
                    <a:solidFill>
                      <a:srgbClr val="FF0000"/>
                    </a:solidFill>
                    <a:latin typeface="Times New Roman" panose="02020603050405020304" pitchFamily="18" charset="0"/>
                    <a:ea typeface="楷体_GB2312"/>
                    <a:cs typeface="Times New Roman" panose="02020603050405020304" pitchFamily="18" charset="0"/>
                  </a:rPr>
                  <a:t>词典</a:t>
                </a:r>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中有</a:t>
                </a:r>
                <a14:m>
                  <m:oMath xmlns:m="http://schemas.openxmlformats.org/officeDocument/2006/math">
                    <m:r>
                      <a:rPr lang="en-US" altLang="zh-CN" sz="2400" b="1" i="1">
                        <a:solidFill>
                          <a:srgbClr val="FF0000"/>
                        </a:solidFill>
                        <a:latin typeface="Cambria Math" panose="02040503050406030204" pitchFamily="18" charset="0"/>
                        <a:ea typeface="楷体_GB2312"/>
                        <a:cs typeface="Times New Roman" panose="02020603050405020304" pitchFamily="18" charset="0"/>
                      </a:rPr>
                      <m:t>𝑽</m:t>
                    </m:r>
                  </m:oMath>
                </a14:m>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个不同的单词</a:t>
                </a:r>
                <a:r>
                  <a:rPr lang="zh-CN" altLang="zh-CN" sz="2400" b="1" dirty="0" smtClean="0">
                    <a:solidFill>
                      <a:srgbClr val="FF0000"/>
                    </a:solidFill>
                    <a:latin typeface="Times New Roman" panose="02020603050405020304" pitchFamily="18" charset="0"/>
                    <a:ea typeface="楷体_GB2312"/>
                    <a:cs typeface="Times New Roman" panose="02020603050405020304" pitchFamily="18" charset="0"/>
                  </a:rPr>
                  <a:t>，如何</a:t>
                </a:r>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生成第</a:t>
                </a:r>
                <a14:m>
                  <m:oMath xmlns:m="http://schemas.openxmlformats.org/officeDocument/2006/math">
                    <m:r>
                      <a:rPr lang="en-US" altLang="zh-CN" sz="2400" b="1" i="1">
                        <a:solidFill>
                          <a:srgbClr val="FF0000"/>
                        </a:solidFill>
                        <a:latin typeface="Cambria Math" panose="02040503050406030204" pitchFamily="18" charset="0"/>
                        <a:ea typeface="楷体_GB2312"/>
                        <a:cs typeface="Times New Roman" panose="02020603050405020304" pitchFamily="18" charset="0"/>
                      </a:rPr>
                      <m:t>𝒌</m:t>
                    </m:r>
                  </m:oMath>
                </a14:m>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个单词的</a:t>
                </a:r>
                <a14:m>
                  <m:oMath xmlns:m="http://schemas.openxmlformats.org/officeDocument/2006/math">
                    <m:r>
                      <a:rPr lang="en-US" altLang="zh-CN" sz="2400" b="1" i="1">
                        <a:solidFill>
                          <a:srgbClr val="FF0000"/>
                        </a:solidFill>
                        <a:latin typeface="Cambria Math" panose="02040503050406030204" pitchFamily="18" charset="0"/>
                        <a:ea typeface="楷体_GB2312"/>
                        <a:cs typeface="Times New Roman" panose="02020603050405020304" pitchFamily="18" charset="0"/>
                      </a:rPr>
                      <m:t>𝑵</m:t>
                    </m:r>
                  </m:oMath>
                </a14:m>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维词</a:t>
                </a:r>
                <a:r>
                  <a:rPr lang="zh-CN" altLang="zh-CN" sz="2400" b="1" dirty="0" smtClean="0">
                    <a:solidFill>
                      <a:srgbClr val="FF0000"/>
                    </a:solidFill>
                    <a:latin typeface="Times New Roman" panose="02020603050405020304" pitchFamily="18" charset="0"/>
                    <a:ea typeface="楷体_GB2312"/>
                    <a:cs typeface="Times New Roman" panose="02020603050405020304" pitchFamily="18" charset="0"/>
                  </a:rPr>
                  <a:t>向量</a:t>
                </a:r>
                <a:r>
                  <a:rPr lang="zh-CN" altLang="en-US" sz="2400" b="1" dirty="0" smtClean="0">
                    <a:solidFill>
                      <a:srgbClr val="FF0000"/>
                    </a:solidFill>
                    <a:latin typeface="Times New Roman" panose="02020603050405020304" pitchFamily="18" charset="0"/>
                    <a:ea typeface="楷体_GB2312"/>
                    <a:cs typeface="Times New Roman" panose="02020603050405020304" pitchFamily="18" charset="0"/>
                  </a:rPr>
                  <a:t>？</a:t>
                </a:r>
                <a:endParaRPr lang="zh-CN" altLang="en-US" sz="2400" b="1" dirty="0">
                  <a:solidFill>
                    <a:srgbClr val="FF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1514608" y="911308"/>
                <a:ext cx="9082271" cy="461665"/>
              </a:xfrm>
              <a:prstGeom prst="rect">
                <a:avLst/>
              </a:prstGeom>
              <a:blipFill>
                <a:blip r:embed="rId4"/>
                <a:stretch>
                  <a:fillRect l="-1007" t="-15789" b="-236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5190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686CD3E-C83E-4387-8964-4BAA8A42291F}"/>
              </a:ext>
            </a:extLst>
          </p:cNvPr>
          <p:cNvPicPr>
            <a:picLocks noChangeAspect="1"/>
          </p:cNvPicPr>
          <p:nvPr/>
        </p:nvPicPr>
        <p:blipFill>
          <a:blip r:embed="rId2"/>
          <a:stretch>
            <a:fillRect/>
          </a:stretch>
        </p:blipFill>
        <p:spPr>
          <a:xfrm>
            <a:off x="6046739" y="1857214"/>
            <a:ext cx="5601701" cy="3471706"/>
          </a:xfrm>
          <a:prstGeom prst="rect">
            <a:avLst/>
          </a:prstGeom>
        </p:spPr>
      </p:pic>
      <p:sp>
        <p:nvSpPr>
          <p:cNvPr id="4" name="矩形 3"/>
          <p:cNvSpPr/>
          <p:nvPr/>
        </p:nvSpPr>
        <p:spPr>
          <a:xfrm>
            <a:off x="204961" y="200075"/>
            <a:ext cx="7776488" cy="584775"/>
          </a:xfrm>
          <a:prstGeom prst="rect">
            <a:avLst/>
          </a:prstGeom>
        </p:spPr>
        <p:txBody>
          <a:bodyPr wrap="none">
            <a:spAutoFit/>
          </a:bodyPr>
          <a:lstStyle/>
          <a:p>
            <a:r>
              <a:rPr lang="zh-CN" altLang="en-US" sz="3200" dirty="0"/>
              <a:t>自然语言和计算机视觉</a:t>
            </a:r>
            <a:r>
              <a:rPr lang="zh-CN" altLang="en-US" sz="3200" dirty="0" smtClean="0"/>
              <a:t>应用</a:t>
            </a:r>
            <a:r>
              <a:rPr lang="en-US" altLang="zh-CN" sz="3200" dirty="0" smtClean="0"/>
              <a:t>---</a:t>
            </a:r>
            <a:r>
              <a:rPr lang="zh-CN" altLang="en-US" sz="3200" dirty="0" smtClean="0"/>
              <a:t>词向量生成</a:t>
            </a:r>
            <a:endParaRPr lang="zh-CN" altLang="en-US" sz="3200" dirty="0"/>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D0A89A2-1783-41E0-9BA2-B2BF42B7E4B3}"/>
                  </a:ext>
                </a:extLst>
              </p:cNvPr>
              <p:cNvSpPr/>
              <p:nvPr/>
            </p:nvSpPr>
            <p:spPr>
              <a:xfrm>
                <a:off x="298877" y="1784079"/>
                <a:ext cx="5395803" cy="3477875"/>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en-US" sz="1400" dirty="0" smtClean="0">
                    <a:latin typeface="微软雅黑" panose="020B0503020204020204" pitchFamily="34" charset="-122"/>
                    <a:ea typeface="微软雅黑" panose="020B0503020204020204" pitchFamily="34" charset="-122"/>
                    <a:cs typeface="Times New Roman" panose="02020603050405020304" pitchFamily="18" charset="0"/>
                  </a:rPr>
                  <a:t>采用词</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袋</a:t>
                </a:r>
                <a:r>
                  <a:rPr lang="zh-CN" altLang="en-US" sz="1400" dirty="0" smtClean="0">
                    <a:latin typeface="微软雅黑" panose="020B0503020204020204" pitchFamily="34" charset="-122"/>
                    <a:ea typeface="微软雅黑" panose="020B0503020204020204" pitchFamily="34" charset="-122"/>
                    <a:cs typeface="Times New Roman" panose="02020603050405020304" pitchFamily="18" charset="0"/>
                  </a:rPr>
                  <a:t>模型法将</a:t>
                </a:r>
                <a:r>
                  <a:rPr lang="zh-CN" altLang="zh-CN" sz="1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将</a:t>
                </a:r>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该单词表示成</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𝑉</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维</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one-hot </a:t>
                </a:r>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向量</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𝑿</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，向量</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𝑿</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中第</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𝑘</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个位置取值为</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、其余位置取值均为</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1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。隐藏</a:t>
                </a:r>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层神经元大小为</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𝑁</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，每个神经元记为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h</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𝑁</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。向量</a:t>
                </a:r>
                <a14:m>
                  <m:oMath xmlns:m="http://schemas.openxmlformats.org/officeDocument/2006/math">
                    <m:r>
                      <a:rPr lang="en-US" altLang="zh-CN" sz="1400" b="1" i="1">
                        <a:solidFill>
                          <a:srgbClr val="000000"/>
                        </a:solidFill>
                        <a:latin typeface="Cambria Math" panose="02040503050406030204" pitchFamily="18" charset="0"/>
                        <a:ea typeface="楷体_GB2312"/>
                        <a:cs typeface="Times New Roman" panose="02020603050405020304" pitchFamily="18" charset="0"/>
                      </a:rPr>
                      <m:t>𝑿</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中每个</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(1≤</m:t>
                    </m:r>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𝑉</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与隐藏层神经元是全连接，连接权重矩阵为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𝑉</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𝑁</m:t>
                        </m:r>
                      </m:sub>
                    </m:sSub>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。所得到的隐藏层结果与输出层是全连接，全连接权重矩阵为</a:t>
                </a:r>
                <a14:m>
                  <m:oMath xmlns:m="http://schemas.openxmlformats.org/officeDocument/2006/math">
                    <m:sSubSup>
                      <m:sSub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𝑁</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𝑉</m:t>
                        </m:r>
                      </m:sub>
                      <m:sup>
                        <m:r>
                          <a:rPr lang="en-US" altLang="zh-CN" sz="1400" i="1">
                            <a:solidFill>
                              <a:srgbClr val="000000"/>
                            </a:solidFill>
                            <a:latin typeface="Cambria Math" panose="02040503050406030204" pitchFamily="18" charset="0"/>
                            <a:ea typeface="楷体_GB2312"/>
                            <a:cs typeface="Times New Roman" panose="02020603050405020304" pitchFamily="18" charset="0"/>
                          </a:rPr>
                          <m:t>′</m:t>
                        </m:r>
                      </m:sup>
                    </m:sSubSup>
                  </m:oMath>
                </a14:m>
                <a:r>
                  <a:rPr lang="zh-CN" altLang="en-US" sz="1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输出层是</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𝑉</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维归一化的概率值，其中</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𝑘</m:t>
                        </m:r>
                      </m:sub>
                    </m:sSub>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对应第</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𝑘</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个单词归一化的概率</a:t>
                </a:r>
                <a:r>
                  <a:rPr lang="zh-CN" altLang="zh-CN" sz="1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值</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spcBef>
                    <a:spcPts val="1200"/>
                  </a:spcBef>
                  <a:spcAft>
                    <a:spcPts val="0"/>
                  </a:spcAft>
                  <a:buFont typeface="Wingdings" panose="05000000000000000000" pitchFamily="2" charset="2"/>
                  <a:buChar char="l"/>
                </a:pPr>
                <a:r>
                  <a:rPr lang="zh-CN" altLang="zh-CN" sz="1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这里</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𝑉</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𝑁</m:t>
                        </m:r>
                      </m:sub>
                    </m:sSub>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Sup>
                      <m:sSub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𝑊</m:t>
                        </m:r>
                      </m:e>
                      <m:sub>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𝑁</m:t>
                        </m:r>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𝑉</m:t>
                        </m:r>
                      </m:sub>
                      <m:sup>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为模型参数。一旦训练得到了图</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5.24</a:t>
                </a:r>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的神经网络，就可以将输入层中</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𝑘</m:t>
                        </m:r>
                      </m:sub>
                    </m:sSub>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与隐藏层连接权重为</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𝑘</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𝑘</m:t>
                        </m:r>
                        <m:r>
                          <a:rPr lang="en-US" altLang="zh-CN" sz="14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𝑘𝑁</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作为第</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𝑘</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个单词</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𝑁</m:t>
                    </m:r>
                  </m:oMath>
                </a14:m>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维词向量</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(word vector)</a:t>
                </a:r>
                <a:r>
                  <a:rPr lang="zh-CN"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p:txBody>
          </p:sp>
        </mc:Choice>
        <mc:Fallback xmlns="">
          <p:sp>
            <p:nvSpPr>
              <p:cNvPr id="5" name="矩形 4">
                <a:extLst>
                  <a:ext uri="{FF2B5EF4-FFF2-40B4-BE49-F238E27FC236}">
                    <a16:creationId xmlns:a16="http://schemas.microsoft.com/office/drawing/2014/main" id="{AD0A89A2-1783-41E0-9BA2-B2BF42B7E4B3}"/>
                  </a:ext>
                </a:extLst>
              </p:cNvPr>
              <p:cNvSpPr>
                <a:spLocks noRot="1" noChangeAspect="1" noMove="1" noResize="1" noEditPoints="1" noAdjustHandles="1" noChangeArrowheads="1" noChangeShapeType="1" noTextEdit="1"/>
              </p:cNvSpPr>
              <p:nvPr/>
            </p:nvSpPr>
            <p:spPr>
              <a:xfrm>
                <a:off x="298877" y="1784079"/>
                <a:ext cx="5395803" cy="3477875"/>
              </a:xfrm>
              <a:prstGeom prst="rect">
                <a:avLst/>
              </a:prstGeom>
              <a:blipFill>
                <a:blip r:embed="rId3"/>
                <a:stretch>
                  <a:fillRect l="-113" r="-3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514608" y="911308"/>
                <a:ext cx="9082271" cy="461665"/>
              </a:xfrm>
              <a:prstGeom prst="rect">
                <a:avLst/>
              </a:prstGeom>
            </p:spPr>
            <p:txBody>
              <a:bodyPr wrap="square">
                <a:spAutoFit/>
              </a:bodyPr>
              <a:lstStyle/>
              <a:p>
                <a:r>
                  <a:rPr lang="zh-CN" altLang="zh-CN" sz="2400" b="1" dirty="0" smtClean="0">
                    <a:solidFill>
                      <a:srgbClr val="FF0000"/>
                    </a:solidFill>
                    <a:latin typeface="Times New Roman" panose="02020603050405020304" pitchFamily="18" charset="0"/>
                    <a:ea typeface="楷体_GB2312"/>
                    <a:cs typeface="Times New Roman" panose="02020603050405020304" pitchFamily="18" charset="0"/>
                  </a:rPr>
                  <a:t>词典</a:t>
                </a:r>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中有</a:t>
                </a:r>
                <a14:m>
                  <m:oMath xmlns:m="http://schemas.openxmlformats.org/officeDocument/2006/math">
                    <m:r>
                      <a:rPr lang="en-US" altLang="zh-CN" sz="2400" b="1" i="1">
                        <a:solidFill>
                          <a:srgbClr val="FF0000"/>
                        </a:solidFill>
                        <a:latin typeface="Cambria Math" panose="02040503050406030204" pitchFamily="18" charset="0"/>
                        <a:ea typeface="楷体_GB2312"/>
                        <a:cs typeface="Times New Roman" panose="02020603050405020304" pitchFamily="18" charset="0"/>
                      </a:rPr>
                      <m:t>𝑽</m:t>
                    </m:r>
                  </m:oMath>
                </a14:m>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个不同的单词</a:t>
                </a:r>
                <a:r>
                  <a:rPr lang="zh-CN" altLang="zh-CN" sz="2400" b="1" dirty="0" smtClean="0">
                    <a:solidFill>
                      <a:srgbClr val="FF0000"/>
                    </a:solidFill>
                    <a:latin typeface="Times New Roman" panose="02020603050405020304" pitchFamily="18" charset="0"/>
                    <a:ea typeface="楷体_GB2312"/>
                    <a:cs typeface="Times New Roman" panose="02020603050405020304" pitchFamily="18" charset="0"/>
                  </a:rPr>
                  <a:t>，如何</a:t>
                </a:r>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生成第</a:t>
                </a:r>
                <a14:m>
                  <m:oMath xmlns:m="http://schemas.openxmlformats.org/officeDocument/2006/math">
                    <m:r>
                      <a:rPr lang="en-US" altLang="zh-CN" sz="2400" b="1" i="1">
                        <a:solidFill>
                          <a:srgbClr val="FF0000"/>
                        </a:solidFill>
                        <a:latin typeface="Cambria Math" panose="02040503050406030204" pitchFamily="18" charset="0"/>
                        <a:ea typeface="楷体_GB2312"/>
                        <a:cs typeface="Times New Roman" panose="02020603050405020304" pitchFamily="18" charset="0"/>
                      </a:rPr>
                      <m:t>𝒌</m:t>
                    </m:r>
                  </m:oMath>
                </a14:m>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个单词的</a:t>
                </a:r>
                <a14:m>
                  <m:oMath xmlns:m="http://schemas.openxmlformats.org/officeDocument/2006/math">
                    <m:r>
                      <a:rPr lang="en-US" altLang="zh-CN" sz="2400" b="1" i="1">
                        <a:solidFill>
                          <a:srgbClr val="FF0000"/>
                        </a:solidFill>
                        <a:latin typeface="Cambria Math" panose="02040503050406030204" pitchFamily="18" charset="0"/>
                        <a:ea typeface="楷体_GB2312"/>
                        <a:cs typeface="Times New Roman" panose="02020603050405020304" pitchFamily="18" charset="0"/>
                      </a:rPr>
                      <m:t>𝑵</m:t>
                    </m:r>
                  </m:oMath>
                </a14:m>
                <a:r>
                  <a:rPr lang="zh-CN" altLang="zh-CN" sz="2400" b="1" dirty="0">
                    <a:solidFill>
                      <a:srgbClr val="FF0000"/>
                    </a:solidFill>
                    <a:latin typeface="Times New Roman" panose="02020603050405020304" pitchFamily="18" charset="0"/>
                    <a:ea typeface="楷体_GB2312"/>
                    <a:cs typeface="Times New Roman" panose="02020603050405020304" pitchFamily="18" charset="0"/>
                  </a:rPr>
                  <a:t>维词</a:t>
                </a:r>
                <a:r>
                  <a:rPr lang="zh-CN" altLang="zh-CN" sz="2400" b="1" dirty="0" smtClean="0">
                    <a:solidFill>
                      <a:srgbClr val="FF0000"/>
                    </a:solidFill>
                    <a:latin typeface="Times New Roman" panose="02020603050405020304" pitchFamily="18" charset="0"/>
                    <a:ea typeface="楷体_GB2312"/>
                    <a:cs typeface="Times New Roman" panose="02020603050405020304" pitchFamily="18" charset="0"/>
                  </a:rPr>
                  <a:t>向量</a:t>
                </a:r>
                <a:r>
                  <a:rPr lang="zh-CN" altLang="en-US" sz="2400" b="1" dirty="0" smtClean="0">
                    <a:solidFill>
                      <a:srgbClr val="FF0000"/>
                    </a:solidFill>
                    <a:latin typeface="Times New Roman" panose="02020603050405020304" pitchFamily="18" charset="0"/>
                    <a:ea typeface="楷体_GB2312"/>
                    <a:cs typeface="Times New Roman" panose="02020603050405020304" pitchFamily="18" charset="0"/>
                  </a:rPr>
                  <a:t>？</a:t>
                </a:r>
                <a:endParaRPr lang="zh-CN" altLang="en-US" sz="2400" b="1" dirty="0">
                  <a:solidFill>
                    <a:srgbClr val="FF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1514608" y="911308"/>
                <a:ext cx="9082271" cy="461665"/>
              </a:xfrm>
              <a:prstGeom prst="rect">
                <a:avLst/>
              </a:prstGeom>
              <a:blipFill>
                <a:blip r:embed="rId4"/>
                <a:stretch>
                  <a:fillRect l="-1007" t="-15789" b="-236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07849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780779" y="2735251"/>
            <a:ext cx="6642100" cy="3733800"/>
            <a:chOff x="2780779" y="1993571"/>
            <a:chExt cx="6642100" cy="3733800"/>
          </a:xfrm>
        </p:grpSpPr>
        <p:pic>
          <p:nvPicPr>
            <p:cNvPr id="4" name="object 4"/>
            <p:cNvPicPr/>
            <p:nvPr/>
          </p:nvPicPr>
          <p:blipFill>
            <a:blip r:embed="rId2" cstate="print"/>
            <a:stretch>
              <a:fillRect/>
            </a:stretch>
          </p:blipFill>
          <p:spPr>
            <a:xfrm>
              <a:off x="5106173" y="1993571"/>
              <a:ext cx="4316225" cy="3733620"/>
            </a:xfrm>
            <a:prstGeom prst="rect">
              <a:avLst/>
            </a:prstGeom>
          </p:spPr>
        </p:pic>
        <p:sp>
          <p:nvSpPr>
            <p:cNvPr id="5" name="object 5"/>
            <p:cNvSpPr/>
            <p:nvPr/>
          </p:nvSpPr>
          <p:spPr>
            <a:xfrm>
              <a:off x="2856979" y="2452382"/>
              <a:ext cx="3009900" cy="730250"/>
            </a:xfrm>
            <a:custGeom>
              <a:avLst/>
              <a:gdLst/>
              <a:ahLst/>
              <a:cxnLst/>
              <a:rect l="l" t="t" r="r" b="b"/>
              <a:pathLst>
                <a:path w="3009900" h="730250">
                  <a:moveTo>
                    <a:pt x="3009785" y="692150"/>
                  </a:moveTo>
                  <a:lnTo>
                    <a:pt x="2999638" y="687070"/>
                  </a:lnTo>
                  <a:lnTo>
                    <a:pt x="2933687" y="654050"/>
                  </a:lnTo>
                  <a:lnTo>
                    <a:pt x="2933585" y="687070"/>
                  </a:lnTo>
                  <a:lnTo>
                    <a:pt x="2868942" y="687070"/>
                  </a:lnTo>
                  <a:lnTo>
                    <a:pt x="2798838" y="685800"/>
                  </a:lnTo>
                  <a:lnTo>
                    <a:pt x="2729166" y="684530"/>
                  </a:lnTo>
                  <a:lnTo>
                    <a:pt x="2660040" y="683260"/>
                  </a:lnTo>
                  <a:lnTo>
                    <a:pt x="2591612" y="681990"/>
                  </a:lnTo>
                  <a:lnTo>
                    <a:pt x="2524010" y="679450"/>
                  </a:lnTo>
                  <a:lnTo>
                    <a:pt x="2457373" y="676910"/>
                  </a:lnTo>
                  <a:lnTo>
                    <a:pt x="2391829" y="674370"/>
                  </a:lnTo>
                  <a:lnTo>
                    <a:pt x="2327529" y="671830"/>
                  </a:lnTo>
                  <a:lnTo>
                    <a:pt x="2264613" y="669290"/>
                  </a:lnTo>
                  <a:lnTo>
                    <a:pt x="2203208" y="665480"/>
                  </a:lnTo>
                  <a:lnTo>
                    <a:pt x="2143468" y="662940"/>
                  </a:lnTo>
                  <a:lnTo>
                    <a:pt x="2085505" y="659130"/>
                  </a:lnTo>
                  <a:lnTo>
                    <a:pt x="2029485" y="655320"/>
                  </a:lnTo>
                  <a:lnTo>
                    <a:pt x="1975523" y="651510"/>
                  </a:lnTo>
                  <a:lnTo>
                    <a:pt x="1923770" y="647700"/>
                  </a:lnTo>
                  <a:lnTo>
                    <a:pt x="1874367" y="642620"/>
                  </a:lnTo>
                  <a:lnTo>
                    <a:pt x="1827441" y="638810"/>
                  </a:lnTo>
                  <a:lnTo>
                    <a:pt x="1783143" y="633730"/>
                  </a:lnTo>
                  <a:lnTo>
                    <a:pt x="1741601" y="628650"/>
                  </a:lnTo>
                  <a:lnTo>
                    <a:pt x="1702968" y="624840"/>
                  </a:lnTo>
                  <a:lnTo>
                    <a:pt x="1650771" y="617220"/>
                  </a:lnTo>
                  <a:lnTo>
                    <a:pt x="1605889" y="609600"/>
                  </a:lnTo>
                  <a:lnTo>
                    <a:pt x="1592630" y="607060"/>
                  </a:lnTo>
                  <a:lnTo>
                    <a:pt x="1580273" y="604520"/>
                  </a:lnTo>
                  <a:lnTo>
                    <a:pt x="1568818" y="601980"/>
                  </a:lnTo>
                  <a:lnTo>
                    <a:pt x="1558277" y="599440"/>
                  </a:lnTo>
                  <a:lnTo>
                    <a:pt x="1548701" y="596900"/>
                  </a:lnTo>
                  <a:lnTo>
                    <a:pt x="1548828" y="596900"/>
                  </a:lnTo>
                  <a:lnTo>
                    <a:pt x="1542986" y="594360"/>
                  </a:lnTo>
                  <a:lnTo>
                    <a:pt x="1540078" y="593090"/>
                  </a:lnTo>
                  <a:lnTo>
                    <a:pt x="1540243" y="594360"/>
                  </a:lnTo>
                  <a:lnTo>
                    <a:pt x="1532458" y="590550"/>
                  </a:lnTo>
                  <a:lnTo>
                    <a:pt x="1532661" y="590550"/>
                  </a:lnTo>
                  <a:lnTo>
                    <a:pt x="1525854" y="588010"/>
                  </a:lnTo>
                  <a:lnTo>
                    <a:pt x="1526120" y="588010"/>
                  </a:lnTo>
                  <a:lnTo>
                    <a:pt x="1520317" y="585470"/>
                  </a:lnTo>
                  <a:lnTo>
                    <a:pt x="1520647" y="585470"/>
                  </a:lnTo>
                  <a:lnTo>
                    <a:pt x="1518246" y="584200"/>
                  </a:lnTo>
                  <a:lnTo>
                    <a:pt x="1515859" y="582930"/>
                  </a:lnTo>
                  <a:lnTo>
                    <a:pt x="1516303" y="584200"/>
                  </a:lnTo>
                  <a:lnTo>
                    <a:pt x="1513801" y="581660"/>
                  </a:lnTo>
                  <a:lnTo>
                    <a:pt x="1512557" y="580390"/>
                  </a:lnTo>
                  <a:lnTo>
                    <a:pt x="1512989" y="581660"/>
                  </a:lnTo>
                  <a:lnTo>
                    <a:pt x="1511503" y="580390"/>
                  </a:lnTo>
                  <a:lnTo>
                    <a:pt x="1511833" y="580390"/>
                  </a:lnTo>
                  <a:lnTo>
                    <a:pt x="1510614" y="579120"/>
                  </a:lnTo>
                  <a:lnTo>
                    <a:pt x="1510969" y="579120"/>
                  </a:lnTo>
                  <a:lnTo>
                    <a:pt x="1510017" y="577850"/>
                  </a:lnTo>
                  <a:lnTo>
                    <a:pt x="1510372" y="579120"/>
                  </a:lnTo>
                  <a:lnTo>
                    <a:pt x="1509699" y="577850"/>
                  </a:lnTo>
                  <a:lnTo>
                    <a:pt x="1509610" y="576821"/>
                  </a:lnTo>
                  <a:lnTo>
                    <a:pt x="1509776" y="577850"/>
                  </a:lnTo>
                  <a:lnTo>
                    <a:pt x="1510004" y="577850"/>
                  </a:lnTo>
                  <a:lnTo>
                    <a:pt x="1509661" y="576821"/>
                  </a:lnTo>
                  <a:lnTo>
                    <a:pt x="1509636" y="576580"/>
                  </a:lnTo>
                  <a:lnTo>
                    <a:pt x="1509496" y="575310"/>
                  </a:lnTo>
                  <a:lnTo>
                    <a:pt x="1509318" y="574040"/>
                  </a:lnTo>
                  <a:lnTo>
                    <a:pt x="1508899" y="572770"/>
                  </a:lnTo>
                  <a:lnTo>
                    <a:pt x="1508594" y="571500"/>
                  </a:lnTo>
                  <a:lnTo>
                    <a:pt x="1507921" y="570230"/>
                  </a:lnTo>
                  <a:lnTo>
                    <a:pt x="1507566" y="570230"/>
                  </a:lnTo>
                  <a:lnTo>
                    <a:pt x="1506613" y="568960"/>
                  </a:lnTo>
                  <a:lnTo>
                    <a:pt x="1506245" y="567690"/>
                  </a:lnTo>
                  <a:lnTo>
                    <a:pt x="1505038" y="566420"/>
                  </a:lnTo>
                  <a:lnTo>
                    <a:pt x="1504708" y="566420"/>
                  </a:lnTo>
                  <a:lnTo>
                    <a:pt x="1503222" y="565150"/>
                  </a:lnTo>
                  <a:lnTo>
                    <a:pt x="1502791" y="565150"/>
                  </a:lnTo>
                  <a:lnTo>
                    <a:pt x="1499044" y="562610"/>
                  </a:lnTo>
                  <a:lnTo>
                    <a:pt x="1498600" y="561340"/>
                  </a:lnTo>
                  <a:lnTo>
                    <a:pt x="1493812" y="558800"/>
                  </a:lnTo>
                  <a:lnTo>
                    <a:pt x="1487678" y="556260"/>
                  </a:lnTo>
                  <a:lnTo>
                    <a:pt x="1480616" y="553720"/>
                  </a:lnTo>
                  <a:lnTo>
                    <a:pt x="1472641" y="551180"/>
                  </a:lnTo>
                  <a:lnTo>
                    <a:pt x="1463738" y="547370"/>
                  </a:lnTo>
                  <a:lnTo>
                    <a:pt x="1419034" y="537210"/>
                  </a:lnTo>
                  <a:lnTo>
                    <a:pt x="1360474" y="527050"/>
                  </a:lnTo>
                  <a:lnTo>
                    <a:pt x="1308074" y="519430"/>
                  </a:lnTo>
                  <a:lnTo>
                    <a:pt x="1269263" y="514350"/>
                  </a:lnTo>
                  <a:lnTo>
                    <a:pt x="1227670" y="510540"/>
                  </a:lnTo>
                  <a:lnTo>
                    <a:pt x="1183246" y="505460"/>
                  </a:lnTo>
                  <a:lnTo>
                    <a:pt x="1136256" y="501650"/>
                  </a:lnTo>
                  <a:lnTo>
                    <a:pt x="1086777" y="496570"/>
                  </a:lnTo>
                  <a:lnTo>
                    <a:pt x="807072" y="477520"/>
                  </a:lnTo>
                  <a:lnTo>
                    <a:pt x="745642" y="474980"/>
                  </a:lnTo>
                  <a:lnTo>
                    <a:pt x="682663" y="471170"/>
                  </a:lnTo>
                  <a:lnTo>
                    <a:pt x="552742" y="466090"/>
                  </a:lnTo>
                  <a:lnTo>
                    <a:pt x="486054" y="464820"/>
                  </a:lnTo>
                  <a:lnTo>
                    <a:pt x="418401" y="462280"/>
                  </a:lnTo>
                  <a:lnTo>
                    <a:pt x="140944" y="457200"/>
                  </a:lnTo>
                  <a:lnTo>
                    <a:pt x="12" y="457200"/>
                  </a:lnTo>
                  <a:lnTo>
                    <a:pt x="0" y="466090"/>
                  </a:lnTo>
                  <a:lnTo>
                    <a:pt x="70485" y="466090"/>
                  </a:lnTo>
                  <a:lnTo>
                    <a:pt x="140868" y="467360"/>
                  </a:lnTo>
                  <a:lnTo>
                    <a:pt x="210934" y="467360"/>
                  </a:lnTo>
                  <a:lnTo>
                    <a:pt x="280606" y="468630"/>
                  </a:lnTo>
                  <a:lnTo>
                    <a:pt x="349719" y="469900"/>
                  </a:lnTo>
                  <a:lnTo>
                    <a:pt x="418160" y="471170"/>
                  </a:lnTo>
                  <a:lnTo>
                    <a:pt x="485762" y="473710"/>
                  </a:lnTo>
                  <a:lnTo>
                    <a:pt x="552399" y="476250"/>
                  </a:lnTo>
                  <a:lnTo>
                    <a:pt x="617943" y="478790"/>
                  </a:lnTo>
                  <a:lnTo>
                    <a:pt x="682231" y="481330"/>
                  </a:lnTo>
                  <a:lnTo>
                    <a:pt x="745159" y="483870"/>
                  </a:lnTo>
                  <a:lnTo>
                    <a:pt x="806551" y="487680"/>
                  </a:lnTo>
                  <a:lnTo>
                    <a:pt x="866305" y="490220"/>
                  </a:lnTo>
                  <a:lnTo>
                    <a:pt x="924255" y="494030"/>
                  </a:lnTo>
                  <a:lnTo>
                    <a:pt x="980287" y="497840"/>
                  </a:lnTo>
                  <a:lnTo>
                    <a:pt x="1034237" y="501650"/>
                  </a:lnTo>
                  <a:lnTo>
                    <a:pt x="1085989" y="506730"/>
                  </a:lnTo>
                  <a:lnTo>
                    <a:pt x="1135392" y="510540"/>
                  </a:lnTo>
                  <a:lnTo>
                    <a:pt x="1182306" y="515620"/>
                  </a:lnTo>
                  <a:lnTo>
                    <a:pt x="1226604" y="519430"/>
                  </a:lnTo>
                  <a:lnTo>
                    <a:pt x="1268133" y="524510"/>
                  </a:lnTo>
                  <a:lnTo>
                    <a:pt x="1306766" y="529590"/>
                  </a:lnTo>
                  <a:lnTo>
                    <a:pt x="1342364" y="534670"/>
                  </a:lnTo>
                  <a:lnTo>
                    <a:pt x="1358976" y="535940"/>
                  </a:lnTo>
                  <a:lnTo>
                    <a:pt x="1403845" y="543560"/>
                  </a:lnTo>
                  <a:lnTo>
                    <a:pt x="1429524" y="549910"/>
                  </a:lnTo>
                  <a:lnTo>
                    <a:pt x="1440980" y="552450"/>
                  </a:lnTo>
                  <a:lnTo>
                    <a:pt x="1451508" y="554990"/>
                  </a:lnTo>
                  <a:lnTo>
                    <a:pt x="1461096" y="557530"/>
                  </a:lnTo>
                  <a:lnTo>
                    <a:pt x="1460969" y="557530"/>
                  </a:lnTo>
                  <a:lnTo>
                    <a:pt x="1469707" y="560070"/>
                  </a:lnTo>
                  <a:lnTo>
                    <a:pt x="1469555" y="560070"/>
                  </a:lnTo>
                  <a:lnTo>
                    <a:pt x="1477327" y="562610"/>
                  </a:lnTo>
                  <a:lnTo>
                    <a:pt x="1477137" y="562610"/>
                  </a:lnTo>
                  <a:lnTo>
                    <a:pt x="1483931" y="565150"/>
                  </a:lnTo>
                  <a:lnTo>
                    <a:pt x="1483677" y="565150"/>
                  </a:lnTo>
                  <a:lnTo>
                    <a:pt x="1489481" y="567690"/>
                  </a:lnTo>
                  <a:lnTo>
                    <a:pt x="1489138" y="567690"/>
                  </a:lnTo>
                  <a:lnTo>
                    <a:pt x="1493926" y="570230"/>
                  </a:lnTo>
                  <a:lnTo>
                    <a:pt x="1493481" y="570230"/>
                  </a:lnTo>
                  <a:lnTo>
                    <a:pt x="1497228" y="572770"/>
                  </a:lnTo>
                  <a:lnTo>
                    <a:pt x="1496809" y="572770"/>
                  </a:lnTo>
                  <a:lnTo>
                    <a:pt x="1498295" y="574040"/>
                  </a:lnTo>
                  <a:lnTo>
                    <a:pt x="1497965" y="572770"/>
                  </a:lnTo>
                  <a:lnTo>
                    <a:pt x="1499171" y="574040"/>
                  </a:lnTo>
                  <a:lnTo>
                    <a:pt x="1498815" y="574040"/>
                  </a:lnTo>
                  <a:lnTo>
                    <a:pt x="1499768" y="575310"/>
                  </a:lnTo>
                  <a:lnTo>
                    <a:pt x="1499412" y="575310"/>
                  </a:lnTo>
                  <a:lnTo>
                    <a:pt x="1500098" y="576580"/>
                  </a:lnTo>
                  <a:lnTo>
                    <a:pt x="1499793" y="575310"/>
                  </a:lnTo>
                  <a:lnTo>
                    <a:pt x="1500085" y="576237"/>
                  </a:lnTo>
                  <a:lnTo>
                    <a:pt x="1500098" y="576580"/>
                  </a:lnTo>
                  <a:lnTo>
                    <a:pt x="1500289" y="579120"/>
                  </a:lnTo>
                  <a:lnTo>
                    <a:pt x="1500479" y="579120"/>
                  </a:lnTo>
                  <a:lnTo>
                    <a:pt x="1500886" y="580390"/>
                  </a:lnTo>
                  <a:lnTo>
                    <a:pt x="1501190" y="581660"/>
                  </a:lnTo>
                  <a:lnTo>
                    <a:pt x="1501876" y="582930"/>
                  </a:lnTo>
                  <a:lnTo>
                    <a:pt x="1502232" y="582930"/>
                  </a:lnTo>
                  <a:lnTo>
                    <a:pt x="1503184" y="585470"/>
                  </a:lnTo>
                  <a:lnTo>
                    <a:pt x="1503540" y="585470"/>
                  </a:lnTo>
                  <a:lnTo>
                    <a:pt x="1504759" y="586740"/>
                  </a:lnTo>
                  <a:lnTo>
                    <a:pt x="1505089" y="586740"/>
                  </a:lnTo>
                  <a:lnTo>
                    <a:pt x="1506575" y="588010"/>
                  </a:lnTo>
                  <a:lnTo>
                    <a:pt x="1506994" y="589280"/>
                  </a:lnTo>
                  <a:lnTo>
                    <a:pt x="1510753" y="591820"/>
                  </a:lnTo>
                  <a:lnTo>
                    <a:pt x="1511198" y="591820"/>
                  </a:lnTo>
                  <a:lnTo>
                    <a:pt x="1516316" y="594360"/>
                  </a:lnTo>
                  <a:lnTo>
                    <a:pt x="1522120" y="596900"/>
                  </a:lnTo>
                  <a:lnTo>
                    <a:pt x="1529168" y="599440"/>
                  </a:lnTo>
                  <a:lnTo>
                    <a:pt x="1537157" y="603250"/>
                  </a:lnTo>
                  <a:lnTo>
                    <a:pt x="1546059" y="605790"/>
                  </a:lnTo>
                  <a:lnTo>
                    <a:pt x="1590751" y="615950"/>
                  </a:lnTo>
                  <a:lnTo>
                    <a:pt x="1633423" y="623570"/>
                  </a:lnTo>
                  <a:lnTo>
                    <a:pt x="1701723" y="633730"/>
                  </a:lnTo>
                  <a:lnTo>
                    <a:pt x="1782165" y="643890"/>
                  </a:lnTo>
                  <a:lnTo>
                    <a:pt x="1826552" y="647700"/>
                  </a:lnTo>
                  <a:lnTo>
                    <a:pt x="1873504" y="652780"/>
                  </a:lnTo>
                  <a:lnTo>
                    <a:pt x="2202713" y="675640"/>
                  </a:lnTo>
                  <a:lnTo>
                    <a:pt x="2264168" y="678180"/>
                  </a:lnTo>
                  <a:lnTo>
                    <a:pt x="2327135" y="681990"/>
                  </a:lnTo>
                  <a:lnTo>
                    <a:pt x="2523731" y="689610"/>
                  </a:lnTo>
                  <a:lnTo>
                    <a:pt x="2591371" y="690880"/>
                  </a:lnTo>
                  <a:lnTo>
                    <a:pt x="2659850" y="693420"/>
                  </a:lnTo>
                  <a:lnTo>
                    <a:pt x="2798724" y="695960"/>
                  </a:lnTo>
                  <a:lnTo>
                    <a:pt x="2868853" y="695960"/>
                  </a:lnTo>
                  <a:lnTo>
                    <a:pt x="2933560" y="696950"/>
                  </a:lnTo>
                  <a:lnTo>
                    <a:pt x="2933484" y="730250"/>
                  </a:lnTo>
                  <a:lnTo>
                    <a:pt x="2999600" y="697230"/>
                  </a:lnTo>
                  <a:lnTo>
                    <a:pt x="3009785" y="692150"/>
                  </a:lnTo>
                  <a:close/>
                </a:path>
                <a:path w="3009900" h="730250">
                  <a:moveTo>
                    <a:pt x="3009785" y="382270"/>
                  </a:moveTo>
                  <a:lnTo>
                    <a:pt x="2933750" y="344170"/>
                  </a:lnTo>
                  <a:lnTo>
                    <a:pt x="2933598" y="377964"/>
                  </a:lnTo>
                  <a:lnTo>
                    <a:pt x="2904083" y="377190"/>
                  </a:lnTo>
                  <a:lnTo>
                    <a:pt x="2868968" y="377190"/>
                  </a:lnTo>
                  <a:lnTo>
                    <a:pt x="2833878" y="375920"/>
                  </a:lnTo>
                  <a:lnTo>
                    <a:pt x="2798902" y="375920"/>
                  </a:lnTo>
                  <a:lnTo>
                    <a:pt x="2763990" y="374650"/>
                  </a:lnTo>
                  <a:lnTo>
                    <a:pt x="2729217" y="373380"/>
                  </a:lnTo>
                  <a:lnTo>
                    <a:pt x="2694609" y="373380"/>
                  </a:lnTo>
                  <a:lnTo>
                    <a:pt x="2660116" y="372110"/>
                  </a:lnTo>
                  <a:lnTo>
                    <a:pt x="2591689" y="368300"/>
                  </a:lnTo>
                  <a:lnTo>
                    <a:pt x="2524099" y="365760"/>
                  </a:lnTo>
                  <a:lnTo>
                    <a:pt x="2457475" y="361950"/>
                  </a:lnTo>
                  <a:lnTo>
                    <a:pt x="2391943" y="358140"/>
                  </a:lnTo>
                  <a:lnTo>
                    <a:pt x="2327668" y="353060"/>
                  </a:lnTo>
                  <a:lnTo>
                    <a:pt x="2264753" y="347980"/>
                  </a:lnTo>
                  <a:lnTo>
                    <a:pt x="2203373" y="342900"/>
                  </a:lnTo>
                  <a:lnTo>
                    <a:pt x="2143633" y="337820"/>
                  </a:lnTo>
                  <a:lnTo>
                    <a:pt x="2085695" y="331470"/>
                  </a:lnTo>
                  <a:lnTo>
                    <a:pt x="2029688" y="325120"/>
                  </a:lnTo>
                  <a:lnTo>
                    <a:pt x="2002459" y="322580"/>
                  </a:lnTo>
                  <a:lnTo>
                    <a:pt x="1975751" y="318770"/>
                  </a:lnTo>
                  <a:lnTo>
                    <a:pt x="1949602" y="316230"/>
                  </a:lnTo>
                  <a:lnTo>
                    <a:pt x="1924024" y="312420"/>
                  </a:lnTo>
                  <a:lnTo>
                    <a:pt x="1899031" y="308610"/>
                  </a:lnTo>
                  <a:lnTo>
                    <a:pt x="1874647" y="304800"/>
                  </a:lnTo>
                  <a:lnTo>
                    <a:pt x="1850872" y="300990"/>
                  </a:lnTo>
                  <a:lnTo>
                    <a:pt x="1827745" y="298450"/>
                  </a:lnTo>
                  <a:lnTo>
                    <a:pt x="1783473" y="290830"/>
                  </a:lnTo>
                  <a:lnTo>
                    <a:pt x="1741957" y="283210"/>
                  </a:lnTo>
                  <a:lnTo>
                    <a:pt x="1722285" y="278130"/>
                  </a:lnTo>
                  <a:lnTo>
                    <a:pt x="1703349" y="274320"/>
                  </a:lnTo>
                  <a:lnTo>
                    <a:pt x="1685188" y="270510"/>
                  </a:lnTo>
                  <a:lnTo>
                    <a:pt x="1667802" y="266700"/>
                  </a:lnTo>
                  <a:lnTo>
                    <a:pt x="1651203" y="262890"/>
                  </a:lnTo>
                  <a:lnTo>
                    <a:pt x="1635429" y="259080"/>
                  </a:lnTo>
                  <a:lnTo>
                    <a:pt x="1620481" y="254000"/>
                  </a:lnTo>
                  <a:lnTo>
                    <a:pt x="1606397" y="250190"/>
                  </a:lnTo>
                  <a:lnTo>
                    <a:pt x="1593176" y="246380"/>
                  </a:lnTo>
                  <a:lnTo>
                    <a:pt x="1580845" y="241300"/>
                  </a:lnTo>
                  <a:lnTo>
                    <a:pt x="1569415" y="237490"/>
                  </a:lnTo>
                  <a:lnTo>
                    <a:pt x="1569554" y="237490"/>
                  </a:lnTo>
                  <a:lnTo>
                    <a:pt x="1558925" y="233680"/>
                  </a:lnTo>
                  <a:lnTo>
                    <a:pt x="1559077" y="233680"/>
                  </a:lnTo>
                  <a:lnTo>
                    <a:pt x="1549387" y="228600"/>
                  </a:lnTo>
                  <a:lnTo>
                    <a:pt x="1549565" y="228600"/>
                  </a:lnTo>
                  <a:lnTo>
                    <a:pt x="1540827" y="224790"/>
                  </a:lnTo>
                  <a:lnTo>
                    <a:pt x="1541030" y="224790"/>
                  </a:lnTo>
                  <a:lnTo>
                    <a:pt x="1535188" y="220980"/>
                  </a:lnTo>
                  <a:lnTo>
                    <a:pt x="1533245" y="219710"/>
                  </a:lnTo>
                  <a:lnTo>
                    <a:pt x="1533499" y="220980"/>
                  </a:lnTo>
                  <a:lnTo>
                    <a:pt x="1526705" y="215900"/>
                  </a:lnTo>
                  <a:lnTo>
                    <a:pt x="1526997" y="215900"/>
                  </a:lnTo>
                  <a:lnTo>
                    <a:pt x="1521193" y="212090"/>
                  </a:lnTo>
                  <a:lnTo>
                    <a:pt x="1521447" y="212090"/>
                  </a:lnTo>
                  <a:lnTo>
                    <a:pt x="1518932" y="209550"/>
                  </a:lnTo>
                  <a:lnTo>
                    <a:pt x="1519123" y="209550"/>
                  </a:lnTo>
                  <a:lnTo>
                    <a:pt x="1516849" y="208280"/>
                  </a:lnTo>
                  <a:lnTo>
                    <a:pt x="1517053" y="208280"/>
                  </a:lnTo>
                  <a:lnTo>
                    <a:pt x="1515046" y="205740"/>
                  </a:lnTo>
                  <a:lnTo>
                    <a:pt x="1515262" y="205740"/>
                  </a:lnTo>
                  <a:lnTo>
                    <a:pt x="1513522" y="204470"/>
                  </a:lnTo>
                  <a:lnTo>
                    <a:pt x="1513738" y="204470"/>
                  </a:lnTo>
                  <a:lnTo>
                    <a:pt x="1512252" y="201930"/>
                  </a:lnTo>
                  <a:lnTo>
                    <a:pt x="1512468" y="201930"/>
                  </a:lnTo>
                  <a:lnTo>
                    <a:pt x="1511249" y="200660"/>
                  </a:lnTo>
                  <a:lnTo>
                    <a:pt x="1511452" y="200660"/>
                  </a:lnTo>
                  <a:lnTo>
                    <a:pt x="1510499" y="198120"/>
                  </a:lnTo>
                  <a:lnTo>
                    <a:pt x="1510677" y="199390"/>
                  </a:lnTo>
                  <a:lnTo>
                    <a:pt x="1509991" y="196850"/>
                  </a:lnTo>
                  <a:lnTo>
                    <a:pt x="1510131" y="196850"/>
                  </a:lnTo>
                  <a:lnTo>
                    <a:pt x="1509915" y="195580"/>
                  </a:lnTo>
                  <a:lnTo>
                    <a:pt x="1509712" y="194411"/>
                  </a:lnTo>
                  <a:lnTo>
                    <a:pt x="1509509" y="190500"/>
                  </a:lnTo>
                  <a:lnTo>
                    <a:pt x="1509026" y="187960"/>
                  </a:lnTo>
                  <a:lnTo>
                    <a:pt x="1508899" y="187960"/>
                  </a:lnTo>
                  <a:lnTo>
                    <a:pt x="1508048" y="185420"/>
                  </a:lnTo>
                  <a:lnTo>
                    <a:pt x="1507566" y="184150"/>
                  </a:lnTo>
                  <a:lnTo>
                    <a:pt x="1507096" y="182880"/>
                  </a:lnTo>
                  <a:lnTo>
                    <a:pt x="1506893" y="182880"/>
                  </a:lnTo>
                  <a:lnTo>
                    <a:pt x="1505673" y="180340"/>
                  </a:lnTo>
                  <a:lnTo>
                    <a:pt x="1505458" y="180340"/>
                  </a:lnTo>
                  <a:lnTo>
                    <a:pt x="1503756" y="177800"/>
                  </a:lnTo>
                  <a:lnTo>
                    <a:pt x="1501800" y="175260"/>
                  </a:lnTo>
                  <a:lnTo>
                    <a:pt x="1499793" y="172720"/>
                  </a:lnTo>
                  <a:lnTo>
                    <a:pt x="1497330" y="170180"/>
                  </a:lnTo>
                  <a:lnTo>
                    <a:pt x="1494358" y="167640"/>
                  </a:lnTo>
                  <a:lnTo>
                    <a:pt x="1488554" y="162560"/>
                  </a:lnTo>
                  <a:lnTo>
                    <a:pt x="1481213" y="158750"/>
                  </a:lnTo>
                  <a:lnTo>
                    <a:pt x="1479257" y="157480"/>
                  </a:lnTo>
                  <a:lnTo>
                    <a:pt x="1473428" y="153670"/>
                  </a:lnTo>
                  <a:lnTo>
                    <a:pt x="1464475" y="149860"/>
                  </a:lnTo>
                  <a:lnTo>
                    <a:pt x="1454607" y="144780"/>
                  </a:lnTo>
                  <a:lnTo>
                    <a:pt x="1443824" y="140970"/>
                  </a:lnTo>
                  <a:lnTo>
                    <a:pt x="1432153" y="135890"/>
                  </a:lnTo>
                  <a:lnTo>
                    <a:pt x="1419606" y="132080"/>
                  </a:lnTo>
                  <a:lnTo>
                    <a:pt x="1406207" y="128270"/>
                  </a:lnTo>
                  <a:lnTo>
                    <a:pt x="1391945" y="123190"/>
                  </a:lnTo>
                  <a:lnTo>
                    <a:pt x="1376845" y="119380"/>
                  </a:lnTo>
                  <a:lnTo>
                    <a:pt x="1360932" y="115570"/>
                  </a:lnTo>
                  <a:lnTo>
                    <a:pt x="1344218" y="110490"/>
                  </a:lnTo>
                  <a:lnTo>
                    <a:pt x="1289418" y="99060"/>
                  </a:lnTo>
                  <a:lnTo>
                    <a:pt x="1249133" y="91440"/>
                  </a:lnTo>
                  <a:lnTo>
                    <a:pt x="1183576" y="80010"/>
                  </a:lnTo>
                  <a:lnTo>
                    <a:pt x="1087031" y="64770"/>
                  </a:lnTo>
                  <a:lnTo>
                    <a:pt x="1061402" y="62230"/>
                  </a:lnTo>
                  <a:lnTo>
                    <a:pt x="1035202" y="58420"/>
                  </a:lnTo>
                  <a:lnTo>
                    <a:pt x="1008456" y="55880"/>
                  </a:lnTo>
                  <a:lnTo>
                    <a:pt x="981163" y="52070"/>
                  </a:lnTo>
                  <a:lnTo>
                    <a:pt x="867079" y="39370"/>
                  </a:lnTo>
                  <a:lnTo>
                    <a:pt x="682790" y="24130"/>
                  </a:lnTo>
                  <a:lnTo>
                    <a:pt x="618439" y="20320"/>
                  </a:lnTo>
                  <a:lnTo>
                    <a:pt x="552843" y="15240"/>
                  </a:lnTo>
                  <a:lnTo>
                    <a:pt x="486143" y="11430"/>
                  </a:lnTo>
                  <a:lnTo>
                    <a:pt x="211112" y="1270"/>
                  </a:lnTo>
                  <a:lnTo>
                    <a:pt x="176085" y="1270"/>
                  </a:lnTo>
                  <a:lnTo>
                    <a:pt x="140982" y="0"/>
                  </a:lnTo>
                  <a:lnTo>
                    <a:pt x="12" y="0"/>
                  </a:lnTo>
                  <a:lnTo>
                    <a:pt x="0" y="8890"/>
                  </a:lnTo>
                  <a:lnTo>
                    <a:pt x="105676" y="8890"/>
                  </a:lnTo>
                  <a:lnTo>
                    <a:pt x="140843" y="10160"/>
                  </a:lnTo>
                  <a:lnTo>
                    <a:pt x="175907" y="10160"/>
                  </a:lnTo>
                  <a:lnTo>
                    <a:pt x="210896" y="11430"/>
                  </a:lnTo>
                  <a:lnTo>
                    <a:pt x="245795" y="12700"/>
                  </a:lnTo>
                  <a:lnTo>
                    <a:pt x="280555" y="12700"/>
                  </a:lnTo>
                  <a:lnTo>
                    <a:pt x="349656" y="15240"/>
                  </a:lnTo>
                  <a:lnTo>
                    <a:pt x="418071" y="17780"/>
                  </a:lnTo>
                  <a:lnTo>
                    <a:pt x="485660" y="21590"/>
                  </a:lnTo>
                  <a:lnTo>
                    <a:pt x="552284" y="25400"/>
                  </a:lnTo>
                  <a:lnTo>
                    <a:pt x="617804" y="29210"/>
                  </a:lnTo>
                  <a:lnTo>
                    <a:pt x="682091" y="34290"/>
                  </a:lnTo>
                  <a:lnTo>
                    <a:pt x="744994" y="38100"/>
                  </a:lnTo>
                  <a:lnTo>
                    <a:pt x="806386" y="44450"/>
                  </a:lnTo>
                  <a:lnTo>
                    <a:pt x="866114" y="49530"/>
                  </a:lnTo>
                  <a:lnTo>
                    <a:pt x="924052" y="55880"/>
                  </a:lnTo>
                  <a:lnTo>
                    <a:pt x="980071" y="60960"/>
                  </a:lnTo>
                  <a:lnTo>
                    <a:pt x="1007313" y="64770"/>
                  </a:lnTo>
                  <a:lnTo>
                    <a:pt x="1034008" y="68580"/>
                  </a:lnTo>
                  <a:lnTo>
                    <a:pt x="1060157" y="71120"/>
                  </a:lnTo>
                  <a:lnTo>
                    <a:pt x="1085735" y="74930"/>
                  </a:lnTo>
                  <a:lnTo>
                    <a:pt x="1110729" y="78740"/>
                  </a:lnTo>
                  <a:lnTo>
                    <a:pt x="1135126" y="81280"/>
                  </a:lnTo>
                  <a:lnTo>
                    <a:pt x="1182014" y="88900"/>
                  </a:lnTo>
                  <a:lnTo>
                    <a:pt x="1226286" y="96520"/>
                  </a:lnTo>
                  <a:lnTo>
                    <a:pt x="1267790" y="104140"/>
                  </a:lnTo>
                  <a:lnTo>
                    <a:pt x="1306385" y="111760"/>
                  </a:lnTo>
                  <a:lnTo>
                    <a:pt x="1324610" y="116840"/>
                  </a:lnTo>
                  <a:lnTo>
                    <a:pt x="1341932" y="120650"/>
                  </a:lnTo>
                  <a:lnTo>
                    <a:pt x="1358519" y="124460"/>
                  </a:lnTo>
                  <a:lnTo>
                    <a:pt x="1374368" y="128270"/>
                  </a:lnTo>
                  <a:lnTo>
                    <a:pt x="1389303" y="133350"/>
                  </a:lnTo>
                  <a:lnTo>
                    <a:pt x="1403400" y="137160"/>
                  </a:lnTo>
                  <a:lnTo>
                    <a:pt x="1416621" y="140970"/>
                  </a:lnTo>
                  <a:lnTo>
                    <a:pt x="1428953" y="144780"/>
                  </a:lnTo>
                  <a:lnTo>
                    <a:pt x="1440370" y="149860"/>
                  </a:lnTo>
                  <a:lnTo>
                    <a:pt x="1440243" y="149860"/>
                  </a:lnTo>
                  <a:lnTo>
                    <a:pt x="1450860" y="153670"/>
                  </a:lnTo>
                  <a:lnTo>
                    <a:pt x="1450708" y="153670"/>
                  </a:lnTo>
                  <a:lnTo>
                    <a:pt x="1460398" y="158750"/>
                  </a:lnTo>
                  <a:lnTo>
                    <a:pt x="1460220" y="157480"/>
                  </a:lnTo>
                  <a:lnTo>
                    <a:pt x="1468970" y="162560"/>
                  </a:lnTo>
                  <a:lnTo>
                    <a:pt x="1468755" y="162560"/>
                  </a:lnTo>
                  <a:lnTo>
                    <a:pt x="1476540" y="166370"/>
                  </a:lnTo>
                  <a:lnTo>
                    <a:pt x="1476286" y="166370"/>
                  </a:lnTo>
                  <a:lnTo>
                    <a:pt x="1483093" y="171450"/>
                  </a:lnTo>
                  <a:lnTo>
                    <a:pt x="1482801" y="170180"/>
                  </a:lnTo>
                  <a:lnTo>
                    <a:pt x="1488592" y="175260"/>
                  </a:lnTo>
                  <a:lnTo>
                    <a:pt x="1488338" y="175260"/>
                  </a:lnTo>
                  <a:lnTo>
                    <a:pt x="1490865" y="176530"/>
                  </a:lnTo>
                  <a:lnTo>
                    <a:pt x="1490675" y="176530"/>
                  </a:lnTo>
                  <a:lnTo>
                    <a:pt x="1492935" y="179070"/>
                  </a:lnTo>
                  <a:lnTo>
                    <a:pt x="1492732" y="179070"/>
                  </a:lnTo>
                  <a:lnTo>
                    <a:pt x="1494739" y="181610"/>
                  </a:lnTo>
                  <a:lnTo>
                    <a:pt x="1494523" y="180340"/>
                  </a:lnTo>
                  <a:lnTo>
                    <a:pt x="1496275" y="182880"/>
                  </a:lnTo>
                  <a:lnTo>
                    <a:pt x="1496060" y="182880"/>
                  </a:lnTo>
                  <a:lnTo>
                    <a:pt x="1497533" y="185420"/>
                  </a:lnTo>
                  <a:lnTo>
                    <a:pt x="1497317" y="184150"/>
                  </a:lnTo>
                  <a:lnTo>
                    <a:pt x="1498536" y="186690"/>
                  </a:lnTo>
                  <a:lnTo>
                    <a:pt x="1498333" y="186690"/>
                  </a:lnTo>
                  <a:lnTo>
                    <a:pt x="1499285" y="189230"/>
                  </a:lnTo>
                  <a:lnTo>
                    <a:pt x="1499108" y="187960"/>
                  </a:lnTo>
                  <a:lnTo>
                    <a:pt x="1499793" y="190500"/>
                  </a:lnTo>
                  <a:lnTo>
                    <a:pt x="1499666" y="190500"/>
                  </a:lnTo>
                  <a:lnTo>
                    <a:pt x="1500073" y="191770"/>
                  </a:lnTo>
                  <a:lnTo>
                    <a:pt x="1500352" y="196850"/>
                  </a:lnTo>
                  <a:lnTo>
                    <a:pt x="1500759" y="199390"/>
                  </a:lnTo>
                  <a:lnTo>
                    <a:pt x="1500886" y="199390"/>
                  </a:lnTo>
                  <a:lnTo>
                    <a:pt x="1501571" y="201930"/>
                  </a:lnTo>
                  <a:lnTo>
                    <a:pt x="1501749" y="201930"/>
                  </a:lnTo>
                  <a:lnTo>
                    <a:pt x="1502702" y="204470"/>
                  </a:lnTo>
                  <a:lnTo>
                    <a:pt x="1502905" y="204470"/>
                  </a:lnTo>
                  <a:lnTo>
                    <a:pt x="1504124" y="207010"/>
                  </a:lnTo>
                  <a:lnTo>
                    <a:pt x="1504340" y="207010"/>
                  </a:lnTo>
                  <a:lnTo>
                    <a:pt x="1506042" y="209550"/>
                  </a:lnTo>
                  <a:lnTo>
                    <a:pt x="1521536" y="223520"/>
                  </a:lnTo>
                  <a:lnTo>
                    <a:pt x="1528330" y="228600"/>
                  </a:lnTo>
                  <a:lnTo>
                    <a:pt x="1536357" y="232410"/>
                  </a:lnTo>
                  <a:lnTo>
                    <a:pt x="1545323" y="237490"/>
                  </a:lnTo>
                  <a:lnTo>
                    <a:pt x="1555191" y="241300"/>
                  </a:lnTo>
                  <a:lnTo>
                    <a:pt x="1565960" y="246380"/>
                  </a:lnTo>
                  <a:lnTo>
                    <a:pt x="1577632" y="250190"/>
                  </a:lnTo>
                  <a:lnTo>
                    <a:pt x="1590179" y="255270"/>
                  </a:lnTo>
                  <a:lnTo>
                    <a:pt x="1603590" y="259080"/>
                  </a:lnTo>
                  <a:lnTo>
                    <a:pt x="1617853" y="262890"/>
                  </a:lnTo>
                  <a:lnTo>
                    <a:pt x="1632940" y="267970"/>
                  </a:lnTo>
                  <a:lnTo>
                    <a:pt x="1648853" y="271780"/>
                  </a:lnTo>
                  <a:lnTo>
                    <a:pt x="1665579" y="275590"/>
                  </a:lnTo>
                  <a:lnTo>
                    <a:pt x="1683080" y="279400"/>
                  </a:lnTo>
                  <a:lnTo>
                    <a:pt x="1701342" y="284480"/>
                  </a:lnTo>
                  <a:lnTo>
                    <a:pt x="1740141" y="292100"/>
                  </a:lnTo>
                  <a:lnTo>
                    <a:pt x="1803704" y="303530"/>
                  </a:lnTo>
                  <a:lnTo>
                    <a:pt x="1873237" y="314960"/>
                  </a:lnTo>
                  <a:lnTo>
                    <a:pt x="1897710" y="317500"/>
                  </a:lnTo>
                  <a:lnTo>
                    <a:pt x="1974596" y="328930"/>
                  </a:lnTo>
                  <a:lnTo>
                    <a:pt x="2001342" y="331470"/>
                  </a:lnTo>
                  <a:lnTo>
                    <a:pt x="2028634" y="335280"/>
                  </a:lnTo>
                  <a:lnTo>
                    <a:pt x="2084730" y="341630"/>
                  </a:lnTo>
                  <a:lnTo>
                    <a:pt x="2142706" y="346710"/>
                  </a:lnTo>
                  <a:lnTo>
                    <a:pt x="2202561" y="353060"/>
                  </a:lnTo>
                  <a:lnTo>
                    <a:pt x="2326995" y="363220"/>
                  </a:lnTo>
                  <a:lnTo>
                    <a:pt x="2591270" y="378460"/>
                  </a:lnTo>
                  <a:lnTo>
                    <a:pt x="2763761" y="384810"/>
                  </a:lnTo>
                  <a:lnTo>
                    <a:pt x="2798686" y="384810"/>
                  </a:lnTo>
                  <a:lnTo>
                    <a:pt x="2833713" y="386080"/>
                  </a:lnTo>
                  <a:lnTo>
                    <a:pt x="2868828" y="386080"/>
                  </a:lnTo>
                  <a:lnTo>
                    <a:pt x="2904020" y="387350"/>
                  </a:lnTo>
                  <a:lnTo>
                    <a:pt x="2933547" y="387350"/>
                  </a:lnTo>
                  <a:lnTo>
                    <a:pt x="2933420" y="420370"/>
                  </a:lnTo>
                  <a:lnTo>
                    <a:pt x="2999600" y="387350"/>
                  </a:lnTo>
                  <a:lnTo>
                    <a:pt x="3009785" y="382270"/>
                  </a:lnTo>
                  <a:close/>
                </a:path>
              </a:pathLst>
            </a:custGeom>
            <a:solidFill>
              <a:srgbClr val="5597D2"/>
            </a:solidFill>
          </p:spPr>
          <p:txBody>
            <a:bodyPr wrap="square" lIns="0" tIns="0" rIns="0" bIns="0" rtlCol="0"/>
            <a:lstStyle/>
            <a:p>
              <a:endParaRPr/>
            </a:p>
          </p:txBody>
        </p:sp>
        <p:pic>
          <p:nvPicPr>
            <p:cNvPr id="6" name="object 6"/>
            <p:cNvPicPr/>
            <p:nvPr/>
          </p:nvPicPr>
          <p:blipFill>
            <a:blip r:embed="rId3" cstate="print"/>
            <a:stretch>
              <a:fillRect/>
            </a:stretch>
          </p:blipFill>
          <p:spPr>
            <a:xfrm>
              <a:off x="2780779" y="3788562"/>
              <a:ext cx="5448185" cy="1035100"/>
            </a:xfrm>
            <a:prstGeom prst="rect">
              <a:avLst/>
            </a:prstGeom>
          </p:spPr>
        </p:pic>
      </p:grpSp>
      <p:sp>
        <p:nvSpPr>
          <p:cNvPr id="7" name="object 8"/>
          <p:cNvSpPr txBox="1"/>
          <p:nvPr/>
        </p:nvSpPr>
        <p:spPr>
          <a:xfrm>
            <a:off x="846454" y="1819909"/>
            <a:ext cx="4487545" cy="1774845"/>
          </a:xfrm>
          <a:prstGeom prst="rect">
            <a:avLst/>
          </a:prstGeom>
        </p:spPr>
        <p:txBody>
          <a:bodyPr vert="horz" wrap="square" lIns="0" tIns="12700" rIns="0" bIns="0" rtlCol="0">
            <a:spAutoFit/>
          </a:bodyPr>
          <a:lstStyle/>
          <a:p>
            <a:pPr marL="298450" indent="-285750">
              <a:lnSpc>
                <a:spcPct val="100000"/>
              </a:lnSpc>
              <a:spcBef>
                <a:spcPts val="100"/>
              </a:spcBef>
              <a:buFont typeface="Wingdings"/>
              <a:buChar char=""/>
              <a:tabLst>
                <a:tab pos="298450" algn="l"/>
              </a:tabLst>
            </a:pPr>
            <a:r>
              <a:rPr sz="2400" dirty="0">
                <a:latin typeface="Microsoft YaHei"/>
                <a:cs typeface="Microsoft YaHei"/>
              </a:rPr>
              <a:t>词向量空间的距离是语义距离</a:t>
            </a:r>
          </a:p>
          <a:p>
            <a:pPr>
              <a:lnSpc>
                <a:spcPct val="100000"/>
              </a:lnSpc>
              <a:spcBef>
                <a:spcPts val="15"/>
              </a:spcBef>
            </a:pPr>
            <a:endParaRPr sz="3050" dirty="0">
              <a:latin typeface="Microsoft YaHei"/>
              <a:cs typeface="Microsoft YaHei"/>
            </a:endParaRPr>
          </a:p>
          <a:p>
            <a:pPr marL="1301750" marR="2355215">
              <a:lnSpc>
                <a:spcPct val="125000"/>
              </a:lnSpc>
            </a:pPr>
            <a:r>
              <a:rPr sz="2400" dirty="0">
                <a:latin typeface="Microsoft YaHei"/>
                <a:cs typeface="Microsoft YaHei"/>
              </a:rPr>
              <a:t>上海 北京</a:t>
            </a:r>
          </a:p>
        </p:txBody>
      </p:sp>
      <p:sp>
        <p:nvSpPr>
          <p:cNvPr id="8" name="object 9"/>
          <p:cNvSpPr txBox="1"/>
          <p:nvPr/>
        </p:nvSpPr>
        <p:spPr>
          <a:xfrm>
            <a:off x="2059304" y="4806950"/>
            <a:ext cx="635000" cy="939800"/>
          </a:xfrm>
          <a:prstGeom prst="rect">
            <a:avLst/>
          </a:prstGeom>
        </p:spPr>
        <p:txBody>
          <a:bodyPr vert="horz" wrap="square" lIns="0" tIns="12700" rIns="0" bIns="0" rtlCol="0">
            <a:spAutoFit/>
          </a:bodyPr>
          <a:lstStyle/>
          <a:p>
            <a:pPr marL="12700" marR="5080">
              <a:lnSpc>
                <a:spcPct val="125000"/>
              </a:lnSpc>
              <a:spcBef>
                <a:spcPts val="100"/>
              </a:spcBef>
            </a:pPr>
            <a:r>
              <a:rPr sz="2400" dirty="0">
                <a:latin typeface="Microsoft YaHei"/>
                <a:cs typeface="Microsoft YaHei"/>
              </a:rPr>
              <a:t>高兴 难过</a:t>
            </a:r>
            <a:endParaRPr sz="2400">
              <a:latin typeface="Microsoft YaHei"/>
              <a:cs typeface="Microsoft YaHei"/>
            </a:endParaRPr>
          </a:p>
        </p:txBody>
      </p:sp>
      <p:sp>
        <p:nvSpPr>
          <p:cNvPr id="9" name="矩形 8"/>
          <p:cNvSpPr/>
          <p:nvPr/>
        </p:nvSpPr>
        <p:spPr>
          <a:xfrm>
            <a:off x="204961" y="200075"/>
            <a:ext cx="7776488" cy="584775"/>
          </a:xfrm>
          <a:prstGeom prst="rect">
            <a:avLst/>
          </a:prstGeom>
        </p:spPr>
        <p:txBody>
          <a:bodyPr wrap="none">
            <a:spAutoFit/>
          </a:bodyPr>
          <a:lstStyle/>
          <a:p>
            <a:r>
              <a:rPr lang="zh-CN" altLang="en-US" sz="3200" dirty="0"/>
              <a:t>自然语言和计算机视觉</a:t>
            </a:r>
            <a:r>
              <a:rPr lang="zh-CN" altLang="en-US" sz="3200" dirty="0" smtClean="0"/>
              <a:t>应用</a:t>
            </a:r>
            <a:r>
              <a:rPr lang="en-US" altLang="zh-CN" sz="3200" dirty="0" smtClean="0"/>
              <a:t>---</a:t>
            </a:r>
            <a:r>
              <a:rPr lang="zh-CN" altLang="en-US" sz="3200" dirty="0" smtClean="0"/>
              <a:t>词向量生成</a:t>
            </a:r>
            <a:endParaRPr lang="zh-CN" altLang="en-US" sz="3200" dirty="0"/>
          </a:p>
        </p:txBody>
      </p:sp>
    </p:spTree>
    <p:extLst>
      <p:ext uri="{BB962C8B-B14F-4D97-AF65-F5344CB8AC3E}">
        <p14:creationId xmlns:p14="http://schemas.microsoft.com/office/powerpoint/2010/main" val="19399935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06CAF43-A1F6-4988-B581-7BF50A577D3B}"/>
              </a:ext>
            </a:extLst>
          </p:cNvPr>
          <p:cNvPicPr>
            <a:picLocks noChangeAspect="1"/>
          </p:cNvPicPr>
          <p:nvPr/>
        </p:nvPicPr>
        <p:blipFill>
          <a:blip r:embed="rId2"/>
          <a:stretch>
            <a:fillRect/>
          </a:stretch>
        </p:blipFill>
        <p:spPr>
          <a:xfrm>
            <a:off x="1267747" y="820410"/>
            <a:ext cx="8480773" cy="4495963"/>
          </a:xfrm>
          <a:prstGeom prst="rect">
            <a:avLst/>
          </a:prstGeom>
        </p:spPr>
      </p:pic>
      <p:sp>
        <p:nvSpPr>
          <p:cNvPr id="4" name="矩形 3"/>
          <p:cNvSpPr/>
          <p:nvPr/>
        </p:nvSpPr>
        <p:spPr>
          <a:xfrm>
            <a:off x="204961" y="200075"/>
            <a:ext cx="9417963" cy="1077218"/>
          </a:xfrm>
          <a:prstGeom prst="rect">
            <a:avLst/>
          </a:prstGeom>
        </p:spPr>
        <p:txBody>
          <a:bodyPr wrap="none">
            <a:spAutoFit/>
          </a:bodyPr>
          <a:lstStyle/>
          <a:p>
            <a:r>
              <a:rPr lang="zh-CN" altLang="en-US" sz="3200" dirty="0"/>
              <a:t>自然语言和计算机视觉</a:t>
            </a:r>
            <a:r>
              <a:rPr lang="zh-CN" altLang="en-US" sz="3200" dirty="0" smtClean="0"/>
              <a:t>应用</a:t>
            </a:r>
            <a:r>
              <a:rPr lang="en-US" altLang="zh-CN" sz="3200" dirty="0" smtClean="0"/>
              <a:t>---</a:t>
            </a:r>
            <a:r>
              <a:rPr lang="zh-CN" altLang="en-US" sz="3200" dirty="0"/>
              <a:t>图像分类与目标定位</a:t>
            </a:r>
          </a:p>
          <a:p>
            <a:endParaRPr lang="zh-CN" altLang="en-US" sz="3200" dirty="0"/>
          </a:p>
        </p:txBody>
      </p:sp>
      <p:sp>
        <p:nvSpPr>
          <p:cNvPr id="5" name="矩形 4"/>
          <p:cNvSpPr/>
          <p:nvPr/>
        </p:nvSpPr>
        <p:spPr>
          <a:xfrm>
            <a:off x="497840" y="5651653"/>
            <a:ext cx="11140440" cy="954107"/>
          </a:xfrm>
          <a:prstGeom prst="rect">
            <a:avLst/>
          </a:prstGeom>
        </p:spPr>
        <p:txBody>
          <a:bodyPr wrap="square">
            <a:spAutoFit/>
          </a:bodyPr>
          <a:lstStyle/>
          <a:p>
            <a:r>
              <a:rPr lang="en-US" altLang="zh-CN" sz="1400" dirty="0">
                <a:solidFill>
                  <a:srgbClr val="000000"/>
                </a:solidFill>
                <a:latin typeface="Times New Roman" panose="02020603050405020304" pitchFamily="18" charset="0"/>
                <a:ea typeface="楷体_GB2312"/>
                <a:cs typeface="Times New Roman" panose="02020603050405020304" pitchFamily="18" charset="0"/>
              </a:rPr>
              <a:t>a)</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分类任务。</a:t>
            </a:r>
            <a:r>
              <a:rPr lang="en-US" altLang="zh-CN" sz="14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分类函数将全连接层所得特征向量映射为归一化概率值，用来表示每个概念在输入图像中出现的概率</a:t>
            </a:r>
            <a:r>
              <a:rPr lang="zh-CN" altLang="zh-CN" sz="1400" dirty="0" smtClean="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在训练中，可用交叉熵等损失函数来计算模型学习的</a:t>
            </a:r>
            <a:r>
              <a:rPr lang="zh-CN" altLang="zh-CN" sz="1400" dirty="0" smtClean="0">
                <a:solidFill>
                  <a:srgbClr val="000000"/>
                </a:solidFill>
                <a:latin typeface="Times New Roman" panose="02020603050405020304" pitchFamily="18" charset="0"/>
                <a:ea typeface="楷体_GB2312"/>
                <a:cs typeface="Times New Roman" panose="02020603050405020304" pitchFamily="18" charset="0"/>
              </a:rPr>
              <a:t>误差</a:t>
            </a:r>
            <a:r>
              <a:rPr lang="en-US" altLang="zh-CN" sz="1400" dirty="0" smtClean="0">
                <a:solidFill>
                  <a:srgbClr val="000000"/>
                </a:solidFill>
                <a:latin typeface="Times New Roman" panose="02020603050405020304" pitchFamily="18" charset="0"/>
                <a:ea typeface="楷体_GB2312"/>
                <a:cs typeface="Times New Roman" panose="02020603050405020304" pitchFamily="18" charset="0"/>
              </a:rPr>
              <a:t>.</a:t>
            </a:r>
          </a:p>
          <a:p>
            <a:r>
              <a:rPr lang="en-US" altLang="zh-CN" sz="1400" dirty="0">
                <a:solidFill>
                  <a:srgbClr val="000000"/>
                </a:solidFill>
                <a:latin typeface="Times New Roman" panose="02020603050405020304" pitchFamily="18" charset="0"/>
                <a:ea typeface="楷体_GB2312"/>
                <a:cs typeface="Times New Roman" panose="02020603050405020304" pitchFamily="18" charset="0"/>
              </a:rPr>
              <a:t>b)</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目标定位。将全连接层输出向量转换为一个四维向量，四维向量分别代表一个包围盒的左上角横坐标和纵坐标以及该矩形框宽与高取值，并使用均方差损失函数计算模型的误差。最终，将两个任务所得误差相加，作为整个模型的</a:t>
            </a:r>
            <a:r>
              <a:rPr lang="zh-CN" altLang="zh-CN" sz="1400" dirty="0" smtClean="0">
                <a:solidFill>
                  <a:srgbClr val="000000"/>
                </a:solidFill>
                <a:latin typeface="Times New Roman" panose="02020603050405020304" pitchFamily="18" charset="0"/>
                <a:ea typeface="楷体_GB2312"/>
                <a:cs typeface="Times New Roman" panose="02020603050405020304" pitchFamily="18" charset="0"/>
              </a:rPr>
              <a:t>误差</a:t>
            </a:r>
            <a:endParaRPr lang="zh-CN" altLang="en-US" sz="1400" dirty="0"/>
          </a:p>
        </p:txBody>
      </p:sp>
    </p:spTree>
    <p:extLst>
      <p:ext uri="{BB962C8B-B14F-4D97-AF65-F5344CB8AC3E}">
        <p14:creationId xmlns:p14="http://schemas.microsoft.com/office/powerpoint/2010/main" val="262244762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柏林</Template>
  <TotalTime>1094</TotalTime>
  <Words>3905</Words>
  <Application>Microsoft Office PowerPoint</Application>
  <PresentationFormat>宽屏</PresentationFormat>
  <Paragraphs>447</Paragraphs>
  <Slides>87</Slides>
  <Notes>7</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87</vt:i4>
      </vt:variant>
    </vt:vector>
  </HeadingPairs>
  <TitlesOfParts>
    <vt:vector size="111" baseType="lpstr">
      <vt:lpstr>-apple-system</vt:lpstr>
      <vt:lpstr>Arial MT</vt:lpstr>
      <vt:lpstr>Helvetica Light</vt:lpstr>
      <vt:lpstr>PingFang SC</vt:lpstr>
      <vt:lpstr>新細明體</vt:lpstr>
      <vt:lpstr>STIX Two Math</vt:lpstr>
      <vt:lpstr>等线</vt:lpstr>
      <vt:lpstr>等线 Light</vt:lpstr>
      <vt:lpstr>方正颜宋简体_中</vt:lpstr>
      <vt:lpstr>华文楷体</vt:lpstr>
      <vt:lpstr>华文中宋</vt:lpstr>
      <vt:lpstr>楷体_GB2312</vt:lpstr>
      <vt:lpstr>宋体</vt:lpstr>
      <vt:lpstr>Microsoft YaHei</vt:lpstr>
      <vt:lpstr>Microsoft YaHei</vt:lpstr>
      <vt:lpstr>Arial</vt:lpstr>
      <vt:lpstr>Calibri</vt:lpstr>
      <vt:lpstr>Cambria Math</vt:lpstr>
      <vt:lpstr>Garamond</vt:lpstr>
      <vt:lpstr>Helvetica</vt:lpstr>
      <vt:lpstr>Times New Roman</vt:lpstr>
      <vt:lpstr>Wingdings</vt:lpstr>
      <vt:lpstr>Wingdings 3</vt:lpstr>
      <vt:lpstr>Office 主题​​</vt:lpstr>
      <vt:lpstr>PowerPoint 演示文稿</vt:lpstr>
      <vt:lpstr>PowerPoint 演示文稿</vt:lpstr>
      <vt:lpstr>人工神经网络和深度学习---发展</vt:lpstr>
      <vt:lpstr>人工神经网络和深度学习---发展</vt:lpstr>
      <vt:lpstr>人工神经网络和深度学习---发展</vt:lpstr>
      <vt:lpstr>人工神经网络和深度学习---发展</vt:lpstr>
      <vt:lpstr>人工神经网络和深度学习---发展</vt:lpstr>
      <vt:lpstr>人工神经网络和深度学习---发展</vt:lpstr>
      <vt:lpstr>人工神经网络和深度学习---发展</vt:lpstr>
      <vt:lpstr>人工神经网络和深度学习---感知机</vt:lpstr>
      <vt:lpstr>人工神经网络和深度学习---前馈神经网络</vt:lpstr>
      <vt:lpstr>人工神经网络和深度学习---常见激活函数</vt:lpstr>
      <vt:lpstr>人工神经网络和深度学习---常见激活函数</vt:lpstr>
      <vt:lpstr>人工神经网络和深度学习---常见激活函数</vt:lpstr>
      <vt:lpstr>人工神经网络和深度学习---常见激活函数</vt:lpstr>
      <vt:lpstr>人工神经网络和深度学习---常见激活函数</vt:lpstr>
      <vt:lpstr>PowerPoint 演示文稿</vt:lpstr>
      <vt:lpstr>PowerPoint 演示文稿</vt:lpstr>
      <vt:lpstr>人工神经网络和深度学习---损失函数</vt:lpstr>
      <vt:lpstr>人工神经网络和深度学习---损失函数</vt:lpstr>
      <vt:lpstr>人工神经网络和深度学习---损失函数</vt:lpstr>
      <vt:lpstr>人工神经网络和深度学习---梯度下降</vt:lpstr>
      <vt:lpstr>人工神经网络和深度学习---梯度下降</vt:lpstr>
      <vt:lpstr>人工神经网络和深度学习---梯度下降</vt:lpstr>
      <vt:lpstr>人工神经网络和深度学习---梯度下降</vt:lpstr>
      <vt:lpstr>PowerPoint 演示文稿</vt:lpstr>
      <vt:lpstr>PowerPoint 演示文稿</vt:lpstr>
      <vt:lpstr>PowerPoint 演示文稿</vt:lpstr>
      <vt:lpstr>一个例子</vt:lpstr>
      <vt:lpstr>一个例子</vt:lpstr>
      <vt:lpstr>一个例子</vt:lpstr>
      <vt:lpstr>一个例子</vt:lpstr>
      <vt:lpstr>问题</vt:lpstr>
      <vt:lpstr>如何更加有效地提取局部特征？</vt:lpstr>
      <vt:lpstr>卷积</vt:lpstr>
      <vt:lpstr>全连接层 vs. 局部连接层</vt:lpstr>
      <vt:lpstr>从局部连接到卷积层</vt:lpstr>
      <vt:lpstr>卷积核：Conv2D</vt:lpstr>
      <vt:lpstr>卷积计算过程</vt:lpstr>
      <vt:lpstr>卷积：填充（Padding）</vt:lpstr>
      <vt:lpstr>卷积：步长（Stride）</vt:lpstr>
      <vt:lpstr>同样大小的卷积核可以应用于不同尺寸图像</vt:lpstr>
      <vt:lpstr>卷积神经网络---卷积</vt:lpstr>
      <vt:lpstr>卷积算子：多输入通道&amp;单输出通道</vt:lpstr>
      <vt:lpstr>PowerPoint 演示文稿</vt:lpstr>
      <vt:lpstr>PowerPoint 演示文稿</vt:lpstr>
      <vt:lpstr>卷积神经网络---网络结构 </vt:lpstr>
      <vt:lpstr>卷积神经网络---网络结构 </vt:lpstr>
      <vt:lpstr>卷积神经网络---发展</vt:lpstr>
      <vt:lpstr>AlphaGo</vt:lpstr>
      <vt:lpstr>目标检测（Object Detection）</vt:lpstr>
      <vt:lpstr>Mask RCNN实例分割</vt:lpstr>
      <vt:lpstr>PowerPoint 演示文稿</vt:lpstr>
      <vt:lpstr>图像生成</vt:lpstr>
      <vt:lpstr>Deep Dream超现实的视觉效果</vt:lpstr>
      <vt:lpstr>画风迁移</vt:lpstr>
      <vt:lpstr>对抗样本</vt:lpstr>
      <vt:lpstr>循环神经网络---引入</vt:lpstr>
      <vt:lpstr>循环神经网络---概念</vt:lpstr>
      <vt:lpstr>循环神经网络---概念</vt:lpstr>
      <vt:lpstr>循环神经网络---概念</vt:lpstr>
      <vt:lpstr>循环神经网络---处理自然语言的例子 </vt:lpstr>
      <vt:lpstr>循环神经网络---处理自然语言的例子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hongyun zhang</dc:creator>
  <cp:lastModifiedBy>hongyun zhang</cp:lastModifiedBy>
  <cp:revision>66</cp:revision>
  <dcterms:created xsi:type="dcterms:W3CDTF">2024-11-06T00:35:15Z</dcterms:created>
  <dcterms:modified xsi:type="dcterms:W3CDTF">2024-11-13T05:52:59Z</dcterms:modified>
</cp:coreProperties>
</file>